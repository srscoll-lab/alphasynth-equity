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12aa8e41524894" /><Relationship Type="http://schemas.openxmlformats.org/officeDocument/2006/relationships/extended-properties" Target="/docProps/app.xml" Id="R75b1c7d0b9044c60" /><Relationship Type="http://schemas.openxmlformats.org/officeDocument/2006/relationships/officeDocument" Target="/ppt/presentation.xml" Id="R6eed8642277645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46cebc30a244e5"/>
  </p:sldMasterIdLst>
  <p:notesMasterIdLst>
    <p:notesMasterId xmlns:r="http://schemas.openxmlformats.org/officeDocument/2006/relationships" r:id="Rf6d60a28f9d848ae"/>
  </p:notesMasterIdLst>
  <p:sldIdLst>
    <p:sldId xmlns:r="http://schemas.openxmlformats.org/officeDocument/2006/relationships" id="256" r:id="R894f39c2ac6f4f61"/>
    <p:sldId xmlns:r="http://schemas.openxmlformats.org/officeDocument/2006/relationships" id="257" r:id="Re7c7cab9bbb341ed"/>
    <p:sldId xmlns:r="http://schemas.openxmlformats.org/officeDocument/2006/relationships" id="258" r:id="R53e02ac57dd242eb"/>
    <p:sldId xmlns:r="http://schemas.openxmlformats.org/officeDocument/2006/relationships" id="259" r:id="Rf3ad83aa05b14382"/>
    <p:sldId xmlns:r="http://schemas.openxmlformats.org/officeDocument/2006/relationships" id="260" r:id="R61e4e12c7d924195"/>
    <p:sldId xmlns:r="http://schemas.openxmlformats.org/officeDocument/2006/relationships" id="261" r:id="R6881ece378844fe1"/>
    <p:sldId xmlns:r="http://schemas.openxmlformats.org/officeDocument/2006/relationships" id="262" r:id="R6bcb4d97fd484847"/>
    <p:sldId xmlns:r="http://schemas.openxmlformats.org/officeDocument/2006/relationships" id="263" r:id="Re861d660e4044259"/>
    <p:sldId xmlns:r="http://schemas.openxmlformats.org/officeDocument/2006/relationships" id="264" r:id="R4d8b6b142fab42b1"/>
    <p:sldId xmlns:r="http://schemas.openxmlformats.org/officeDocument/2006/relationships" id="265" r:id="R3d3671e26dca41f8"/>
    <p:sldId xmlns:r="http://schemas.openxmlformats.org/officeDocument/2006/relationships" id="266" r:id="Rd1b28d875f96418d"/>
    <p:sldId xmlns:r="http://schemas.openxmlformats.org/officeDocument/2006/relationships" id="267" r:id="Rf8a4f9a1eaf746d3"/>
    <p:sldId xmlns:r="http://schemas.openxmlformats.org/officeDocument/2006/relationships" id="268" r:id="Rc9d77a4c43724642"/>
    <p:sldId xmlns:r="http://schemas.openxmlformats.org/officeDocument/2006/relationships" id="269" r:id="Rba7cc0c93a1349df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8f995aa4c45fd" /><Relationship Type="http://schemas.openxmlformats.org/officeDocument/2006/relationships/slideMaster" Target="/ppt/slideMasters/slideMaster1.xml" Id="R7546cebc30a244e5" /><Relationship Type="http://schemas.openxmlformats.org/officeDocument/2006/relationships/notesMaster" Target="/ppt/notesMasters/notesMaster1.xml" Id="Rf6d60a28f9d848ae" /><Relationship Type="http://schemas.openxmlformats.org/officeDocument/2006/relationships/presProps" Target="/ppt/presProps.xml" Id="Rba448bf2b651403c" /><Relationship Type="http://schemas.openxmlformats.org/officeDocument/2006/relationships/tableStyles" Target="/ppt/tableStyles.xml" Id="Rfe4b4860bfeb4abf" /><Relationship Type="http://schemas.openxmlformats.org/officeDocument/2006/relationships/slide" Target="/ppt/slides/slide1.xml" Id="R894f39c2ac6f4f61" /><Relationship Type="http://schemas.openxmlformats.org/officeDocument/2006/relationships/slide" Target="/ppt/slides/slide2.xml" Id="Re7c7cab9bbb341ed" /><Relationship Type="http://schemas.openxmlformats.org/officeDocument/2006/relationships/slide" Target="/ppt/slides/slide3.xml" Id="R53e02ac57dd242eb" /><Relationship Type="http://schemas.openxmlformats.org/officeDocument/2006/relationships/slide" Target="/ppt/slides/slide4.xml" Id="Rf3ad83aa05b14382" /><Relationship Type="http://schemas.openxmlformats.org/officeDocument/2006/relationships/slide" Target="/ppt/slides/slide5.xml" Id="R61e4e12c7d924195" /><Relationship Type="http://schemas.openxmlformats.org/officeDocument/2006/relationships/slide" Target="/ppt/slides/slide6.xml" Id="R6881ece378844fe1" /><Relationship Type="http://schemas.openxmlformats.org/officeDocument/2006/relationships/slide" Target="/ppt/slides/slide7.xml" Id="R6bcb4d97fd484847" /><Relationship Type="http://schemas.openxmlformats.org/officeDocument/2006/relationships/slide" Target="/ppt/slides/slide8.xml" Id="Re861d660e4044259" /><Relationship Type="http://schemas.openxmlformats.org/officeDocument/2006/relationships/slide" Target="/ppt/slides/slide9.xml" Id="R4d8b6b142fab42b1" /><Relationship Type="http://schemas.openxmlformats.org/officeDocument/2006/relationships/slide" Target="/ppt/slides/slide10.xml" Id="R3d3671e26dca41f8" /><Relationship Type="http://schemas.openxmlformats.org/officeDocument/2006/relationships/slide" Target="/ppt/slides/slide11.xml" Id="Rd1b28d875f96418d" /><Relationship Type="http://schemas.openxmlformats.org/officeDocument/2006/relationships/slide" Target="/ppt/slides/slide12.xml" Id="Rf8a4f9a1eaf746d3" /><Relationship Type="http://schemas.openxmlformats.org/officeDocument/2006/relationships/slide" Target="/ppt/slides/slide13.xml" Id="Rc9d77a4c43724642" /><Relationship Type="http://schemas.openxmlformats.org/officeDocument/2006/relationships/slide" Target="/ppt/slides/slide14.xml" Id="Rba7cc0c93a13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07c29bbe04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3b8803c5e40a9" /><Relationship Type="http://schemas.openxmlformats.org/officeDocument/2006/relationships/notesMaster" Target="/ppt/notesMasters/notesMaster1.xml" Id="R5682f425ac234b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cb0563ee574281" /><Relationship Type="http://schemas.openxmlformats.org/officeDocument/2006/relationships/notesMaster" Target="/ppt/notesMasters/notesMaster1.xml" Id="R291d04c5fdba41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01298ced645e4" /><Relationship Type="http://schemas.openxmlformats.org/officeDocument/2006/relationships/notesMaster" Target="/ppt/notesMasters/notesMaster1.xml" Id="Rf2221ff7c081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c03b895b47411c" /><Relationship Type="http://schemas.openxmlformats.org/officeDocument/2006/relationships/notesMaster" Target="/ppt/notesMasters/notesMaster1.xml" Id="R7b025d6999a44e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ad5b5eb61f4545" /><Relationship Type="http://schemas.openxmlformats.org/officeDocument/2006/relationships/notesMaster" Target="/ppt/notesMasters/notesMaster1.xml" Id="R56dc0863c17e48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6fd0367b9f45fa" /><Relationship Type="http://schemas.openxmlformats.org/officeDocument/2006/relationships/notesMaster" Target="/ppt/notesMasters/notesMaster1.xml" Id="R73d5e5948b144e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a1572bb7a4e32" /><Relationship Type="http://schemas.openxmlformats.org/officeDocument/2006/relationships/notesMaster" Target="/ppt/notesMasters/notesMaster1.xml" Id="Rd62685f777ac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bfb438392d449f" /><Relationship Type="http://schemas.openxmlformats.org/officeDocument/2006/relationships/notesMaster" Target="/ppt/notesMasters/notesMaster1.xml" Id="R30fd3147b38c45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524372f40f49a5" /><Relationship Type="http://schemas.openxmlformats.org/officeDocument/2006/relationships/notesMaster" Target="/ppt/notesMasters/notesMaster1.xml" Id="R6f5f52ad24c44e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f8ed9f8eb34e6e" /><Relationship Type="http://schemas.openxmlformats.org/officeDocument/2006/relationships/notesMaster" Target="/ppt/notesMasters/notesMaster1.xml" Id="Rbccdfcd1595342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24c0bbabaf4db1" /><Relationship Type="http://schemas.openxmlformats.org/officeDocument/2006/relationships/notesMaster" Target="/ppt/notesMasters/notesMaster1.xml" Id="R3f4112129f164c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b9d21a9d614392" /><Relationship Type="http://schemas.openxmlformats.org/officeDocument/2006/relationships/notesMaster" Target="/ppt/notesMasters/notesMaster1.xml" Id="R1637f660b00849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38c20398904dbc" /><Relationship Type="http://schemas.openxmlformats.org/officeDocument/2006/relationships/notesMaster" Target="/ppt/notesMasters/notesMaster1.xml" Id="R2e590e3b796a44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bcbb92f3664efe" /><Relationship Type="http://schemas.openxmlformats.org/officeDocument/2006/relationships/notesMaster" Target="/ppt/notesMasters/notesMaster1.xml" Id="Ra65960fa2ab642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AI peers and market users. AlphaSynth is a research workflow, not a prediction claim or investment recommendation. The presentation notes are presenter prompts, not an embedded voice-over.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layers are Signal Tracker, Evidence Report, later-results confirmation, and Deep Dive. PDF is an optional output within the evidence layer, not a required step for every company.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pilot capture from 15 September 2026. The 477-company count refers specifically to the monitored BMS universe.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pilot capture from 15 September 2026. The Evidence Report and Deep Dive are separate layers; the tracker remains deliberately concise.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Lifecycle is the time-based history of the BMS reading. It must stay separate from valuation and investment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1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2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3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4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5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6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live pilot capture from 15 September 2026. Deep Dive is a deliberate next action, not an automatic claim attached to every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live pilot capture from 15 September 2026. The on-demand Deep Dive universe is broader than the 477-company BMS tracker; those two coverage claims must not be conflated.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The bounded cohort measured technical completion and report readiness, not stock-return prediction. Suggested live demo: select a lifecycle, choose a company, open Evidence Report, then open Deep Dive.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fac46729141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d781525c14136" /><Relationship Type="http://schemas.openxmlformats.org/officeDocument/2006/relationships/slideLayout" Target="/ppt/slideLayouts/slideLayout1.xml" Id="R51c8e66ead4144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8e66ead4144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e3d6583d148e4" /><Relationship Type="http://schemas.openxmlformats.org/officeDocument/2006/relationships/notesSlide" Target="/ppt/notesSlides/notesSlide1.xml" Id="Rb14d01d879e843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a4b9136e7415c" /><Relationship Type="http://schemas.openxmlformats.org/officeDocument/2006/relationships/notesSlide" Target="/ppt/notesSlides/notesSlide2.xml" Id="R6e701274233e4f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ea0727dc04df2" /><Relationship Type="http://schemas.openxmlformats.org/officeDocument/2006/relationships/image" Target="/ppt/media/image.jpeg" Id="R905d24b5a8914b93" /><Relationship Type="http://schemas.openxmlformats.org/officeDocument/2006/relationships/notesSlide" Target="/ppt/notesSlides/notesSlide3.xml" Id="Re772c5f3fdf6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c80124e44a28" /><Relationship Type="http://schemas.openxmlformats.org/officeDocument/2006/relationships/image" Target="/ppt/media/image2.jpeg" Id="Rbab5ab9fb4ab4630" /><Relationship Type="http://schemas.openxmlformats.org/officeDocument/2006/relationships/notesSlide" Target="/ppt/notesSlides/notesSlide4.xml" Id="R3047180a54304c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4bb7931e454c" /><Relationship Type="http://schemas.openxmlformats.org/officeDocument/2006/relationships/notesSlide" Target="/ppt/notesSlides/notesSlide5.xml" Id="Rfbbdb5890c974e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daffebd6a45b2" /><Relationship Type="http://schemas.openxmlformats.org/officeDocument/2006/relationships/image" Target="/ppt/media/image.png" Id="R7e4a97363afe48c2" /><Relationship Type="http://schemas.openxmlformats.org/officeDocument/2006/relationships/notesSlide" Target="/ppt/notesSlides/notesSlide6.xml" Id="R613f8c446fe3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5d2e735f349fe" /><Relationship Type="http://schemas.openxmlformats.org/officeDocument/2006/relationships/image" Target="/ppt/media/image2.png" Id="R759441e2301c48b1" /><Relationship Type="http://schemas.openxmlformats.org/officeDocument/2006/relationships/notesSlide" Target="/ppt/notesSlides/notesSlide7.xml" Id="R490445503c81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1f2b027c746bd" /><Relationship Type="http://schemas.openxmlformats.org/officeDocument/2006/relationships/image" Target="/ppt/media/image3.png" Id="R848ee30482934ad0" /><Relationship Type="http://schemas.openxmlformats.org/officeDocument/2006/relationships/notesSlide" Target="/ppt/notesSlides/notesSlide8.xml" Id="Rae39fe9c1e034c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ab2bed0ca4043" /><Relationship Type="http://schemas.openxmlformats.org/officeDocument/2006/relationships/image" Target="/ppt/media/image4.png" Id="R73e4822691994c47" /><Relationship Type="http://schemas.openxmlformats.org/officeDocument/2006/relationships/notesSlide" Target="/ppt/notesSlides/notesSlide9.xml" Id="R11237ef74d6b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cb31e4cd04017" /><Relationship Type="http://schemas.openxmlformats.org/officeDocument/2006/relationships/image" Target="/ppt/media/image5.png" Id="R4294f1f1ac0c4f4a" /><Relationship Type="http://schemas.openxmlformats.org/officeDocument/2006/relationships/notesSlide" Target="/ppt/notesSlides/notesSlide10.xml" Id="R17ec5b3a4d6049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b4caac0443a0" /><Relationship Type="http://schemas.openxmlformats.org/officeDocument/2006/relationships/image" Target="/ppt/media/image6.png" Id="Rbe116f64441f4501" /><Relationship Type="http://schemas.openxmlformats.org/officeDocument/2006/relationships/notesSlide" Target="/ppt/notesSlides/notesSlide11.xml" Id="R81af53e6c25a41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278bfabbf44d7" /><Relationship Type="http://schemas.openxmlformats.org/officeDocument/2006/relationships/image" Target="/ppt/media/image3.jpeg" Id="Ra9b54c42cd7243c7" /><Relationship Type="http://schemas.openxmlformats.org/officeDocument/2006/relationships/notesSlide" Target="/ppt/notesSlides/notesSlide12.xml" Id="R0f1603d6c3634d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bccbdfd7045b5" /><Relationship Type="http://schemas.openxmlformats.org/officeDocument/2006/relationships/image" Target="/ppt/media/image4.jpeg" Id="R0b64c41f3d6846a9" /><Relationship Type="http://schemas.openxmlformats.org/officeDocument/2006/relationships/notesSlide" Target="/ppt/notesSlides/notesSlide13.xml" Id="R6ed31d64d73945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3909d5ca54772" /><Relationship Type="http://schemas.openxmlformats.org/officeDocument/2006/relationships/notesSlide" Target="/ppt/notesSlides/notesSlide14.xml" Id="R9233f8a0b50e40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8EBE8-7EAA-483A-A5D4-F587867F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0EEA0-EF03-41D0-BC32-082E7138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AC965-F652-4CF4-92B1-6FCA297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 business change</a:t>
            </a:r>
          </a:p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before it becomes obvious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51D26-C491-4AF4-81BD-4F1AFDB4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 guided product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12E9B-ACE5-4962-8A6A-93B229D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776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From a monitored momentum signal to its evidence trail, later-results check and full company Deep Dive.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163AE-E718-4093-A09A-274F5F99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0"/>
            <a:ext cx="8953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430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7683C-AFAF-426E-8C95-9EE92B5D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1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477-company BMS tracker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57D6E-2477-4C97-B888-4365FC9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315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Evidence-first explanation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29351-76A9-4825-A560-4A7AD0E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31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Broader on-demand Deep Dive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74A6D-49DA-4D5D-9730-B087B242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582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Research aid only · no buy/sell recommendation · verify material claims against cited filings</a:t>
            </a:r>
          </a:p>
        </p:txBody>
      </p:sp>
    </p:spTree>
    <p:extLst>
      <p:ext uri="{BB962C8B-B14F-4D97-AF65-F5344CB8AC3E}">
        <p14:creationId xmlns:p14="http://schemas.microsoft.com/office/powerpoint/2010/main" val="72523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5C8527-6491-484C-9DB1-A0F5706A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9CBFC-1BB6-44DF-9E59-518BB46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0F799-AD99-44F3-822B-25A118D2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product has one simple research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F27F6-763E-45AB-AB67-26F38BC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Each layer answers a different question. The user can stop as soon as they have enough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C85FB-812E-488D-A9A6-A265538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87714-EC66-45CF-B786-6C4D514A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713FE-C01F-4D3F-B62A-B212234D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44B6B-74CB-4224-B0C6-584879CA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52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3166-87B8-41A1-867A-4D6393BA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FBD1C-DCBC-41F9-BA65-D896C8A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ED03F-5459-4E8E-9AE1-A3EDD42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38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Which company’s business momentum is changing?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40510-5033-4952-92A5-FFA3D57B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B9EB0-6961-4037-8723-446860F6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9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DBF01-D39E-42D3-99BF-AF978A15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43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0EEBA-14B4-44C1-BDE3-7A631E2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43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18A41-14DD-4C02-B59E-9078EBB1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1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What evidence produced the lifecycle and score?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56756-8A1B-45D2-B920-09801A25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A7188-FBB2-4B80-8BFC-A893D144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055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3DF87-3060-4A38-886B-F9259AC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198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3385B-F14A-47BA-BD3C-DD0B0B5F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19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6D054-AB51-4062-A29A-F4EB1F7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912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Do later results support the earlier reading?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2DAE0-589E-4337-991E-4C81693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86625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21F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ADDCE-B702-4BC1-9AB6-3A811A12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58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0AEA7-B367-490D-A6B1-389D40A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696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12AAE-830D-4A66-9830-5D7C4D27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9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INVESTIGATE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D747A-C386-4A6E-B6CF-E0BCE9B7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8676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What does a fuller company review reveal?</a:t>
            </a:r>
          </a:p>
        </p:txBody>
      </p:sp>
    </p:spTree>
    <p:extLst>
      <p:ext uri="{BB962C8B-B14F-4D97-AF65-F5344CB8AC3E}">
        <p14:creationId xmlns:p14="http://schemas.microsoft.com/office/powerpoint/2010/main" val="1536665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C799B-C9F1-4C85-94C9-EF823251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45243-221D-4A56-9FAE-63D03E78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0C1F7-BA54-4A7C-B7FB-6FAE3F6A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Start with the monitored BMS universe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E8974-C43E-467D-A402-A991AC09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complete screen capture: choose a lifecycle, search a company and see the current momentum snapshot.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15E8-AE57-4B67-B9BB-D310AE3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78CB6-268A-47E9-B313-C85E3C68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09BBB-006E-40DE-8A6F-788FB6FD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9372600" cy="5343525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d24b5a8914b93"/>
          <a:stretch xmlns:a="http://schemas.openxmlformats.org/drawingml/2006/main"/>
        </p:blipFill>
        <p:spPr>
          <a:xfrm xmlns:a="http://schemas.openxmlformats.org/drawingml/2006/main">
            <a:off x="533400" y="2572537"/>
            <a:ext cx="9220200" cy="518955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92560-F68C-442E-B0C3-01FD076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252412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08930-5BAB-4827-99E7-0A966E75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296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477 MONITORED COMPANIES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01106-B107-4204-9560-90E84023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191500"/>
            <a:ext cx="641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tracker is a research queue, not a ranking of investment attractiveness.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CB4D7-A3A1-4EB9-A63F-CF4D1379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629650"/>
            <a:ext cx="641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Lifecycle describes how business momentum has evolved through successive results.</a:t>
            </a:r>
          </a:p>
        </p:txBody>
      </p:sp>
    </p:spTree>
    <p:extLst>
      <p:ext uri="{BB962C8B-B14F-4D97-AF65-F5344CB8AC3E}">
        <p14:creationId xmlns:p14="http://schemas.microsoft.com/office/powerpoint/2010/main" val="1666848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3C29A-5EA1-449B-B0F9-A2A4135C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5E6C9-F7C4-44F2-9A9E-1970D6B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28125-E71B-4774-8374-1CCA68D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 the signal, then choose the next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F20BB-C9AE-4122-855C-A427A4D3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lower part of the selected-company screen shows the human interpretation and the three research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9C9FF-9913-4ACC-9534-B063B975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7705E-CDAB-4250-86E9-F7F3BDD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EE600-7698-48F5-B2DF-04F61365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9372600" cy="5343525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5ab9fb4ab4630"/>
          <a:stretch xmlns:a="http://schemas.openxmlformats.org/drawingml/2006/main"/>
        </p:blipFill>
        <p:spPr>
          <a:xfrm xmlns:a="http://schemas.openxmlformats.org/drawingml/2006/main">
            <a:off x="533400" y="2572537"/>
            <a:ext cx="9220200" cy="518955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3B150-1006-4C71-A3A5-9BE1D86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6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578DD-E9CD-4473-B79D-5B5F2531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20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99D64-166F-4A64-8793-E9769E4B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143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Research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E79FF-9524-4D4F-B1F9-82ECE14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677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Understand what changed and what would change the signal again.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25AE4-0146-4A61-B7D8-48F884A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16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6FFFE-D5F8-487E-A061-1E2F5FCB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220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D27A3-9ACD-450B-AFD1-6FFF0FEB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143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79095-01AA-43C4-B4ED-B1DD0A42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4677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Open the supporting factors, confidence and confirmation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303B1-38F1-47EC-BF43-ACA05F3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16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4510C-FAF9-486A-B24C-39F5EEBE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220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78171-058C-4C24-BFED-B2A10167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1438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Dive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63AB3-D41B-4DE1-AACF-AC2D2398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467725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Move into a broader company, valuation and risk review.</a:t>
            </a:r>
          </a:p>
        </p:txBody>
      </p:sp>
    </p:spTree>
    <p:extLst>
      <p:ext uri="{BB962C8B-B14F-4D97-AF65-F5344CB8AC3E}">
        <p14:creationId xmlns:p14="http://schemas.microsoft.com/office/powerpoint/2010/main" val="316872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45D60-F232-42FE-B849-B681926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B551C-B278-475D-B359-BA0E5239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15FBE-768B-44C5-8ACF-0304CC1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Lifecycle adds history to a single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66EC2-68AC-47A8-BBBB-1E064FD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One result can create a signal. Repeated evidence shows whether it broadens, persists or fades.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64D44-EEB2-452B-B16A-60CDDF2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9F5BD-FE8B-4F4C-A539-20641BB2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A1AEF-97F9-40B5-8452-83DA19E6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466C2-1FA7-4A52-BEAC-A49857D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384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E22B-E873-4862-8586-A9DCDF45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62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D4DCF-4762-418F-B74F-6BF35B12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99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First evidence; establish a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F090E-15E1-4640-A241-DBF9160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DD9A0-B06E-4F92-816F-5CDEA8D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E9A22-3191-47CC-A724-9416AB3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43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EMERGING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05C91-036E-4D2A-B857-0E201A3B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910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positive inflection begins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94474-A8D5-4291-A092-7B5AFA0D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53F59-780A-4B6E-878E-8F1F46A5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006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8FD08-B7A8-4FF9-871A-8A90A946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244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C3EF-A91E-4707-AC3B-54F044A2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72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More factors or periods confirm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3E68D-43C4-43AF-A054-532FD8F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246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70B4A-E495-4BAD-BE67-074D5298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81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4FD2C-3739-40F4-B5DC-153FE929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05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ESTABLISHED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B6C3F-8F8B-4AA2-8707-81D3ADA4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532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Improvement persists through results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BD4E3-59C2-4A68-894B-CB5290DE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057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7191E"/>
          </a:solidFill>
          <a:ln xmlns:a="http://schemas.openxmlformats.org/drawingml/2006/main" w="9525">
            <a:solidFill>
              <a:srgbClr val="F477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1B88D-2005-4930-8FB0-52D0AA4E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762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777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77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2C8FC-C84F-458B-8949-C0CDDFF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866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B23D2-143B-4C3B-A09F-BEA0168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7343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Earlier momentum is weakening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8A314-DFA4-4158-8049-51235117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Lifecycle is not company quality, valuation, price direction or a buy/sell view.</a:t>
            </a:r>
          </a:p>
        </p:txBody>
      </p:sp>
    </p:spTree>
    <p:extLst>
      <p:ext uri="{BB962C8B-B14F-4D97-AF65-F5344CB8AC3E}">
        <p14:creationId xmlns:p14="http://schemas.microsoft.com/office/powerpoint/2010/main" val="30097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7F453-30CE-4886-9BF6-905730D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B4DE6-C569-45FB-96B5-382D82A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50DE4-C9C4-4EF5-ADA0-DFB7BE84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selective PDF begins with the decision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75061-C52A-4346-B5CF-9572A6DE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cover preserves the recorded lifecycle, evidence coverage, central watch item and research-readiness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BF1F9-D835-4051-9F4F-3531AD2F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D7A87-D3B5-4DCE-9064-35BF158E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8DEB9-14CC-4ADA-BD7F-9F662FB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a97363afe48c2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C9370-7F46-4D7B-91E5-F31BCD1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15869-9DC7-4BB8-A8EE-3D7B9D66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804D1-2554-47F2-B2F8-6E9B150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7B9E2-5BDF-4F6C-BCDD-865A90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598E6-5032-4F22-B9B3-922663D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Recorded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60BCE-C382-498F-99C3-BC3E4B0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original BMS V1 lifecycle remains auditable.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82D01-1A4E-4229-B140-28521A77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FCD9B-D92C-4F76-8051-3F7F1E68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90DEA-FE0C-474F-8255-94F19E1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3A85D-8724-4CEB-9104-065A518D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Sources and supported claims are counted.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486CB-EDB9-4049-99F7-4459603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FA6A5-6DAD-4E6B-9BD3-513DDC7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F5CF8-6979-4041-B1BB-E561D41C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Visible uncertainty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A75F1-2E87-421B-BF00-5357C6F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watch item is shown rather than concealed.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ABCCD-F47E-419C-8EAF-A0AE0CC7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PDF appears only when report-readiness checks pass.</a:t>
            </a:r>
          </a:p>
        </p:txBody>
      </p:sp>
    </p:spTree>
    <p:extLst>
      <p:ext uri="{BB962C8B-B14F-4D97-AF65-F5344CB8AC3E}">
        <p14:creationId xmlns:p14="http://schemas.microsoft.com/office/powerpoint/2010/main" val="1481284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C932B-AC31-4223-8B27-DB5E8CB2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056BF-C86C-4D41-8F11-D8318D59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CB049-BFB9-468F-8A2D-5D48351D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 and confidence answer different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C21E7-7522-45FA-8FD1-364E94D6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factor score measures direction within available comparisons. Confidence measures how complete that evidence 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3731E-211A-4795-A7DD-CA9B2388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9471-2099-40FD-93F6-8607E590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EF0D4-2FA8-4DA2-99EE-8B0F3DDD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441e2301c48b1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6FCE3-1F25-4DAB-89AD-2E4C5F41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09B39-0455-4616-9DCB-20EE4AD5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1FE00-6F36-40C7-A781-AF3CDD2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255C6-B9E1-4E39-88F2-7B4D6195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2ED7B-D6BE-4359-AF8B-6A94CE0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100 / 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ED2A5-08A5-4061-970A-6287EA5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Strong measured momentum in the factors supplied.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1D3B5-81D5-438C-A0A5-219CF703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68F5C-72AC-47C1-A576-CE63CC6D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53986-D951-49BF-9DB3-EB8FC35C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Medium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1921E-4334-44D1-A95D-9D3D4BF9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Only part of the five-factor model is comparable.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BFFB5-521A-4D5D-BE72-2AB408B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FB52B-72E2-46F2-8D34-3C08480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C57EA-DBEE-4C92-A3E0-6436784C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N/A stays N/A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E500E-A0A9-4472-85D9-0C91C87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Missing evidence is never converted into zero or neutral.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ED694-4660-4320-B46B-DBA552F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264851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7ED3D-D73B-45EA-AC24-BB5466DB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DDED1-C4DB-47CA-A397-9025F69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A2887-7246-4D95-A8D6-2E06B6E9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Financial evidence makes the comparison inspectable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27812-5BBD-4EE8-B3B2-91921AB8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report shows prices, quarterly financials and the periods used for comparison — with explicit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0C13B-BAE6-49E5-9E8D-E969D66E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FD027-4513-454D-8766-043289C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891F6-C56C-4052-B000-EE44F96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ee30482934ad0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2CBDC-1165-4F09-BDE1-BE78EFBA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D4707-5532-4C51-BCA5-E02F4262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5C400-5CDC-4AFC-8663-1016750A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81AF8-EA65-402E-B889-63455831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C337D-432B-4898-8CBB-40257E6C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Comparable periods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D3370-7702-4E86-AE18-6DAC000F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Previous and current readings are labelled.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E222C-E068-4F57-88CA-C3E24EFA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5AC8A-0AA2-4F9E-8F1E-AA2BBD83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9D96E-3C96-4294-B91E-2436DE6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Explicit units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EA8EF-49BD-4BFE-982B-26D6BA2B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₹ crore, percentages, EPS and score /100.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97F44-20AF-4301-99AF-57D2469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3B8F7-755E-49B4-BCB6-9D821126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80A3F-1E9C-4A0C-99FC-8F483FD7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Source-linked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52689-A73F-4C2A-96F0-F2AB669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Quantitative inputs remain traceable to their source.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E74AE-8B7E-4172-8AF0-E6BA1EC4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386989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1140C-D42E-4FD1-863D-12D20F4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77CDB-EB13-4910-A5AC-BED93A51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B4663-DD6D-478F-86BC-9534868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Later results test the earlier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BD474-5EDA-4E3B-9C41-F7BA7BDE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After a lifecycle is recorded, subsequent evidence checks whether that earlier reading still appears valid.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96CCB-3CA1-4066-B9C0-118A656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56E61-7480-4469-AA57-BFD930AF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E87C-2860-4A02-8F50-2DFE4D6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4822691994c47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49F48-5549-4D93-A52C-787BE2FD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BB185-5CC7-4F70-B0E4-B8545E1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SAMPLE PDF · PAGE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49B85-2207-49E6-8824-EC23957D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F34A7-C6C9-4139-BEDC-D11EFE8B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ADED9-F217-4F81-9E11-450712F0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52AA1-DFA7-493B-B7E3-B7EFBEA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Do not rewrite the historical classification.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B57E5-9823-42FB-AD34-5DEF2201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C0D87-4BF4-4219-8908-2AAF55F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14328-ADD5-4ACE-A35B-6C1584FC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A1D1C-6C1C-4B97-B6B9-0C48EC1E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Test delivery and business-quality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53803-B9E3-43E4-822B-B744B91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45F49-DDC5-4FC5-9708-EC230DE6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81299-4950-49DA-A33C-05C0A56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Prioritise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9717C-4D2B-40F3-ADEE-5373A0FE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Raise, lower or defer today’s research priority.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C28E8-71B7-4033-8211-0FC096B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13015338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23E42-8912-4E72-A5FA-8D46E9E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57930-F694-4F71-A396-E8D14FB7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531DF-6CBD-464A-8811-AAEFF5C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Management claims need memory before they need a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95BF-AAD7-41F5-AEF6-50349FDB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statement becomes useful only when it is dated, measurable, remembered and checked against a later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8A293-A48E-470F-AB18-2D249121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8BD9E-DF67-4DA4-86CA-6307B71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317E-AA71-4C58-AC9B-7C713A0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4f1f1ac0c4f4a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F30E1-6D6A-4FEF-93F8-F537E0D1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718BA-9EED-4F25-BFC9-5B3E8B8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B6A28-BBEB-43CC-B516-B7FA4D49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E1C34-531F-4F31-92F3-D506FAEF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ACFE4-4802-4311-B2B4-A2D52E0B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84390-7A97-4D26-8D3D-ED52E3A3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Capture a measurable commitment and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D8A94-0290-4433-9C37-FAD1EEA8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5D3DF-DD10-4925-AC51-A25144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9E1FA-CF29-4565-854A-BD2B6EE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3F93D-4BF4-4A58-97AC-5EBFBDA5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Wait until the target date or outcome exists.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4F4FD-AA85-4E0C-81CB-005993BB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EAA28-C6A3-4EDE-AAD7-4DD30CB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82AA0-32C9-4C73-A52E-A00EFF38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E959C-ABBB-4BAC-808A-AF59516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Assess delivery, revision discipline and disclosure quality.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1B2E0-BF11-4D93-8F95-AF77799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1302384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D6847-E4FD-4B16-80EA-65EE2AD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8531F-4AA6-43CB-8CE4-BA2DA51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17D2B-CF28-471E-9E8D-9904DD9E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methodology preserves the source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6FF54-690E-48AC-9163-CDE9745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final page explains the method, limitations and source register so the conclusion can be challenged.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9E9E7-5EB7-40F8-9A7C-7B8FD06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45B4-0933-4693-8075-845C585A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97334-30E6-4981-9CA0-43B99B73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16f64441f4501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AD759-6C60-40A4-84AA-27FF6AC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82077-0FD5-4A77-8295-A098CAF5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2FFB3-F944-49F4-BBB8-E98C9C12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7C067-35EC-44C9-BC7F-44340AA9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44611-26F1-45A2-8FE0-4F398F1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Official-first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E9E0C-52F8-470B-88BD-A61B215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Company and exchange evidence lead admission.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3D174-3C37-4659-81BD-5CE7DD7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C86B9-4A6F-4E4C-8525-E131DF54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A64A7-FF21-4E11-BB7C-E1FA669D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Bounded fallbacks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191AB-6A20-443D-9913-2000E49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Alternative evidence is labelled and constrained.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6170E-7754-4883-98E7-72CD96E9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360B4-D8EE-40B7-AA48-EE8F88B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6855B-AC24-4E31-8975-3C482B9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 invention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5B940-A9A7-420D-A334-01BC7D7C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Unknown or incomplete evidence remains visible.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82174-80EF-4010-9E3D-E4C0A367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797909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1C69D-BD37-4010-994E-310F37B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3E5AC-2563-437B-99EF-91DCF5A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66C29-5BA3-4BC0-97AA-310432F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Dive begins with a deliberate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4F2A5-7C54-4399-8EA1-D94FB6E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selected company carries from the BMS experience into the broader research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75440-6B76-4EBF-A1B4-FA130CF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25CFA-75B1-4CC3-9FC0-694D56F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0BBF7-FE75-40A6-B61C-2D8200E1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8801100" cy="704850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54c42cd7243c7"/>
          <a:stretch xmlns:a="http://schemas.openxmlformats.org/drawingml/2006/main"/>
        </p:blipFill>
        <p:spPr>
          <a:xfrm xmlns:a="http://schemas.openxmlformats.org/drawingml/2006/main">
            <a:off x="819150" y="2483423"/>
            <a:ext cx="8648700" cy="68822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FDD6A-D6BA-4412-818A-BF8F324D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496300"/>
            <a:ext cx="18097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BB856-802A-40BB-B7A8-6775322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553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SELECT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E8FF-99F6-498B-97E0-68EBB23B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5248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user initiates the fuller analysis only when the signal deserves additional work.</a:t>
            </a:r>
          </a:p>
        </p:txBody>
      </p:sp>
    </p:spTree>
    <p:extLst>
      <p:ext uri="{BB962C8B-B14F-4D97-AF65-F5344CB8AC3E}">
        <p14:creationId xmlns:p14="http://schemas.microsoft.com/office/powerpoint/2010/main" val="6058520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44524-A1C5-449A-8DBA-8CBFD5E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D4F07-E396-4E0C-86E1-F2678921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7A702-0123-44E3-B1E8-767590D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Dive returns a broader company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119E6-539E-4499-91B7-65A18094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output adds an executive narrative, quantitative scoring and risk identification beyond the concise tracker.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0DF7E-C1DE-4596-8CD6-4300E5F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FDB46-2E60-4BD1-A64E-A5F2449A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CEE8B-1A20-4C20-BE24-55A8016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8801100" cy="704850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4c41f3d6846a9"/>
          <a:stretch xmlns:a="http://schemas.openxmlformats.org/drawingml/2006/main"/>
        </p:blipFill>
        <p:spPr>
          <a:xfrm xmlns:a="http://schemas.openxmlformats.org/drawingml/2006/main">
            <a:off x="819150" y="2483423"/>
            <a:ext cx="8648700" cy="68822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F88B3-1AD2-488A-A9D1-29B4A20F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496300"/>
            <a:ext cx="2857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8793C-F046-4059-9D28-DD179C8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5534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BROADER ON-DEMAND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F2227-5043-4C1A-A96F-90D91A3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4391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Additional small and mid caps may be researched subject to data availability. Deep Dive coverage does not itself confer a BMS lifecycle.</a:t>
            </a:r>
          </a:p>
        </p:txBody>
      </p:sp>
    </p:spTree>
    <p:extLst>
      <p:ext uri="{BB962C8B-B14F-4D97-AF65-F5344CB8AC3E}">
        <p14:creationId xmlns:p14="http://schemas.microsoft.com/office/powerpoint/2010/main" val="2060531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005DE-BB24-4D73-9865-60388EE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27B95-7E40-4BF8-9DCE-37834D39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EDC4F-8490-4505-A9FA-5B30F72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Finish with evidence discipline, not more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F9D99-ACE9-4FAC-BFB1-EE69DBDC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build is ready for demonstration when the workflow completes reliably and weak evidence is stopped visibly.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46C2B-AEB2-47D3-9425-B949655F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DF9A2-D26C-434D-BC39-1DA4E1DD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4D416-B61A-48A5-BE95-EB0361A1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1719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0C2430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10839-F3BB-4B3D-A80D-2FBFA7D5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24 of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0E6D3-F746-45CE-9DA9-DC1CC4EC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workflows completed in the bounded validation cohort.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80877-4125-4CD7-9A3C-7DF6186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1719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FB694-8966-4EAB-BAB0-9FC7C908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2 of 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31972-745C-45D6-ADF5-D93E129E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 the stricter standard for a downloadable full PDF.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4AA90-314F-46AE-BDA0-1DEC45E0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WHAT THIS PROVES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0EFC3-5D98-4CA3-9FEB-F044C4F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881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workflow can finish, expose limitations, and selectively withhold a report when evidence is too thin.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F27DE-A928-4882-A09A-A1959E0A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WHAT THIS DOES NOT 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D2411-B3FE-4697-977D-3D3487AE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34300"/>
            <a:ext cx="881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It is not predictive-accuracy evidence and it does not replace due diligence or provide an investment recommendation.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11858-D8FA-4AE7-8404-FF6CFE45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10625"/>
            <a:ext cx="6858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928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AE19A-0C70-45CD-A498-49A72DA5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expectation-pilot---alphasynth-equity-oqc2y4ogda-uc.a.run.app</a:t>
            </a:r>
          </a:p>
        </p:txBody>
      </p:sp>
    </p:spTree>
    <p:extLst>
      <p:ext uri="{BB962C8B-B14F-4D97-AF65-F5344CB8AC3E}">
        <p14:creationId xmlns:p14="http://schemas.microsoft.com/office/powerpoint/2010/main" val="1909327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2026-09-15T06:53:58.7430000Z</dcterms:created>
  <dcterms:modified xsi:type="dcterms:W3CDTF">2026-09-15T06:53:58.7430000Z</dcterms:modified>
</coreProperties>
</file>