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d5e0a8141a486d" /><Relationship Type="http://schemas.openxmlformats.org/officeDocument/2006/relationships/extended-properties" Target="/docProps/app.xml" Id="R97d6c3d568594f50" /><Relationship Type="http://schemas.openxmlformats.org/officeDocument/2006/relationships/officeDocument" Target="/ppt/presentation.xml" Id="R572ad9561af04d28" /></Relationships>
</file>

<file path=ppt/presentation.xml><?xml version="1.0" encoding="utf-8"?>
<p:presentation xmlns:p="http://schemas.openxmlformats.org/presentationml/2006/main">
  <p:sldMasterIdLst>
    <p:sldMasterId xmlns:r="http://schemas.openxmlformats.org/officeDocument/2006/relationships" id="2147483648" r:id="R606835435a8246d4"/>
  </p:sldMasterIdLst>
  <p:notesMasterIdLst>
    <p:notesMasterId xmlns:r="http://schemas.openxmlformats.org/officeDocument/2006/relationships" r:id="R110551078ffe4a30"/>
  </p:notesMasterIdLst>
  <p:sldIdLst>
    <p:sldId xmlns:r="http://schemas.openxmlformats.org/officeDocument/2006/relationships" id="256" r:id="R5c554adadf4d4a31"/>
    <p:sldId xmlns:r="http://schemas.openxmlformats.org/officeDocument/2006/relationships" id="257" r:id="R478c6a9b654f41dd"/>
    <p:sldId xmlns:r="http://schemas.openxmlformats.org/officeDocument/2006/relationships" id="258" r:id="Re3c0edaa02684d25"/>
    <p:sldId xmlns:r="http://schemas.openxmlformats.org/officeDocument/2006/relationships" id="259" r:id="R39d41fd023424901"/>
    <p:sldId xmlns:r="http://schemas.openxmlformats.org/officeDocument/2006/relationships" id="260" r:id="R84a513c5ede2415c"/>
    <p:sldId xmlns:r="http://schemas.openxmlformats.org/officeDocument/2006/relationships" id="261" r:id="R1af3250c3d2e4be9"/>
    <p:sldId xmlns:r="http://schemas.openxmlformats.org/officeDocument/2006/relationships" id="262" r:id="R05bae3c0a50a4573"/>
    <p:sldId xmlns:r="http://schemas.openxmlformats.org/officeDocument/2006/relationships" id="263" r:id="Ra4267506c3404719"/>
    <p:sldId xmlns:r="http://schemas.openxmlformats.org/officeDocument/2006/relationships" id="264" r:id="Rd7c1050ef500479e"/>
    <p:sldId xmlns:r="http://schemas.openxmlformats.org/officeDocument/2006/relationships" id="265" r:id="R0894fa6df7c445e4"/>
    <p:sldId xmlns:r="http://schemas.openxmlformats.org/officeDocument/2006/relationships" id="266" r:id="R410ecfd3da29430d"/>
    <p:sldId xmlns:r="http://schemas.openxmlformats.org/officeDocument/2006/relationships" id="267" r:id="R8a9af39b3a8f4b56"/>
    <p:sldId xmlns:r="http://schemas.openxmlformats.org/officeDocument/2006/relationships" id="268" r:id="Raed5bdd88b51408f"/>
  </p:sldIdLst>
  <p:sldSz cx="10287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032c5f741c4dd2" /><Relationship Type="http://schemas.openxmlformats.org/officeDocument/2006/relationships/slideMaster" Target="/ppt/slideMasters/slideMaster1.xml" Id="R606835435a8246d4" /><Relationship Type="http://schemas.openxmlformats.org/officeDocument/2006/relationships/notesMaster" Target="/ppt/notesMasters/notesMaster1.xml" Id="R110551078ffe4a30" /><Relationship Type="http://schemas.openxmlformats.org/officeDocument/2006/relationships/presProps" Target="/ppt/presProps.xml" Id="R4bd23ca099924f99" /><Relationship Type="http://schemas.openxmlformats.org/officeDocument/2006/relationships/tableStyles" Target="/ppt/tableStyles.xml" Id="Rb317e32fed7c4055" /><Relationship Type="http://schemas.openxmlformats.org/officeDocument/2006/relationships/slide" Target="/ppt/slides/slide1.xml" Id="R5c554adadf4d4a31" /><Relationship Type="http://schemas.openxmlformats.org/officeDocument/2006/relationships/slide" Target="/ppt/slides/slide2.xml" Id="R478c6a9b654f41dd" /><Relationship Type="http://schemas.openxmlformats.org/officeDocument/2006/relationships/slide" Target="/ppt/slides/slide3.xml" Id="Re3c0edaa02684d25" /><Relationship Type="http://schemas.openxmlformats.org/officeDocument/2006/relationships/slide" Target="/ppt/slides/slide4.xml" Id="R39d41fd023424901" /><Relationship Type="http://schemas.openxmlformats.org/officeDocument/2006/relationships/slide" Target="/ppt/slides/slide5.xml" Id="R84a513c5ede2415c" /><Relationship Type="http://schemas.openxmlformats.org/officeDocument/2006/relationships/slide" Target="/ppt/slides/slide6.xml" Id="R1af3250c3d2e4be9" /><Relationship Type="http://schemas.openxmlformats.org/officeDocument/2006/relationships/slide" Target="/ppt/slides/slide7.xml" Id="R05bae3c0a50a4573" /><Relationship Type="http://schemas.openxmlformats.org/officeDocument/2006/relationships/slide" Target="/ppt/slides/slide8.xml" Id="Ra4267506c3404719" /><Relationship Type="http://schemas.openxmlformats.org/officeDocument/2006/relationships/slide" Target="/ppt/slides/slide9.xml" Id="Rd7c1050ef500479e" /><Relationship Type="http://schemas.openxmlformats.org/officeDocument/2006/relationships/slide" Target="/ppt/slides/slide10.xml" Id="R0894fa6df7c445e4" /><Relationship Type="http://schemas.openxmlformats.org/officeDocument/2006/relationships/slide" Target="/ppt/slides/slide11.xml" Id="R410ecfd3da29430d" /><Relationship Type="http://schemas.openxmlformats.org/officeDocument/2006/relationships/slide" Target="/ppt/slides/slide12.xml" Id="R8a9af39b3a8f4b56" /><Relationship Type="http://schemas.openxmlformats.org/officeDocument/2006/relationships/slide" Target="/ppt/slides/slide13.xml" Id="Raed5bdd88b5140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c4a2e9aa104b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bb6a475e3d4e1b" /><Relationship Type="http://schemas.openxmlformats.org/officeDocument/2006/relationships/notesMaster" Target="/ppt/notesMasters/notesMaster1.xml" Id="R9cc647fae78f43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10c9b23cbd4789" /><Relationship Type="http://schemas.openxmlformats.org/officeDocument/2006/relationships/notesMaster" Target="/ppt/notesMasters/notesMaster1.xml" Id="Rb8cabbc7631d49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58b27126604e35" /><Relationship Type="http://schemas.openxmlformats.org/officeDocument/2006/relationships/notesMaster" Target="/ppt/notesMasters/notesMaster1.xml" Id="R1f17b2493fe944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8781c9f7374a1a" /><Relationship Type="http://schemas.openxmlformats.org/officeDocument/2006/relationships/notesMaster" Target="/ppt/notesMasters/notesMaster1.xml" Id="R5ffc333ba04c43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c9ed2ee7b94eee" /><Relationship Type="http://schemas.openxmlformats.org/officeDocument/2006/relationships/notesMaster" Target="/ppt/notesMasters/notesMaster1.xml" Id="Raf3e2d5e134a42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ded72942a04525" /><Relationship Type="http://schemas.openxmlformats.org/officeDocument/2006/relationships/notesMaster" Target="/ppt/notesMasters/notesMaster1.xml" Id="R03de803f7bf048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2b135c24df4682" /><Relationship Type="http://schemas.openxmlformats.org/officeDocument/2006/relationships/notesMaster" Target="/ppt/notesMasters/notesMaster1.xml" Id="R31c205ed26f54f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77c08a1ec2432d" /><Relationship Type="http://schemas.openxmlformats.org/officeDocument/2006/relationships/notesMaster" Target="/ppt/notesMasters/notesMaster1.xml" Id="Rb356104c81db4e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18a25135ef4a4a" /><Relationship Type="http://schemas.openxmlformats.org/officeDocument/2006/relationships/notesMaster" Target="/ppt/notesMasters/notesMaster1.xml" Id="Rc14346e4a12f4f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1ec6b322c94ed8" /><Relationship Type="http://schemas.openxmlformats.org/officeDocument/2006/relationships/notesMaster" Target="/ppt/notesMasters/notesMaster1.xml" Id="Rb358aff0b7a649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836284da9f42ae" /><Relationship Type="http://schemas.openxmlformats.org/officeDocument/2006/relationships/notesMaster" Target="/ppt/notesMasters/notesMaster1.xml" Id="Rb4ebd11b09e348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580ac45d8446da" /><Relationship Type="http://schemas.openxmlformats.org/officeDocument/2006/relationships/notesMaster" Target="/ppt/notesMasters/notesMaster1.xml" Id="R1abf65ad2f284a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3e3f7a70fd41e9" /><Relationship Type="http://schemas.openxmlformats.org/officeDocument/2006/relationships/notesMaster" Target="/ppt/notesMasters/notesMaster1.xml" Id="R1e1e11f869dd4e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BMS itself does not generate trading calls. Deep Dive may aggregate traceable analyst targets and recommendations, which must remain attributed external views rather than AlphaSynth advice. The URL points to the current AlphaSynth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tracker, evidence workspace, later-results check and Deep Dive form one research journey. Coverage differs between the BMS tracker and the wider Deep Dive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live app capture from 15 September 2026. The redundant Research Signal action shown in this capture has been removed from the final code. Evidence Report and Deep Dive remain the two clear next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live app capture. Explain that score direction and evidence confidence answer different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the former 100 score and medium-confidence confusion. Direction and confidence must remain visibly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Management commentary and delivery remain separate but connected. The ledger needs at least three matured, verifiable commitments before producing a reliability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only PDF sample in the carousel. The PDF remains a selective output, not the main product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live app capture. Deep Dive coverage exceeds the 477-company BMS universe, but the research result does not itself assign a BMS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live app capture. The code now uses plainer research-review terminology and removes unsupported decorative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live app capture. Do not interpret a single call or quarter as a management reliability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capture cropped before the obsolete fixed metric cards. Those cards were not company-specific and have been removed from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filing screenshot used older technical terminology, so this slide presents the final user-facing labels directly. Replace it with a fresh live capture after the corrected build is deployed.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live demonstration rather than a separate ready-for-peer-review claim. The cohort measured workflow completion and evidence readiness, not investment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d03d9199084e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ffee723d2d4145" /><Relationship Type="http://schemas.openxmlformats.org/officeDocument/2006/relationships/slideLayout" Target="/ppt/slideLayouts/slideLayout1.xml" Id="Rc18e25076fd342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8e25076fd342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513c894c0b42bb" /><Relationship Type="http://schemas.openxmlformats.org/officeDocument/2006/relationships/notesSlide" Target="/ppt/notesSlides/notesSlide1.xml" Id="R5cf26361ac8f47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a5e194ffd164b13" /><Relationship Type="http://schemas.openxmlformats.org/officeDocument/2006/relationships/notesSlide" Target="/ppt/notesSlides/notesSlide2.xml" Id="Rb70a61e5d5a141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48ef703e7140a8" /><Relationship Type="http://schemas.openxmlformats.org/officeDocument/2006/relationships/image" Target="/ppt/media/image.png" Id="Rb44ebe94565f49bd" /><Relationship Type="http://schemas.openxmlformats.org/officeDocument/2006/relationships/notesSlide" Target="/ppt/notesSlides/notesSlide3.xml" Id="R835d2d1a46c74e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f22e4ff5334c6a" /><Relationship Type="http://schemas.openxmlformats.org/officeDocument/2006/relationships/image" Target="/ppt/media/image2.png" Id="Re3d5bc782ca04d54" /><Relationship Type="http://schemas.openxmlformats.org/officeDocument/2006/relationships/notesSlide" Target="/ppt/notesSlides/notesSlide4.xml" Id="Refa49b29422444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705c2d083849cb" /><Relationship Type="http://schemas.openxmlformats.org/officeDocument/2006/relationships/notesSlide" Target="/ppt/notesSlides/notesSlide5.xml" Id="R5b7eb6add90c48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de0f5db86b44f1" /><Relationship Type="http://schemas.openxmlformats.org/officeDocument/2006/relationships/notesSlide" Target="/ppt/notesSlides/notesSlide6.xml" Id="Ra7097c11b92543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3eb91171724c56" /><Relationship Type="http://schemas.openxmlformats.org/officeDocument/2006/relationships/image" Target="/ppt/media/image3.png" Id="Rcb73e9a282ab4803" /><Relationship Type="http://schemas.openxmlformats.org/officeDocument/2006/relationships/notesSlide" Target="/ppt/notesSlides/notesSlide7.xml" Id="R33b488dcd89748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ecfb671b014589" /><Relationship Type="http://schemas.openxmlformats.org/officeDocument/2006/relationships/image" Target="/ppt/media/image4.png" Id="R40d966918e004efd" /><Relationship Type="http://schemas.openxmlformats.org/officeDocument/2006/relationships/notesSlide" Target="/ppt/notesSlides/notesSlide8.xml" Id="R0d245e6a00df4c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bee26b956242e8" /><Relationship Type="http://schemas.openxmlformats.org/officeDocument/2006/relationships/image" Target="/ppt/media/image5.png" Id="R31cdb046e6514550" /><Relationship Type="http://schemas.openxmlformats.org/officeDocument/2006/relationships/notesSlide" Target="/ppt/notesSlides/notesSlide9.xml" Id="R7d828059779341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461cdd166b949e6" /><Relationship Type="http://schemas.openxmlformats.org/officeDocument/2006/relationships/image" Target="/ppt/media/image6.png" Id="R32b37b00ea504d17" /><Relationship Type="http://schemas.openxmlformats.org/officeDocument/2006/relationships/notesSlide" Target="/ppt/notesSlides/notesSlide10.xml" Id="R9be6a722189843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8e3e99931d41ab" /><Relationship Type="http://schemas.openxmlformats.org/officeDocument/2006/relationships/image" Target="/ppt/media/image7.png" Id="Rdb204588e53245bb" /><Relationship Type="http://schemas.openxmlformats.org/officeDocument/2006/relationships/notesSlide" Target="/ppt/notesSlides/notesSlide11.xml" Id="Ra47ead3f1a7c44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ea3da58b924d8c" /><Relationship Type="http://schemas.openxmlformats.org/officeDocument/2006/relationships/notesSlide" Target="/ppt/notesSlides/notesSlide12.xml" Id="Rd19ef67d789149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33574c4cfa640ef" /><Relationship Type="http://schemas.openxmlformats.org/officeDocument/2006/relationships/notesSlide" Target="/ppt/notesSlides/notesSlide13.xml" Id="R73b75378eee6488d" /></Relationships>
</file>

<file path=ppt/slides/slide1.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940C7B-2979-472A-B3EC-96CEDD6002A8}"/>
              </a:ext>
            </a:extLst>
          </p:cNvPr>
          <p:cNvSpPr>
            <a:spLocks xmlns:a="http://schemas.openxmlformats.org/drawingml/2006/main" noGrp="1"/>
          </p:cNvSpPr>
          <p:nvPr/>
        </p:nvSpPr>
        <p:spPr>
          <a:xfrm xmlns:a="http://schemas.openxmlformats.org/drawingml/2006/main">
            <a:off x="666750" y="723900"/>
            <a:ext cx="838200" cy="66675"/>
          </a:xfrm>
          <a:prstGeom xmlns:a="http://schemas.openxmlformats.org/drawingml/2006/main" prst="rect">
            <a:avLst/>
          </a:prstGeom>
          <a:solidFill xmlns:a="http://schemas.openxmlformats.org/drawingml/2006/main">
            <a:srgbClr val="E7B64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A12ED7-120E-48B9-91B1-F05283D3B0C9}"/>
              </a:ext>
            </a:extLst>
          </p:cNvPr>
          <p:cNvSpPr>
            <a:spLocks xmlns:a="http://schemas.openxmlformats.org/drawingml/2006/main" noGrp="1"/>
          </p:cNvSpPr>
          <p:nvPr/>
        </p:nvSpPr>
        <p:spPr>
          <a:xfrm xmlns:a="http://schemas.openxmlformats.org/drawingml/2006/main">
            <a:off x="666750" y="1009650"/>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ALPHASYNTH INTELLIGENCE</a:t>
            </a:r>
          </a:p>
        </p:txBody>
      </p:sp>
      <p:sp>
        <p:nvSpPr>
          <p:cNvPr id="3" name="">
            <a:extLst xmlns:a="http://schemas.openxmlformats.org/drawingml/2006/main">
              <a:ext uri="{FF2B5EF4-FFF2-40B4-BE49-F238E27FC236}">
                <a16:creationId xmlns:a16="http://schemas.microsoft.com/office/drawing/2014/main" id="{8032A3D0-AB7E-48DF-9A62-FB14A6B5DD3F}"/>
              </a:ext>
            </a:extLst>
          </p:cNvPr>
          <p:cNvSpPr>
            <a:spLocks xmlns:a="http://schemas.openxmlformats.org/drawingml/2006/main" noGrp="1"/>
          </p:cNvSpPr>
          <p:nvPr/>
        </p:nvSpPr>
        <p:spPr>
          <a:xfrm xmlns:a="http://schemas.openxmlformats.org/drawingml/2006/main">
            <a:off x="666750" y="2047875"/>
            <a:ext cx="828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8FAFC"/>
                </a:solidFill>
                <a:latin typeface="Aptos"/>
                <a:ea typeface="Aptos"/>
                <a:cs typeface="Aptos"/>
              </a:defRPr>
            </a:pPr>
            <a:r>
              <a:rPr sz="3675" b="1">
                <a:solidFill>
                  <a:srgbClr val="F8FAFC"/>
                </a:solidFill>
                <a:latin typeface="Aptos"/>
                <a:ea typeface="Aptos"/>
                <a:cs typeface="Aptos"/>
              </a:rPr>
              <a:t>Business momentum with an evidence trail</a:t>
            </a:r>
          </a:p>
        </p:txBody>
      </p:sp>
      <p:sp>
        <p:nvSpPr>
          <p:cNvPr id="4" name="">
            <a:extLst xmlns:a="http://schemas.openxmlformats.org/drawingml/2006/main">
              <a:ext uri="{FF2B5EF4-FFF2-40B4-BE49-F238E27FC236}">
                <a16:creationId xmlns:a16="http://schemas.microsoft.com/office/drawing/2014/main" id="{1CF6D886-AA78-413B-8563-84C71B86D93C}"/>
              </a:ext>
            </a:extLst>
          </p:cNvPr>
          <p:cNvSpPr>
            <a:spLocks xmlns:a="http://schemas.openxmlformats.org/drawingml/2006/main" noGrp="1"/>
          </p:cNvSpPr>
          <p:nvPr/>
        </p:nvSpPr>
        <p:spPr>
          <a:xfrm xmlns:a="http://schemas.openxmlformats.org/drawingml/2006/main">
            <a:off x="666750" y="358140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7D9C8"/>
                </a:solidFill>
                <a:latin typeface="Aptos"/>
                <a:ea typeface="Aptos"/>
                <a:cs typeface="Aptos"/>
              </a:defRPr>
            </a:pPr>
            <a:r>
              <a:rPr sz="1800" b="1">
                <a:solidFill>
                  <a:srgbClr val="27D9C8"/>
                </a:solidFill>
                <a:latin typeface="Aptos"/>
                <a:ea typeface="Aptos"/>
                <a:cs typeface="Aptos"/>
              </a:rPr>
              <a:t>A product walkthrough for AI builders and market researchers</a:t>
            </a:r>
          </a:p>
        </p:txBody>
      </p:sp>
      <p:sp>
        <p:nvSpPr>
          <p:cNvPr id="5" name="">
            <a:extLst xmlns:a="http://schemas.openxmlformats.org/drawingml/2006/main">
              <a:ext uri="{FF2B5EF4-FFF2-40B4-BE49-F238E27FC236}">
                <a16:creationId xmlns:a16="http://schemas.microsoft.com/office/drawing/2014/main" id="{B961D7D4-91A4-4973-AB64-FAE771278D46}"/>
              </a:ext>
            </a:extLst>
          </p:cNvPr>
          <p:cNvSpPr>
            <a:spLocks xmlns:a="http://schemas.openxmlformats.org/drawingml/2006/main" noGrp="1"/>
          </p:cNvSpPr>
          <p:nvPr/>
        </p:nvSpPr>
        <p:spPr>
          <a:xfrm xmlns:a="http://schemas.openxmlformats.org/drawingml/2006/main">
            <a:off x="666750" y="4552950"/>
            <a:ext cx="857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4DDEA"/>
                </a:solidFill>
                <a:latin typeface="Aptos"/>
                <a:ea typeface="Aptos"/>
                <a:cs typeface="Aptos"/>
              </a:defRPr>
            </a:pPr>
            <a:r>
              <a:rPr sz="1650" b="0">
                <a:solidFill>
                  <a:srgbClr val="D4DDEA"/>
                </a:solidFill>
                <a:latin typeface="Aptos"/>
                <a:ea typeface="Aptos"/>
                <a:cs typeface="Aptos"/>
              </a:rPr>
              <a:t>AlphaSynth monitors a 477-company BMS universe, explains why a signal appeared, checks later results and opens a broader company review when more research is needed.</a:t>
            </a:r>
          </a:p>
        </p:txBody>
      </p:sp>
      <p:sp>
        <p:nvSpPr>
          <p:cNvPr id="6" name="">
            <a:extLst xmlns:a="http://schemas.openxmlformats.org/drawingml/2006/main">
              <a:ext uri="{FF2B5EF4-FFF2-40B4-BE49-F238E27FC236}">
                <a16:creationId xmlns:a16="http://schemas.microsoft.com/office/drawing/2014/main" id="{B648E0D8-F472-420D-A0F9-1E82CC54EEE7}"/>
              </a:ext>
            </a:extLst>
          </p:cNvPr>
          <p:cNvSpPr>
            <a:spLocks xmlns:a="http://schemas.openxmlformats.org/drawingml/2006/main" noGrp="1"/>
          </p:cNvSpPr>
          <p:nvPr/>
        </p:nvSpPr>
        <p:spPr>
          <a:xfrm xmlns:a="http://schemas.openxmlformats.org/drawingml/2006/main">
            <a:off x="666750" y="6496050"/>
            <a:ext cx="8953500" cy="1504950"/>
          </a:xfrm>
          <a:prstGeom xmlns:a="http://schemas.openxmlformats.org/drawingml/2006/main" prst="roundRect">
            <a:avLst>
              <a:gd name="adj" fmla="val 10127"/>
            </a:avLst>
          </a:prstGeom>
          <a:solidFill xmlns:a="http://schemas.openxmlformats.org/drawingml/2006/main">
            <a:srgbClr val="0D2430"/>
          </a:solidFill>
          <a:ln xmlns:a="http://schemas.openxmlformats.org/drawingml/2006/main" w="9525">
            <a:solidFill>
              <a:srgbClr val="27D9C8"/>
            </a:solidFill>
          </a:ln>
        </p:spPr>
      </p:sp>
      <p:sp>
        <p:nvSpPr>
          <p:cNvPr id="7" name="">
            <a:extLst xmlns:a="http://schemas.openxmlformats.org/drawingml/2006/main">
              <a:ext uri="{FF2B5EF4-FFF2-40B4-BE49-F238E27FC236}">
                <a16:creationId xmlns:a16="http://schemas.microsoft.com/office/drawing/2014/main" id="{D9D97EC7-C585-441E-9E3F-90690516DE50}"/>
              </a:ext>
            </a:extLst>
          </p:cNvPr>
          <p:cNvSpPr>
            <a:spLocks xmlns:a="http://schemas.openxmlformats.org/drawingml/2006/main" noGrp="1"/>
          </p:cNvSpPr>
          <p:nvPr/>
        </p:nvSpPr>
        <p:spPr>
          <a:xfrm xmlns:a="http://schemas.openxmlformats.org/drawingml/2006/main">
            <a:off x="952500" y="6781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7D9C8"/>
                </a:solidFill>
                <a:latin typeface="Aptos"/>
                <a:ea typeface="Aptos"/>
                <a:cs typeface="Aptos"/>
              </a:defRPr>
            </a:pPr>
            <a:r>
              <a:rPr sz="1275" b="1">
                <a:solidFill>
                  <a:srgbClr val="27D9C8"/>
                </a:solidFill>
                <a:latin typeface="Aptos"/>
                <a:ea typeface="Aptos"/>
                <a:cs typeface="Aptos"/>
              </a:rPr>
              <a:t>What it does</a:t>
            </a:r>
          </a:p>
        </p:txBody>
      </p:sp>
      <p:sp>
        <p:nvSpPr>
          <p:cNvPr id="8" name="">
            <a:extLst xmlns:a="http://schemas.openxmlformats.org/drawingml/2006/main">
              <a:ext uri="{FF2B5EF4-FFF2-40B4-BE49-F238E27FC236}">
                <a16:creationId xmlns:a16="http://schemas.microsoft.com/office/drawing/2014/main" id="{70066BB8-24E6-4FD8-BF73-3AF046240C27}"/>
              </a:ext>
            </a:extLst>
          </p:cNvPr>
          <p:cNvSpPr>
            <a:spLocks xmlns:a="http://schemas.openxmlformats.org/drawingml/2006/main" noGrp="1"/>
          </p:cNvSpPr>
          <p:nvPr/>
        </p:nvSpPr>
        <p:spPr>
          <a:xfrm xmlns:a="http://schemas.openxmlformats.org/drawingml/2006/main">
            <a:off x="952500" y="714375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F8FAFC"/>
                </a:solidFill>
                <a:latin typeface="Aptos"/>
                <a:ea typeface="Aptos"/>
                <a:cs typeface="Aptos"/>
              </a:defRPr>
            </a:pPr>
            <a:r>
              <a:rPr sz="1275" b="0">
                <a:solidFill>
                  <a:srgbClr val="F8FAFC"/>
                </a:solidFill>
                <a:latin typeface="Aptos"/>
                <a:ea typeface="Aptos"/>
                <a:cs typeface="Aptos"/>
              </a:rPr>
              <a:t>Prioritises companies whose reported business momentum may deserve further research.</a:t>
            </a:r>
          </a:p>
        </p:txBody>
      </p:sp>
      <p:sp>
        <p:nvSpPr>
          <p:cNvPr id="9" name="">
            <a:extLst xmlns:a="http://schemas.openxmlformats.org/drawingml/2006/main">
              <a:ext uri="{FF2B5EF4-FFF2-40B4-BE49-F238E27FC236}">
                <a16:creationId xmlns:a16="http://schemas.microsoft.com/office/drawing/2014/main" id="{E355F531-091B-49A7-B6AC-1218DB0E0F25}"/>
              </a:ext>
            </a:extLst>
          </p:cNvPr>
          <p:cNvSpPr>
            <a:spLocks xmlns:a="http://schemas.openxmlformats.org/drawingml/2006/main" noGrp="1"/>
          </p:cNvSpPr>
          <p:nvPr/>
        </p:nvSpPr>
        <p:spPr>
          <a:xfrm xmlns:a="http://schemas.openxmlformats.org/drawingml/2006/main">
            <a:off x="5238750" y="67818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E7B640"/>
                </a:solidFill>
                <a:latin typeface="Aptos"/>
                <a:ea typeface="Aptos"/>
                <a:cs typeface="Aptos"/>
              </a:defRPr>
            </a:pPr>
            <a:r>
              <a:rPr sz="1275" b="1">
                <a:solidFill>
                  <a:srgbClr val="E7B640"/>
                </a:solidFill>
                <a:latin typeface="Aptos"/>
                <a:ea typeface="Aptos"/>
                <a:cs typeface="Aptos"/>
              </a:rPr>
              <a:t>Investment boundary</a:t>
            </a:r>
          </a:p>
        </p:txBody>
      </p:sp>
      <p:sp>
        <p:nvSpPr>
          <p:cNvPr id="10" name="">
            <a:extLst xmlns:a="http://schemas.openxmlformats.org/drawingml/2006/main">
              <a:ext uri="{FF2B5EF4-FFF2-40B4-BE49-F238E27FC236}">
                <a16:creationId xmlns:a16="http://schemas.microsoft.com/office/drawing/2014/main" id="{E70731A8-13E9-474E-B154-B6522694E5DA}"/>
              </a:ext>
            </a:extLst>
          </p:cNvPr>
          <p:cNvSpPr>
            <a:spLocks xmlns:a="http://schemas.openxmlformats.org/drawingml/2006/main" noGrp="1"/>
          </p:cNvSpPr>
          <p:nvPr/>
        </p:nvSpPr>
        <p:spPr>
          <a:xfrm xmlns:a="http://schemas.openxmlformats.org/drawingml/2006/main">
            <a:off x="5238750" y="7143750"/>
            <a:ext cx="3714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F8FAFC"/>
                </a:solidFill>
                <a:latin typeface="Aptos"/>
                <a:ea typeface="Aptos"/>
                <a:cs typeface="Aptos"/>
              </a:defRPr>
            </a:pPr>
            <a:r>
              <a:rPr sz="1275" b="0">
                <a:solidFill>
                  <a:srgbClr val="F8FAFC"/>
                </a:solidFill>
                <a:latin typeface="Aptos"/>
                <a:ea typeface="Aptos"/>
                <a:cs typeface="Aptos"/>
              </a:rPr>
              <a:t>BMS does not generate entry or exit calls. Deep Dive may show traceable analyst targets or recommendations as attributed external views, not as AlphaSynth advice.</a:t>
            </a:r>
          </a:p>
        </p:txBody>
      </p:sp>
      <p:sp>
        <p:nvSpPr>
          <p:cNvPr id="11" name="">
            <a:extLst xmlns:a="http://schemas.openxmlformats.org/drawingml/2006/main">
              <a:ext uri="{FF2B5EF4-FFF2-40B4-BE49-F238E27FC236}">
                <a16:creationId xmlns:a16="http://schemas.microsoft.com/office/drawing/2014/main" id="{92C4B190-8902-4FCE-8959-0F8F7BDB92A2}"/>
              </a:ext>
            </a:extLst>
          </p:cNvPr>
          <p:cNvSpPr>
            <a:spLocks xmlns:a="http://schemas.openxmlformats.org/drawingml/2006/main" noGrp="1"/>
          </p:cNvSpPr>
          <p:nvPr/>
        </p:nvSpPr>
        <p:spPr>
          <a:xfrm xmlns:a="http://schemas.openxmlformats.org/drawingml/2006/main">
            <a:off x="666750" y="8810625"/>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E7B640"/>
                </a:solidFill>
                <a:latin typeface="Aptos"/>
                <a:ea typeface="Aptos"/>
                <a:cs typeface="Aptos"/>
              </a:defRPr>
            </a:pPr>
            <a:r>
              <a:rPr sz="1275" b="1">
                <a:solidFill>
                  <a:srgbClr val="E7B640"/>
                </a:solidFill>
                <a:latin typeface="Aptos"/>
                <a:ea typeface="Aptos"/>
                <a:cs typeface="Aptos"/>
              </a:rPr>
              <a:t>Live pilot: expectation-pilot---alphasynth-equity-oqc2y4ogda-uc.a.run.app</a:t>
            </a:r>
          </a:p>
        </p:txBody>
      </p:sp>
    </p:spTree>
    <p:extLst>
      <p:ext uri="{BB962C8B-B14F-4D97-AF65-F5344CB8AC3E}">
        <p14:creationId xmlns:p14="http://schemas.microsoft.com/office/powerpoint/2010/main" val="1373359894"/>
      </p:ext>
    </p:extLst>
  </p:cSld>
</p:sld>
</file>

<file path=ppt/slides/slide2.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CF18C1E-C0F0-41CF-B1A1-F66CD9AAE5AB}"/>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8CDB92-C81C-4799-B36E-875DF15F7880}"/>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D2AEB6A8-EE13-4AA4-AEA0-C0080D7C2547}"/>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The research journey</a:t>
            </a:r>
          </a:p>
        </p:txBody>
      </p:sp>
      <p:sp>
        <p:nvSpPr>
          <p:cNvPr id="4" name="">
            <a:extLst xmlns:a="http://schemas.openxmlformats.org/drawingml/2006/main">
              <a:ext uri="{FF2B5EF4-FFF2-40B4-BE49-F238E27FC236}">
                <a16:creationId xmlns:a16="http://schemas.microsoft.com/office/drawing/2014/main" id="{74D1911F-6D45-432A-9329-9CF84ED65409}"/>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Each layer answers a separate question. A user can stop after any layer.</a:t>
            </a:r>
          </a:p>
        </p:txBody>
      </p:sp>
      <p:sp>
        <p:nvSpPr>
          <p:cNvPr id="5" name="">
            <a:extLst xmlns:a="http://schemas.openxmlformats.org/drawingml/2006/main">
              <a:ext uri="{FF2B5EF4-FFF2-40B4-BE49-F238E27FC236}">
                <a16:creationId xmlns:a16="http://schemas.microsoft.com/office/drawing/2014/main" id="{F4885634-5C0B-4B81-94CB-06B49682A9EA}"/>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ACC4AD9C-A812-487F-8AD6-B4528A530CFC}"/>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B0309511-4F77-45A0-BC06-FD21D3ADBD6B}"/>
              </a:ext>
            </a:extLst>
          </p:cNvPr>
          <p:cNvSpPr>
            <a:spLocks xmlns:a="http://schemas.openxmlformats.org/drawingml/2006/main" noGrp="1"/>
          </p:cNvSpPr>
          <p:nvPr/>
        </p:nvSpPr>
        <p:spPr>
          <a:xfrm xmlns:a="http://schemas.openxmlformats.org/drawingml/2006/main">
            <a:off x="762000" y="2724150"/>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7D9C8"/>
                </a:solidFill>
                <a:latin typeface="Aptos"/>
                <a:ea typeface="Aptos"/>
                <a:cs typeface="Aptos"/>
              </a:defRPr>
            </a:pPr>
            <a:r>
              <a:rPr sz="2850" b="1">
                <a:solidFill>
                  <a:srgbClr val="27D9C8"/>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A9C0EBED-6BB7-4D73-9CB6-04D3BDA038D0}"/>
              </a:ext>
            </a:extLst>
          </p:cNvPr>
          <p:cNvSpPr>
            <a:spLocks xmlns:a="http://schemas.openxmlformats.org/drawingml/2006/main" noGrp="1"/>
          </p:cNvSpPr>
          <p:nvPr/>
        </p:nvSpPr>
        <p:spPr>
          <a:xfrm xmlns:a="http://schemas.openxmlformats.org/drawingml/2006/main">
            <a:off x="1714500" y="27241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8FAFC"/>
                </a:solidFill>
                <a:latin typeface="Aptos"/>
                <a:ea typeface="Aptos"/>
                <a:cs typeface="Aptos"/>
              </a:defRPr>
            </a:pPr>
            <a:r>
              <a:rPr sz="1800" b="1">
                <a:solidFill>
                  <a:srgbClr val="F8FAFC"/>
                </a:solidFill>
                <a:latin typeface="Aptos"/>
                <a:ea typeface="Aptos"/>
                <a:cs typeface="Aptos"/>
              </a:rPr>
              <a:t>Signal Tracker</a:t>
            </a:r>
          </a:p>
        </p:txBody>
      </p:sp>
      <p:sp>
        <p:nvSpPr>
          <p:cNvPr id="9" name="">
            <a:extLst xmlns:a="http://schemas.openxmlformats.org/drawingml/2006/main">
              <a:ext uri="{FF2B5EF4-FFF2-40B4-BE49-F238E27FC236}">
                <a16:creationId xmlns:a16="http://schemas.microsoft.com/office/drawing/2014/main" id="{F0264610-86EF-4FBE-8486-8EF8800B5E59}"/>
              </a:ext>
            </a:extLst>
          </p:cNvPr>
          <p:cNvSpPr>
            <a:spLocks xmlns:a="http://schemas.openxmlformats.org/drawingml/2006/main" noGrp="1"/>
          </p:cNvSpPr>
          <p:nvPr/>
        </p:nvSpPr>
        <p:spPr>
          <a:xfrm xmlns:a="http://schemas.openxmlformats.org/drawingml/2006/main">
            <a:off x="4572000" y="2724150"/>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Which companies show a change in reported business momentum?</a:t>
            </a:r>
          </a:p>
        </p:txBody>
      </p:sp>
      <p:sp>
        <p:nvSpPr>
          <p:cNvPr id="10" name="">
            <a:extLst xmlns:a="http://schemas.openxmlformats.org/drawingml/2006/main">
              <a:ext uri="{FF2B5EF4-FFF2-40B4-BE49-F238E27FC236}">
                <a16:creationId xmlns:a16="http://schemas.microsoft.com/office/drawing/2014/main" id="{474EC13C-A923-455F-8B83-889A6B8C3E8C}"/>
              </a:ext>
            </a:extLst>
          </p:cNvPr>
          <p:cNvSpPr>
            <a:spLocks xmlns:a="http://schemas.openxmlformats.org/drawingml/2006/main" noGrp="1"/>
          </p:cNvSpPr>
          <p:nvPr/>
        </p:nvSpPr>
        <p:spPr>
          <a:xfrm xmlns:a="http://schemas.openxmlformats.org/drawingml/2006/main">
            <a:off x="1028700" y="3505200"/>
            <a:ext cx="38100" cy="523875"/>
          </a:xfrm>
          <a:prstGeom xmlns:a="http://schemas.openxmlformats.org/drawingml/2006/main" prst="rect">
            <a:avLst/>
          </a:prstGeom>
          <a:solidFill xmlns:a="http://schemas.openxmlformats.org/drawingml/2006/main">
            <a:srgbClr val="33445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9D3372B-B335-4FCD-A9FF-3F4868A92BFA}"/>
              </a:ext>
            </a:extLst>
          </p:cNvPr>
          <p:cNvSpPr>
            <a:spLocks xmlns:a="http://schemas.openxmlformats.org/drawingml/2006/main" noGrp="1"/>
          </p:cNvSpPr>
          <p:nvPr/>
        </p:nvSpPr>
        <p:spPr>
          <a:xfrm xmlns:a="http://schemas.openxmlformats.org/drawingml/2006/main">
            <a:off x="762000" y="4200525"/>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7D9C8"/>
                </a:solidFill>
                <a:latin typeface="Aptos"/>
                <a:ea typeface="Aptos"/>
                <a:cs typeface="Aptos"/>
              </a:defRPr>
            </a:pPr>
            <a:r>
              <a:rPr sz="2850" b="1">
                <a:solidFill>
                  <a:srgbClr val="27D9C8"/>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B794C83C-5902-41C2-B746-890136970776}"/>
              </a:ext>
            </a:extLst>
          </p:cNvPr>
          <p:cNvSpPr>
            <a:spLocks xmlns:a="http://schemas.openxmlformats.org/drawingml/2006/main" noGrp="1"/>
          </p:cNvSpPr>
          <p:nvPr/>
        </p:nvSpPr>
        <p:spPr>
          <a:xfrm xmlns:a="http://schemas.openxmlformats.org/drawingml/2006/main">
            <a:off x="1714500" y="42005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8FAFC"/>
                </a:solidFill>
                <a:latin typeface="Aptos"/>
                <a:ea typeface="Aptos"/>
                <a:cs typeface="Aptos"/>
              </a:defRPr>
            </a:pPr>
            <a:r>
              <a:rPr sz="1800" b="1">
                <a:solidFill>
                  <a:srgbClr val="F8FAFC"/>
                </a:solidFill>
                <a:latin typeface="Aptos"/>
                <a:ea typeface="Aptos"/>
                <a:cs typeface="Aptos"/>
              </a:rPr>
              <a:t>Evidence Report</a:t>
            </a:r>
          </a:p>
        </p:txBody>
      </p:sp>
      <p:sp>
        <p:nvSpPr>
          <p:cNvPr id="13" name="">
            <a:extLst xmlns:a="http://schemas.openxmlformats.org/drawingml/2006/main">
              <a:ext uri="{FF2B5EF4-FFF2-40B4-BE49-F238E27FC236}">
                <a16:creationId xmlns:a16="http://schemas.microsoft.com/office/drawing/2014/main" id="{FB38938C-411C-4F92-884D-9AF8B7E29217}"/>
              </a:ext>
            </a:extLst>
          </p:cNvPr>
          <p:cNvSpPr>
            <a:spLocks xmlns:a="http://schemas.openxmlformats.org/drawingml/2006/main" noGrp="1"/>
          </p:cNvSpPr>
          <p:nvPr/>
        </p:nvSpPr>
        <p:spPr>
          <a:xfrm xmlns:a="http://schemas.openxmlformats.org/drawingml/2006/main">
            <a:off x="4572000" y="4200525"/>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What inputs support the signal and where is the evidence incomplete?</a:t>
            </a:r>
          </a:p>
        </p:txBody>
      </p:sp>
      <p:sp>
        <p:nvSpPr>
          <p:cNvPr id="14" name="">
            <a:extLst xmlns:a="http://schemas.openxmlformats.org/drawingml/2006/main">
              <a:ext uri="{FF2B5EF4-FFF2-40B4-BE49-F238E27FC236}">
                <a16:creationId xmlns:a16="http://schemas.microsoft.com/office/drawing/2014/main" id="{B06C2FC5-72BB-4A05-942E-5D499BCA9E9C}"/>
              </a:ext>
            </a:extLst>
          </p:cNvPr>
          <p:cNvSpPr>
            <a:spLocks xmlns:a="http://schemas.openxmlformats.org/drawingml/2006/main" noGrp="1"/>
          </p:cNvSpPr>
          <p:nvPr/>
        </p:nvSpPr>
        <p:spPr>
          <a:xfrm xmlns:a="http://schemas.openxmlformats.org/drawingml/2006/main">
            <a:off x="1028700" y="4981575"/>
            <a:ext cx="38100" cy="523875"/>
          </a:xfrm>
          <a:prstGeom xmlns:a="http://schemas.openxmlformats.org/drawingml/2006/main" prst="rect">
            <a:avLst/>
          </a:prstGeom>
          <a:solidFill xmlns:a="http://schemas.openxmlformats.org/drawingml/2006/main">
            <a:srgbClr val="33445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FCD7DB8-298C-4933-B559-FDB51583EF94}"/>
              </a:ext>
            </a:extLst>
          </p:cNvPr>
          <p:cNvSpPr>
            <a:spLocks xmlns:a="http://schemas.openxmlformats.org/drawingml/2006/main" noGrp="1"/>
          </p:cNvSpPr>
          <p:nvPr/>
        </p:nvSpPr>
        <p:spPr>
          <a:xfrm xmlns:a="http://schemas.openxmlformats.org/drawingml/2006/main">
            <a:off x="762000" y="5676900"/>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7D9C8"/>
                </a:solidFill>
                <a:latin typeface="Aptos"/>
                <a:ea typeface="Aptos"/>
                <a:cs typeface="Aptos"/>
              </a:defRPr>
            </a:pPr>
            <a:r>
              <a:rPr sz="2850" b="1">
                <a:solidFill>
                  <a:srgbClr val="27D9C8"/>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7A7BBC23-0253-4568-B3B4-E3241528D594}"/>
              </a:ext>
            </a:extLst>
          </p:cNvPr>
          <p:cNvSpPr>
            <a:spLocks xmlns:a="http://schemas.openxmlformats.org/drawingml/2006/main" noGrp="1"/>
          </p:cNvSpPr>
          <p:nvPr/>
        </p:nvSpPr>
        <p:spPr>
          <a:xfrm xmlns:a="http://schemas.openxmlformats.org/drawingml/2006/main">
            <a:off x="1714500" y="567690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8FAFC"/>
                </a:solidFill>
                <a:latin typeface="Aptos"/>
                <a:ea typeface="Aptos"/>
                <a:cs typeface="Aptos"/>
              </a:defRPr>
            </a:pPr>
            <a:r>
              <a:rPr sz="1800" b="1">
                <a:solidFill>
                  <a:srgbClr val="F8FAFC"/>
                </a:solidFill>
                <a:latin typeface="Aptos"/>
                <a:ea typeface="Aptos"/>
                <a:cs typeface="Aptos"/>
              </a:rPr>
              <a:t>Later Results</a:t>
            </a:r>
          </a:p>
        </p:txBody>
      </p:sp>
      <p:sp>
        <p:nvSpPr>
          <p:cNvPr id="17" name="">
            <a:extLst xmlns:a="http://schemas.openxmlformats.org/drawingml/2006/main">
              <a:ext uri="{FF2B5EF4-FFF2-40B4-BE49-F238E27FC236}">
                <a16:creationId xmlns:a16="http://schemas.microsoft.com/office/drawing/2014/main" id="{F61E8529-323A-4A7A-88F9-925032BB29DF}"/>
              </a:ext>
            </a:extLst>
          </p:cNvPr>
          <p:cNvSpPr>
            <a:spLocks xmlns:a="http://schemas.openxmlformats.org/drawingml/2006/main" noGrp="1"/>
          </p:cNvSpPr>
          <p:nvPr/>
        </p:nvSpPr>
        <p:spPr>
          <a:xfrm xmlns:a="http://schemas.openxmlformats.org/drawingml/2006/main">
            <a:off x="4572000" y="5676900"/>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Do subsequent results still support the earlier lifecycle reading?</a:t>
            </a:r>
          </a:p>
        </p:txBody>
      </p:sp>
      <p:sp>
        <p:nvSpPr>
          <p:cNvPr id="18" name="">
            <a:extLst xmlns:a="http://schemas.openxmlformats.org/drawingml/2006/main">
              <a:ext uri="{FF2B5EF4-FFF2-40B4-BE49-F238E27FC236}">
                <a16:creationId xmlns:a16="http://schemas.microsoft.com/office/drawing/2014/main" id="{7F439F86-B3B7-4BEA-8A9C-2FDADECB9625}"/>
              </a:ext>
            </a:extLst>
          </p:cNvPr>
          <p:cNvSpPr>
            <a:spLocks xmlns:a="http://schemas.openxmlformats.org/drawingml/2006/main" noGrp="1"/>
          </p:cNvSpPr>
          <p:nvPr/>
        </p:nvSpPr>
        <p:spPr>
          <a:xfrm xmlns:a="http://schemas.openxmlformats.org/drawingml/2006/main">
            <a:off x="1028700" y="6457950"/>
            <a:ext cx="38100" cy="523875"/>
          </a:xfrm>
          <a:prstGeom xmlns:a="http://schemas.openxmlformats.org/drawingml/2006/main" prst="rect">
            <a:avLst/>
          </a:prstGeom>
          <a:solidFill xmlns:a="http://schemas.openxmlformats.org/drawingml/2006/main">
            <a:srgbClr val="33445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C67110C-BC21-47B6-A2C3-F63BDF8EC127}"/>
              </a:ext>
            </a:extLst>
          </p:cNvPr>
          <p:cNvSpPr>
            <a:spLocks xmlns:a="http://schemas.openxmlformats.org/drawingml/2006/main" noGrp="1"/>
          </p:cNvSpPr>
          <p:nvPr/>
        </p:nvSpPr>
        <p:spPr>
          <a:xfrm xmlns:a="http://schemas.openxmlformats.org/drawingml/2006/main">
            <a:off x="762000" y="7153275"/>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7B640"/>
                </a:solidFill>
                <a:latin typeface="Aptos"/>
                <a:ea typeface="Aptos"/>
                <a:cs typeface="Aptos"/>
              </a:defRPr>
            </a:pPr>
            <a:r>
              <a:rPr sz="2850" b="1">
                <a:solidFill>
                  <a:srgbClr val="E7B640"/>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D077D79E-3325-4CFF-A11B-37E1F93685F6}"/>
              </a:ext>
            </a:extLst>
          </p:cNvPr>
          <p:cNvSpPr>
            <a:spLocks xmlns:a="http://schemas.openxmlformats.org/drawingml/2006/main" noGrp="1"/>
          </p:cNvSpPr>
          <p:nvPr/>
        </p:nvSpPr>
        <p:spPr>
          <a:xfrm xmlns:a="http://schemas.openxmlformats.org/drawingml/2006/main">
            <a:off x="1714500" y="715327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8FAFC"/>
                </a:solidFill>
                <a:latin typeface="Aptos"/>
                <a:ea typeface="Aptos"/>
                <a:cs typeface="Aptos"/>
              </a:defRPr>
            </a:pPr>
            <a:r>
              <a:rPr sz="1800" b="1">
                <a:solidFill>
                  <a:srgbClr val="F8FAFC"/>
                </a:solidFill>
                <a:latin typeface="Aptos"/>
                <a:ea typeface="Aptos"/>
                <a:cs typeface="Aptos"/>
              </a:rPr>
              <a:t>Deep Dive</a:t>
            </a:r>
          </a:p>
        </p:txBody>
      </p:sp>
      <p:sp>
        <p:nvSpPr>
          <p:cNvPr id="21" name="">
            <a:extLst xmlns:a="http://schemas.openxmlformats.org/drawingml/2006/main">
              <a:ext uri="{FF2B5EF4-FFF2-40B4-BE49-F238E27FC236}">
                <a16:creationId xmlns:a16="http://schemas.microsoft.com/office/drawing/2014/main" id="{2A984EAE-FE07-4D1D-BC87-DC6D9FB521CB}"/>
              </a:ext>
            </a:extLst>
          </p:cNvPr>
          <p:cNvSpPr>
            <a:spLocks xmlns:a="http://schemas.openxmlformats.org/drawingml/2006/main" noGrp="1"/>
          </p:cNvSpPr>
          <p:nvPr/>
        </p:nvSpPr>
        <p:spPr>
          <a:xfrm xmlns:a="http://schemas.openxmlformats.org/drawingml/2006/main">
            <a:off x="4572000" y="7153275"/>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What does a broader company, valuation and risk review reveal?</a:t>
            </a:r>
          </a:p>
        </p:txBody>
      </p:sp>
      <p:sp>
        <p:nvSpPr>
          <p:cNvPr id="22" name="">
            <a:extLst xmlns:a="http://schemas.openxmlformats.org/drawingml/2006/main">
              <a:ext uri="{FF2B5EF4-FFF2-40B4-BE49-F238E27FC236}">
                <a16:creationId xmlns:a16="http://schemas.microsoft.com/office/drawing/2014/main" id="{C0E36FD2-ECF4-47AB-9DD0-F015911C852F}"/>
              </a:ext>
            </a:extLst>
          </p:cNvPr>
          <p:cNvSpPr>
            <a:spLocks xmlns:a="http://schemas.openxmlformats.org/drawingml/2006/main" noGrp="1"/>
          </p:cNvSpPr>
          <p:nvPr/>
        </p:nvSpPr>
        <p:spPr>
          <a:xfrm xmlns:a="http://schemas.openxmlformats.org/drawingml/2006/main">
            <a:off x="857250" y="881062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7B640"/>
                </a:solidFill>
                <a:latin typeface="Aptos"/>
                <a:ea typeface="Aptos"/>
                <a:cs typeface="Aptos"/>
              </a:defRPr>
            </a:pPr>
            <a:r>
              <a:rPr sz="1350" b="1">
                <a:solidFill>
                  <a:srgbClr val="E7B640"/>
                </a:solidFill>
                <a:latin typeface="Aptos"/>
                <a:ea typeface="Aptos"/>
                <a:cs typeface="Aptos"/>
              </a:rPr>
              <a:t>The 477-company BMS tracker and the broader on-demand Deep Dive have different coverage. A Deep Dive result does not create a BMS lifecycle by itself.</a:t>
            </a:r>
          </a:p>
        </p:txBody>
      </p:sp>
    </p:spTree>
    <p:extLst>
      <p:ext uri="{BB962C8B-B14F-4D97-AF65-F5344CB8AC3E}">
        <p14:creationId xmlns:p14="http://schemas.microsoft.com/office/powerpoint/2010/main" val="1983832210"/>
      </p:ext>
    </p:extLst>
  </p:cSld>
</p:sld>
</file>

<file path=ppt/slides/slide3.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4DC4F4-02E8-40FA-808D-014CB0E8904C}"/>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A8BA82-1A62-4942-A070-D7BC05472C1A}"/>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9F168D84-61C3-44DA-B521-1637C159BFD9}"/>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Signal Tracker</a:t>
            </a:r>
          </a:p>
        </p:txBody>
      </p:sp>
      <p:sp>
        <p:nvSpPr>
          <p:cNvPr id="4" name="">
            <a:extLst xmlns:a="http://schemas.openxmlformats.org/drawingml/2006/main">
              <a:ext uri="{FF2B5EF4-FFF2-40B4-BE49-F238E27FC236}">
                <a16:creationId xmlns:a16="http://schemas.microsoft.com/office/drawing/2014/main" id="{A1FFFC8F-B24E-4FF5-A8CF-229A7E0A770B}"/>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A lifecycle filter and company list turn the universe into a research queue.</a:t>
            </a:r>
          </a:p>
        </p:txBody>
      </p:sp>
      <p:sp>
        <p:nvSpPr>
          <p:cNvPr id="5" name="">
            <a:extLst xmlns:a="http://schemas.openxmlformats.org/drawingml/2006/main">
              <a:ext uri="{FF2B5EF4-FFF2-40B4-BE49-F238E27FC236}">
                <a16:creationId xmlns:a16="http://schemas.microsoft.com/office/drawing/2014/main" id="{4FF955EF-0A30-4965-B9A4-9DB79A0F91FF}"/>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B0F39DAC-73BD-4928-8881-8D06151E17CA}"/>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03</a:t>
            </a:r>
          </a:p>
        </p:txBody>
      </p:sp>
      <p:sp>
        <p:nvSpPr>
          <p:cNvPr id="7" name="">
            <a:extLst xmlns:a="http://schemas.openxmlformats.org/drawingml/2006/main">
              <a:ext uri="{FF2B5EF4-FFF2-40B4-BE49-F238E27FC236}">
                <a16:creationId xmlns:a16="http://schemas.microsoft.com/office/drawing/2014/main" id="{EAC63D59-8634-4EE7-B43C-A067F3D5B57A}"/>
              </a:ext>
            </a:extLst>
          </p:cNvPr>
          <p:cNvSpPr>
            <a:spLocks xmlns:a="http://schemas.openxmlformats.org/drawingml/2006/main" noGrp="1"/>
          </p:cNvSpPr>
          <p:nvPr/>
        </p:nvSpPr>
        <p:spPr>
          <a:xfrm xmlns:a="http://schemas.openxmlformats.org/drawingml/2006/main">
            <a:off x="457200" y="2257425"/>
            <a:ext cx="9372600" cy="6343650"/>
          </a:xfrm>
          <a:prstGeom xmlns:a="http://schemas.openxmlformats.org/drawingml/2006/main" prst="roundRect">
            <a:avLst>
              <a:gd name="adj" fmla="val 1952"/>
            </a:avLst>
          </a:prstGeom>
          <a:solidFill xmlns:a="http://schemas.openxmlformats.org/drawingml/2006/main">
            <a:srgbClr val="0A1220"/>
          </a:solidFill>
          <a:ln xmlns:a="http://schemas.openxmlformats.org/drawingml/2006/main" w="9525">
            <a:solidFill>
              <a:srgbClr val="33445F"/>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44ebe94565f49bd"/>
          <a:stretch xmlns:a="http://schemas.openxmlformats.org/drawingml/2006/main"/>
        </p:blipFill>
        <p:spPr>
          <a:xfrm xmlns:a="http://schemas.openxmlformats.org/drawingml/2006/main">
            <a:off x="928181" y="2333625"/>
            <a:ext cx="8430638" cy="619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7011A97-69C9-4E59-B0C3-3516CD132045}"/>
              </a:ext>
            </a:extLst>
          </p:cNvPr>
          <p:cNvSpPr>
            <a:spLocks xmlns:a="http://schemas.openxmlformats.org/drawingml/2006/main" noGrp="1"/>
          </p:cNvSpPr>
          <p:nvPr/>
        </p:nvSpPr>
        <p:spPr>
          <a:xfrm xmlns:a="http://schemas.openxmlformats.org/drawingml/2006/main">
            <a:off x="685800" y="87249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What the user sees</a:t>
            </a:r>
          </a:p>
        </p:txBody>
      </p:sp>
      <p:sp>
        <p:nvSpPr>
          <p:cNvPr id="10" name="">
            <a:extLst xmlns:a="http://schemas.openxmlformats.org/drawingml/2006/main">
              <a:ext uri="{FF2B5EF4-FFF2-40B4-BE49-F238E27FC236}">
                <a16:creationId xmlns:a16="http://schemas.microsoft.com/office/drawing/2014/main" id="{446C8AA5-962D-47B3-B606-77149A1E34D6}"/>
              </a:ext>
            </a:extLst>
          </p:cNvPr>
          <p:cNvSpPr>
            <a:spLocks xmlns:a="http://schemas.openxmlformats.org/drawingml/2006/main" noGrp="1"/>
          </p:cNvSpPr>
          <p:nvPr/>
        </p:nvSpPr>
        <p:spPr>
          <a:xfrm xmlns:a="http://schemas.openxmlformats.org/drawingml/2006/main">
            <a:off x="3352800" y="8686800"/>
            <a:ext cx="624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DEA"/>
                </a:solidFill>
                <a:latin typeface="Aptos"/>
                <a:ea typeface="Aptos"/>
                <a:cs typeface="Aptos"/>
              </a:defRPr>
            </a:pPr>
            <a:r>
              <a:rPr sz="1275" b="0">
                <a:solidFill>
                  <a:srgbClr val="D4DDEA"/>
                </a:solidFill>
                <a:latin typeface="Aptos"/>
                <a:ea typeface="Aptos"/>
                <a:cs typeface="Aptos"/>
              </a:rPr>
              <a:t>Several companies remain visible while the selected company shows its current BMS reading, change since the previous result and a plain-language research brief.</a:t>
            </a:r>
          </a:p>
        </p:txBody>
      </p:sp>
    </p:spTree>
    <p:extLst>
      <p:ext uri="{BB962C8B-B14F-4D97-AF65-F5344CB8AC3E}">
        <p14:creationId xmlns:p14="http://schemas.microsoft.com/office/powerpoint/2010/main" val="1998076577"/>
      </p:ext>
    </p:extLst>
  </p:cSld>
</p:sld>
</file>

<file path=ppt/slides/slide4.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44AFFB-79BC-4F62-B1FC-CB499B864FF4}"/>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06D76A-A2B9-4701-8324-31C1D94BE22D}"/>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6CC26BEA-223F-418B-92ED-A24ED142F2BA}"/>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Why this signal?</a:t>
            </a:r>
          </a:p>
        </p:txBody>
      </p:sp>
      <p:sp>
        <p:nvSpPr>
          <p:cNvPr id="4" name="">
            <a:extLst xmlns:a="http://schemas.openxmlformats.org/drawingml/2006/main">
              <a:ext uri="{FF2B5EF4-FFF2-40B4-BE49-F238E27FC236}">
                <a16:creationId xmlns:a16="http://schemas.microsoft.com/office/drawing/2014/main" id="{81DFBE58-8109-4A8C-943E-3748DA193FA0}"/>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The evidence workspace separates the recorded BMS score from the strength of evidence supporting it.</a:t>
            </a:r>
          </a:p>
        </p:txBody>
      </p:sp>
      <p:sp>
        <p:nvSpPr>
          <p:cNvPr id="5" name="">
            <a:extLst xmlns:a="http://schemas.openxmlformats.org/drawingml/2006/main">
              <a:ext uri="{FF2B5EF4-FFF2-40B4-BE49-F238E27FC236}">
                <a16:creationId xmlns:a16="http://schemas.microsoft.com/office/drawing/2014/main" id="{B762ABE7-65E6-4BE7-AF3C-FA63BF704334}"/>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475F2FB4-B36A-44C4-8AAC-9D323CDD70F5}"/>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04</a:t>
            </a:r>
          </a:p>
        </p:txBody>
      </p:sp>
      <p:sp>
        <p:nvSpPr>
          <p:cNvPr id="7" name="">
            <a:extLst xmlns:a="http://schemas.openxmlformats.org/drawingml/2006/main">
              <a:ext uri="{FF2B5EF4-FFF2-40B4-BE49-F238E27FC236}">
                <a16:creationId xmlns:a16="http://schemas.microsoft.com/office/drawing/2014/main" id="{D3A6CF5E-97B3-494A-951F-DE8CCA475846}"/>
              </a:ext>
            </a:extLst>
          </p:cNvPr>
          <p:cNvSpPr>
            <a:spLocks xmlns:a="http://schemas.openxmlformats.org/drawingml/2006/main" noGrp="1"/>
          </p:cNvSpPr>
          <p:nvPr/>
        </p:nvSpPr>
        <p:spPr>
          <a:xfrm xmlns:a="http://schemas.openxmlformats.org/drawingml/2006/main">
            <a:off x="457200" y="2257425"/>
            <a:ext cx="9372600" cy="6343650"/>
          </a:xfrm>
          <a:prstGeom xmlns:a="http://schemas.openxmlformats.org/drawingml/2006/main" prst="roundRect">
            <a:avLst>
              <a:gd name="adj" fmla="val 1952"/>
            </a:avLst>
          </a:prstGeom>
          <a:solidFill xmlns:a="http://schemas.openxmlformats.org/drawingml/2006/main">
            <a:srgbClr val="0A1220"/>
          </a:solidFill>
          <a:ln xmlns:a="http://schemas.openxmlformats.org/drawingml/2006/main" w="9525">
            <a:solidFill>
              <a:srgbClr val="33445F"/>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3d5bc782ca04d54"/>
          <a:stretch xmlns:a="http://schemas.openxmlformats.org/drawingml/2006/main"/>
        </p:blipFill>
        <p:spPr>
          <a:xfrm xmlns:a="http://schemas.openxmlformats.org/drawingml/2006/main">
            <a:off x="928181" y="2333625"/>
            <a:ext cx="8430638" cy="619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57A04AD-ABDD-463B-B4A7-F11031EDBF33}"/>
              </a:ext>
            </a:extLst>
          </p:cNvPr>
          <p:cNvSpPr>
            <a:spLocks xmlns:a="http://schemas.openxmlformats.org/drawingml/2006/main" noGrp="1"/>
          </p:cNvSpPr>
          <p:nvPr/>
        </p:nvSpPr>
        <p:spPr>
          <a:xfrm xmlns:a="http://schemas.openxmlformats.org/drawingml/2006/main">
            <a:off x="685800" y="87249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Inspectable inputs</a:t>
            </a:r>
          </a:p>
        </p:txBody>
      </p:sp>
      <p:sp>
        <p:nvSpPr>
          <p:cNvPr id="10" name="">
            <a:extLst xmlns:a="http://schemas.openxmlformats.org/drawingml/2006/main">
              <a:ext uri="{FF2B5EF4-FFF2-40B4-BE49-F238E27FC236}">
                <a16:creationId xmlns:a16="http://schemas.microsoft.com/office/drawing/2014/main" id="{15D54A98-9EB9-43ED-B4C4-D9E14FF176BB}"/>
              </a:ext>
            </a:extLst>
          </p:cNvPr>
          <p:cNvSpPr>
            <a:spLocks xmlns:a="http://schemas.openxmlformats.org/drawingml/2006/main" noGrp="1"/>
          </p:cNvSpPr>
          <p:nvPr/>
        </p:nvSpPr>
        <p:spPr>
          <a:xfrm xmlns:a="http://schemas.openxmlformats.org/drawingml/2006/main">
            <a:off x="3352800" y="8686800"/>
            <a:ext cx="624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DEA"/>
                </a:solidFill>
                <a:latin typeface="Aptos"/>
                <a:ea typeface="Aptos"/>
                <a:cs typeface="Aptos"/>
              </a:defRPr>
            </a:pPr>
            <a:r>
              <a:rPr sz="1275" b="0">
                <a:solidFill>
                  <a:srgbClr val="D4DDEA"/>
                </a:solidFill>
                <a:latin typeface="Aptos"/>
                <a:ea typeface="Aptos"/>
                <a:cs typeface="Aptos"/>
              </a:rPr>
              <a:t>Previous and current periods, rupee crore units, percentages and evidence confidence remain visible. Missing factors stay unavailable rather than becoming neutral scores.</a:t>
            </a:r>
          </a:p>
        </p:txBody>
      </p:sp>
    </p:spTree>
    <p:extLst>
      <p:ext uri="{BB962C8B-B14F-4D97-AF65-F5344CB8AC3E}">
        <p14:creationId xmlns:p14="http://schemas.microsoft.com/office/powerpoint/2010/main" val="196152085"/>
      </p:ext>
    </p:extLst>
  </p:cSld>
</p:sld>
</file>

<file path=ppt/slides/slide5.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2B53973-88BD-42FA-B3C8-07AC2B4368BE}"/>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F9253F-0F10-4DE9-9AFD-159E17557349}"/>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7795B209-0670-45B9-B021-B9BA45A02CAA}"/>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How to read the lifecycle</a:t>
            </a:r>
          </a:p>
        </p:txBody>
      </p:sp>
      <p:sp>
        <p:nvSpPr>
          <p:cNvPr id="4" name="">
            <a:extLst xmlns:a="http://schemas.openxmlformats.org/drawingml/2006/main">
              <a:ext uri="{FF2B5EF4-FFF2-40B4-BE49-F238E27FC236}">
                <a16:creationId xmlns:a16="http://schemas.microsoft.com/office/drawing/2014/main" id="{CD492F85-C471-470C-8411-8A565A2A9742}"/>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A score describes the measured direction. A lifecycle describes how that evidence has behaved over successive results.</a:t>
            </a:r>
          </a:p>
        </p:txBody>
      </p:sp>
      <p:sp>
        <p:nvSpPr>
          <p:cNvPr id="5" name="">
            <a:extLst xmlns:a="http://schemas.openxmlformats.org/drawingml/2006/main">
              <a:ext uri="{FF2B5EF4-FFF2-40B4-BE49-F238E27FC236}">
                <a16:creationId xmlns:a16="http://schemas.microsoft.com/office/drawing/2014/main" id="{EEBEBF32-BA47-4CF0-A51A-4F13D01A9D8E}"/>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FD179316-8A72-4201-8E2D-F4E291DEDFA0}"/>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05</a:t>
            </a:r>
          </a:p>
        </p:txBody>
      </p:sp>
      <p:sp>
        <p:nvSpPr>
          <p:cNvPr id="7" name="">
            <a:extLst xmlns:a="http://schemas.openxmlformats.org/drawingml/2006/main">
              <a:ext uri="{FF2B5EF4-FFF2-40B4-BE49-F238E27FC236}">
                <a16:creationId xmlns:a16="http://schemas.microsoft.com/office/drawing/2014/main" id="{01555F70-5437-4FE1-B800-19477AC51910}"/>
              </a:ext>
            </a:extLst>
          </p:cNvPr>
          <p:cNvSpPr>
            <a:spLocks xmlns:a="http://schemas.openxmlformats.org/drawingml/2006/main" noGrp="1"/>
          </p:cNvSpPr>
          <p:nvPr/>
        </p:nvSpPr>
        <p:spPr>
          <a:xfrm xmlns:a="http://schemas.openxmlformats.org/drawingml/2006/main">
            <a:off x="523875" y="31908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7D9C8"/>
                </a:solidFill>
                <a:latin typeface="Aptos"/>
                <a:ea typeface="Aptos"/>
                <a:cs typeface="Aptos"/>
              </a:defRPr>
            </a:pPr>
            <a:r>
              <a:rPr sz="1350" b="1">
                <a:solidFill>
                  <a:srgbClr val="27D9C8"/>
                </a:solidFill>
                <a:latin typeface="Aptos"/>
                <a:ea typeface="Aptos"/>
                <a:cs typeface="Aptos"/>
              </a:rPr>
              <a:t>WATCH</a:t>
            </a:r>
          </a:p>
        </p:txBody>
      </p:sp>
      <p:sp>
        <p:nvSpPr>
          <p:cNvPr id="8" name="">
            <a:extLst xmlns:a="http://schemas.openxmlformats.org/drawingml/2006/main">
              <a:ext uri="{FF2B5EF4-FFF2-40B4-BE49-F238E27FC236}">
                <a16:creationId xmlns:a16="http://schemas.microsoft.com/office/drawing/2014/main" id="{64187557-B599-4603-91C3-4205B7713E8B}"/>
              </a:ext>
            </a:extLst>
          </p:cNvPr>
          <p:cNvSpPr>
            <a:spLocks xmlns:a="http://schemas.openxmlformats.org/drawingml/2006/main" noGrp="1"/>
          </p:cNvSpPr>
          <p:nvPr/>
        </p:nvSpPr>
        <p:spPr>
          <a:xfrm xmlns:a="http://schemas.openxmlformats.org/drawingml/2006/main">
            <a:off x="523875" y="35433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DDEA"/>
                </a:solidFill>
                <a:latin typeface="Aptos"/>
                <a:ea typeface="Aptos"/>
                <a:cs typeface="Aptos"/>
              </a:defRPr>
            </a:pPr>
            <a:r>
              <a:rPr sz="1125" b="0">
                <a:solidFill>
                  <a:srgbClr val="D4DDEA"/>
                </a:solidFill>
                <a:latin typeface="Aptos"/>
                <a:ea typeface="Aptos"/>
                <a:cs typeface="Aptos"/>
              </a:rPr>
              <a:t>A baseline or early reading</a:t>
            </a:r>
          </a:p>
        </p:txBody>
      </p:sp>
      <p:sp>
        <p:nvSpPr>
          <p:cNvPr id="9" name="">
            <a:extLst xmlns:a="http://schemas.openxmlformats.org/drawingml/2006/main">
              <a:ext uri="{FF2B5EF4-FFF2-40B4-BE49-F238E27FC236}">
                <a16:creationId xmlns:a16="http://schemas.microsoft.com/office/drawing/2014/main" id="{BD1064B6-4F9E-4D09-8DD5-F9D5812DF08D}"/>
              </a:ext>
            </a:extLst>
          </p:cNvPr>
          <p:cNvSpPr>
            <a:spLocks xmlns:a="http://schemas.openxmlformats.org/drawingml/2006/main" noGrp="1"/>
          </p:cNvSpPr>
          <p:nvPr/>
        </p:nvSpPr>
        <p:spPr>
          <a:xfrm xmlns:a="http://schemas.openxmlformats.org/drawingml/2006/main">
            <a:off x="2447925" y="31908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7D9C8"/>
                </a:solidFill>
                <a:latin typeface="Aptos"/>
                <a:ea typeface="Aptos"/>
                <a:cs typeface="Aptos"/>
              </a:defRPr>
            </a:pPr>
            <a:r>
              <a:rPr sz="1350" b="1">
                <a:solidFill>
                  <a:srgbClr val="27D9C8"/>
                </a:solidFill>
                <a:latin typeface="Aptos"/>
                <a:ea typeface="Aptos"/>
                <a:cs typeface="Aptos"/>
              </a:rPr>
              <a:t>EMERGING</a:t>
            </a:r>
          </a:p>
        </p:txBody>
      </p:sp>
      <p:sp>
        <p:nvSpPr>
          <p:cNvPr id="10" name="">
            <a:extLst xmlns:a="http://schemas.openxmlformats.org/drawingml/2006/main">
              <a:ext uri="{FF2B5EF4-FFF2-40B4-BE49-F238E27FC236}">
                <a16:creationId xmlns:a16="http://schemas.microsoft.com/office/drawing/2014/main" id="{455866F8-EAB7-484B-B4BC-15B7D961B802}"/>
              </a:ext>
            </a:extLst>
          </p:cNvPr>
          <p:cNvSpPr>
            <a:spLocks xmlns:a="http://schemas.openxmlformats.org/drawingml/2006/main" noGrp="1"/>
          </p:cNvSpPr>
          <p:nvPr/>
        </p:nvSpPr>
        <p:spPr>
          <a:xfrm xmlns:a="http://schemas.openxmlformats.org/drawingml/2006/main">
            <a:off x="2447925" y="35433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DDEA"/>
                </a:solidFill>
                <a:latin typeface="Aptos"/>
                <a:ea typeface="Aptos"/>
                <a:cs typeface="Aptos"/>
              </a:defRPr>
            </a:pPr>
            <a:r>
              <a:rPr sz="1125" b="0">
                <a:solidFill>
                  <a:srgbClr val="D4DDEA"/>
                </a:solidFill>
                <a:latin typeface="Aptos"/>
                <a:ea typeface="Aptos"/>
                <a:cs typeface="Aptos"/>
              </a:rPr>
              <a:t>A positive inflection begins</a:t>
            </a:r>
          </a:p>
        </p:txBody>
      </p:sp>
      <p:sp>
        <p:nvSpPr>
          <p:cNvPr id="11" name="">
            <a:extLst xmlns:a="http://schemas.openxmlformats.org/drawingml/2006/main">
              <a:ext uri="{FF2B5EF4-FFF2-40B4-BE49-F238E27FC236}">
                <a16:creationId xmlns:a16="http://schemas.microsoft.com/office/drawing/2014/main" id="{9298E0DA-CD78-483C-A8F7-2C52ACEEF1F9}"/>
              </a:ext>
            </a:extLst>
          </p:cNvPr>
          <p:cNvSpPr>
            <a:spLocks xmlns:a="http://schemas.openxmlformats.org/drawingml/2006/main" noGrp="1"/>
          </p:cNvSpPr>
          <p:nvPr/>
        </p:nvSpPr>
        <p:spPr>
          <a:xfrm xmlns:a="http://schemas.openxmlformats.org/drawingml/2006/main">
            <a:off x="4371975" y="31908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7D9C8"/>
                </a:solidFill>
                <a:latin typeface="Aptos"/>
                <a:ea typeface="Aptos"/>
                <a:cs typeface="Aptos"/>
              </a:defRPr>
            </a:pPr>
            <a:r>
              <a:rPr sz="1350" b="1">
                <a:solidFill>
                  <a:srgbClr val="27D9C8"/>
                </a:solidFill>
                <a:latin typeface="Aptos"/>
                <a:ea typeface="Aptos"/>
                <a:cs typeface="Aptos"/>
              </a:rPr>
              <a:t>BUILDING</a:t>
            </a:r>
          </a:p>
        </p:txBody>
      </p:sp>
      <p:sp>
        <p:nvSpPr>
          <p:cNvPr id="12" name="">
            <a:extLst xmlns:a="http://schemas.openxmlformats.org/drawingml/2006/main">
              <a:ext uri="{FF2B5EF4-FFF2-40B4-BE49-F238E27FC236}">
                <a16:creationId xmlns:a16="http://schemas.microsoft.com/office/drawing/2014/main" id="{8EC68267-28BF-4AE1-A99A-FC39747BCC20}"/>
              </a:ext>
            </a:extLst>
          </p:cNvPr>
          <p:cNvSpPr>
            <a:spLocks xmlns:a="http://schemas.openxmlformats.org/drawingml/2006/main" noGrp="1"/>
          </p:cNvSpPr>
          <p:nvPr/>
        </p:nvSpPr>
        <p:spPr>
          <a:xfrm xmlns:a="http://schemas.openxmlformats.org/drawingml/2006/main">
            <a:off x="4371975" y="35433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DDEA"/>
                </a:solidFill>
                <a:latin typeface="Aptos"/>
                <a:ea typeface="Aptos"/>
                <a:cs typeface="Aptos"/>
              </a:defRPr>
            </a:pPr>
            <a:r>
              <a:rPr sz="1125" b="0">
                <a:solidFill>
                  <a:srgbClr val="D4DDEA"/>
                </a:solidFill>
                <a:latin typeface="Aptos"/>
                <a:ea typeface="Aptos"/>
                <a:cs typeface="Aptos"/>
              </a:rPr>
              <a:t>More results or factors confirm it</a:t>
            </a:r>
          </a:p>
        </p:txBody>
      </p:sp>
      <p:sp>
        <p:nvSpPr>
          <p:cNvPr id="13" name="">
            <a:extLst xmlns:a="http://schemas.openxmlformats.org/drawingml/2006/main">
              <a:ext uri="{FF2B5EF4-FFF2-40B4-BE49-F238E27FC236}">
                <a16:creationId xmlns:a16="http://schemas.microsoft.com/office/drawing/2014/main" id="{B6429FC2-F2E3-439A-A278-3BF7D0122084}"/>
              </a:ext>
            </a:extLst>
          </p:cNvPr>
          <p:cNvSpPr>
            <a:spLocks xmlns:a="http://schemas.openxmlformats.org/drawingml/2006/main" noGrp="1"/>
          </p:cNvSpPr>
          <p:nvPr/>
        </p:nvSpPr>
        <p:spPr>
          <a:xfrm xmlns:a="http://schemas.openxmlformats.org/drawingml/2006/main">
            <a:off x="6296025" y="31908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7D9C8"/>
                </a:solidFill>
                <a:latin typeface="Aptos"/>
                <a:ea typeface="Aptos"/>
                <a:cs typeface="Aptos"/>
              </a:defRPr>
            </a:pPr>
            <a:r>
              <a:rPr sz="1350" b="1">
                <a:solidFill>
                  <a:srgbClr val="27D9C8"/>
                </a:solidFill>
                <a:latin typeface="Aptos"/>
                <a:ea typeface="Aptos"/>
                <a:cs typeface="Aptos"/>
              </a:rPr>
              <a:t>ESTABLISHED</a:t>
            </a:r>
          </a:p>
        </p:txBody>
      </p:sp>
      <p:sp>
        <p:nvSpPr>
          <p:cNvPr id="14" name="">
            <a:extLst xmlns:a="http://schemas.openxmlformats.org/drawingml/2006/main">
              <a:ext uri="{FF2B5EF4-FFF2-40B4-BE49-F238E27FC236}">
                <a16:creationId xmlns:a16="http://schemas.microsoft.com/office/drawing/2014/main" id="{D144370C-320C-4D2B-8640-F529DC42053E}"/>
              </a:ext>
            </a:extLst>
          </p:cNvPr>
          <p:cNvSpPr>
            <a:spLocks xmlns:a="http://schemas.openxmlformats.org/drawingml/2006/main" noGrp="1"/>
          </p:cNvSpPr>
          <p:nvPr/>
        </p:nvSpPr>
        <p:spPr>
          <a:xfrm xmlns:a="http://schemas.openxmlformats.org/drawingml/2006/main">
            <a:off x="6296025" y="35433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DDEA"/>
                </a:solidFill>
                <a:latin typeface="Aptos"/>
                <a:ea typeface="Aptos"/>
                <a:cs typeface="Aptos"/>
              </a:defRPr>
            </a:pPr>
            <a:r>
              <a:rPr sz="1125" b="0">
                <a:solidFill>
                  <a:srgbClr val="D4DDEA"/>
                </a:solidFill>
                <a:latin typeface="Aptos"/>
                <a:ea typeface="Aptos"/>
                <a:cs typeface="Aptos"/>
              </a:rPr>
              <a:t>The improvement persists</a:t>
            </a:r>
          </a:p>
        </p:txBody>
      </p:sp>
      <p:sp>
        <p:nvSpPr>
          <p:cNvPr id="15" name="">
            <a:extLst xmlns:a="http://schemas.openxmlformats.org/drawingml/2006/main">
              <a:ext uri="{FF2B5EF4-FFF2-40B4-BE49-F238E27FC236}">
                <a16:creationId xmlns:a16="http://schemas.microsoft.com/office/drawing/2014/main" id="{7835572F-4ADC-4FE5-84E5-8EAAF6A96F54}"/>
              </a:ext>
            </a:extLst>
          </p:cNvPr>
          <p:cNvSpPr>
            <a:spLocks xmlns:a="http://schemas.openxmlformats.org/drawingml/2006/main" noGrp="1"/>
          </p:cNvSpPr>
          <p:nvPr/>
        </p:nvSpPr>
        <p:spPr>
          <a:xfrm xmlns:a="http://schemas.openxmlformats.org/drawingml/2006/main">
            <a:off x="8220075" y="31908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7B640"/>
                </a:solidFill>
                <a:latin typeface="Aptos"/>
                <a:ea typeface="Aptos"/>
                <a:cs typeface="Aptos"/>
              </a:defRPr>
            </a:pPr>
            <a:r>
              <a:rPr sz="1350" b="1">
                <a:solidFill>
                  <a:srgbClr val="E7B640"/>
                </a:solidFill>
                <a:latin typeface="Aptos"/>
                <a:ea typeface="Aptos"/>
                <a:cs typeface="Aptos"/>
              </a:rPr>
              <a:t>FADING</a:t>
            </a:r>
          </a:p>
        </p:txBody>
      </p:sp>
      <p:sp>
        <p:nvSpPr>
          <p:cNvPr id="16" name="">
            <a:extLst xmlns:a="http://schemas.openxmlformats.org/drawingml/2006/main">
              <a:ext uri="{FF2B5EF4-FFF2-40B4-BE49-F238E27FC236}">
                <a16:creationId xmlns:a16="http://schemas.microsoft.com/office/drawing/2014/main" id="{83D1D41E-12F3-4D83-B37C-973391E45A82}"/>
              </a:ext>
            </a:extLst>
          </p:cNvPr>
          <p:cNvSpPr>
            <a:spLocks xmlns:a="http://schemas.openxmlformats.org/drawingml/2006/main" noGrp="1"/>
          </p:cNvSpPr>
          <p:nvPr/>
        </p:nvSpPr>
        <p:spPr>
          <a:xfrm xmlns:a="http://schemas.openxmlformats.org/drawingml/2006/main">
            <a:off x="8220075" y="35433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DDEA"/>
                </a:solidFill>
                <a:latin typeface="Aptos"/>
                <a:ea typeface="Aptos"/>
                <a:cs typeface="Aptos"/>
              </a:defRPr>
            </a:pPr>
            <a:r>
              <a:rPr sz="1125" b="0">
                <a:solidFill>
                  <a:srgbClr val="D4DDEA"/>
                </a:solidFill>
                <a:latin typeface="Aptos"/>
                <a:ea typeface="Aptos"/>
                <a:cs typeface="Aptos"/>
              </a:rPr>
              <a:t>Earlier momentum is weakening</a:t>
            </a:r>
          </a:p>
        </p:txBody>
      </p:sp>
      <p:sp>
        <p:nvSpPr>
          <p:cNvPr id="17" name="">
            <a:extLst xmlns:a="http://schemas.openxmlformats.org/drawingml/2006/main">
              <a:ext uri="{FF2B5EF4-FFF2-40B4-BE49-F238E27FC236}">
                <a16:creationId xmlns:a16="http://schemas.microsoft.com/office/drawing/2014/main" id="{ED8122D9-4A28-4B10-88FC-877300ED373A}"/>
              </a:ext>
            </a:extLst>
          </p:cNvPr>
          <p:cNvSpPr>
            <a:spLocks xmlns:a="http://schemas.openxmlformats.org/drawingml/2006/main" noGrp="1"/>
          </p:cNvSpPr>
          <p:nvPr/>
        </p:nvSpPr>
        <p:spPr>
          <a:xfrm xmlns:a="http://schemas.openxmlformats.org/drawingml/2006/main">
            <a:off x="781050" y="4810125"/>
            <a:ext cx="8724900" cy="19050"/>
          </a:xfrm>
          <a:prstGeom xmlns:a="http://schemas.openxmlformats.org/drawingml/2006/main" prst="rect">
            <a:avLst/>
          </a:prstGeom>
          <a:solidFill xmlns:a="http://schemas.openxmlformats.org/drawingml/2006/main">
            <a:srgbClr val="33445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FFC0D8C-7F5C-4D97-A748-035F4233765A}"/>
              </a:ext>
            </a:extLst>
          </p:cNvPr>
          <p:cNvSpPr>
            <a:spLocks xmlns:a="http://schemas.openxmlformats.org/drawingml/2006/main" noGrp="1"/>
          </p:cNvSpPr>
          <p:nvPr/>
        </p:nvSpPr>
        <p:spPr>
          <a:xfrm xmlns:a="http://schemas.openxmlformats.org/drawingml/2006/main">
            <a:off x="857250" y="55721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8FAFC"/>
                </a:solidFill>
                <a:latin typeface="Aptos"/>
                <a:ea typeface="Aptos"/>
                <a:cs typeface="Aptos"/>
              </a:defRPr>
            </a:pPr>
            <a:r>
              <a:rPr sz="1950" b="1">
                <a:solidFill>
                  <a:srgbClr val="F8FAFC"/>
                </a:solidFill>
                <a:latin typeface="Aptos"/>
                <a:ea typeface="Aptos"/>
                <a:cs typeface="Aptos"/>
              </a:rPr>
              <a:t>Score</a:t>
            </a:r>
          </a:p>
        </p:txBody>
      </p:sp>
      <p:sp>
        <p:nvSpPr>
          <p:cNvPr id="19" name="">
            <a:extLst xmlns:a="http://schemas.openxmlformats.org/drawingml/2006/main">
              <a:ext uri="{FF2B5EF4-FFF2-40B4-BE49-F238E27FC236}">
                <a16:creationId xmlns:a16="http://schemas.microsoft.com/office/drawing/2014/main" id="{EF7FBE7E-532F-4176-8E5C-A4375CB6A1B7}"/>
              </a:ext>
            </a:extLst>
          </p:cNvPr>
          <p:cNvSpPr>
            <a:spLocks xmlns:a="http://schemas.openxmlformats.org/drawingml/2006/main" noGrp="1"/>
          </p:cNvSpPr>
          <p:nvPr/>
        </p:nvSpPr>
        <p:spPr>
          <a:xfrm xmlns:a="http://schemas.openxmlformats.org/drawingml/2006/main">
            <a:off x="857250" y="6048375"/>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D4DDEA"/>
                </a:solidFill>
                <a:latin typeface="Aptos"/>
                <a:ea typeface="Aptos"/>
                <a:cs typeface="Aptos"/>
              </a:defRPr>
            </a:pPr>
            <a:r>
              <a:rPr sz="1425" b="0">
                <a:solidFill>
                  <a:srgbClr val="D4DDEA"/>
                </a:solidFill>
                <a:latin typeface="Aptos"/>
                <a:ea typeface="Aptos"/>
                <a:cs typeface="Aptos"/>
              </a:rPr>
              <a:t>Direction within the factors that have comparable previous and current evidence.</a:t>
            </a:r>
          </a:p>
        </p:txBody>
      </p:sp>
      <p:sp>
        <p:nvSpPr>
          <p:cNvPr id="20" name="">
            <a:extLst xmlns:a="http://schemas.openxmlformats.org/drawingml/2006/main">
              <a:ext uri="{FF2B5EF4-FFF2-40B4-BE49-F238E27FC236}">
                <a16:creationId xmlns:a16="http://schemas.microsoft.com/office/drawing/2014/main" id="{07AEA911-D64D-4570-B6AB-66524FA290DD}"/>
              </a:ext>
            </a:extLst>
          </p:cNvPr>
          <p:cNvSpPr>
            <a:spLocks xmlns:a="http://schemas.openxmlformats.org/drawingml/2006/main" noGrp="1"/>
          </p:cNvSpPr>
          <p:nvPr/>
        </p:nvSpPr>
        <p:spPr>
          <a:xfrm xmlns:a="http://schemas.openxmlformats.org/drawingml/2006/main">
            <a:off x="5429250" y="55721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8FAFC"/>
                </a:solidFill>
                <a:latin typeface="Aptos"/>
                <a:ea typeface="Aptos"/>
                <a:cs typeface="Aptos"/>
              </a:defRPr>
            </a:pPr>
            <a:r>
              <a:rPr sz="1950" b="1">
                <a:solidFill>
                  <a:srgbClr val="F8FAFC"/>
                </a:solidFill>
                <a:latin typeface="Aptos"/>
                <a:ea typeface="Aptos"/>
                <a:cs typeface="Aptos"/>
              </a:rPr>
              <a:t>Evidence confidence</a:t>
            </a:r>
          </a:p>
        </p:txBody>
      </p:sp>
      <p:sp>
        <p:nvSpPr>
          <p:cNvPr id="21" name="">
            <a:extLst xmlns:a="http://schemas.openxmlformats.org/drawingml/2006/main">
              <a:ext uri="{FF2B5EF4-FFF2-40B4-BE49-F238E27FC236}">
                <a16:creationId xmlns:a16="http://schemas.microsoft.com/office/drawing/2014/main" id="{D8CB3E76-27DE-48BC-987B-2F8E54D453BA}"/>
              </a:ext>
            </a:extLst>
          </p:cNvPr>
          <p:cNvSpPr>
            <a:spLocks xmlns:a="http://schemas.openxmlformats.org/drawingml/2006/main" noGrp="1"/>
          </p:cNvSpPr>
          <p:nvPr/>
        </p:nvSpPr>
        <p:spPr>
          <a:xfrm xmlns:a="http://schemas.openxmlformats.org/drawingml/2006/main">
            <a:off x="5429250" y="6048375"/>
            <a:ext cx="3714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D4DDEA"/>
                </a:solidFill>
                <a:latin typeface="Aptos"/>
                <a:ea typeface="Aptos"/>
                <a:cs typeface="Aptos"/>
              </a:defRPr>
            </a:pPr>
            <a:r>
              <a:rPr sz="1425" b="0">
                <a:solidFill>
                  <a:srgbClr val="D4DDEA"/>
                </a:solidFill>
                <a:latin typeface="Aptos"/>
                <a:ea typeface="Aptos"/>
                <a:cs typeface="Aptos"/>
              </a:rPr>
              <a:t>Completeness, comparability and source quality. Medium confidence can accompany strong direction when only part of the model is populated.</a:t>
            </a:r>
          </a:p>
        </p:txBody>
      </p:sp>
      <p:sp>
        <p:nvSpPr>
          <p:cNvPr id="22" name="">
            <a:extLst xmlns:a="http://schemas.openxmlformats.org/drawingml/2006/main">
              <a:ext uri="{FF2B5EF4-FFF2-40B4-BE49-F238E27FC236}">
                <a16:creationId xmlns:a16="http://schemas.microsoft.com/office/drawing/2014/main" id="{837B8AC2-0456-4F15-BBFC-3AAA6E0200BE}"/>
              </a:ext>
            </a:extLst>
          </p:cNvPr>
          <p:cNvSpPr>
            <a:spLocks xmlns:a="http://schemas.openxmlformats.org/drawingml/2006/main" noGrp="1"/>
          </p:cNvSpPr>
          <p:nvPr/>
        </p:nvSpPr>
        <p:spPr>
          <a:xfrm xmlns:a="http://schemas.openxmlformats.org/drawingml/2006/main">
            <a:off x="857250" y="7848600"/>
            <a:ext cx="8286750" cy="952500"/>
          </a:xfrm>
          <a:prstGeom xmlns:a="http://schemas.openxmlformats.org/drawingml/2006/main" prst="roundRect">
            <a:avLst>
              <a:gd name="adj" fmla="val 14000"/>
            </a:avLst>
          </a:prstGeom>
          <a:solidFill xmlns:a="http://schemas.openxmlformats.org/drawingml/2006/main">
            <a:srgbClr val="0D2430"/>
          </a:solidFill>
          <a:ln xmlns:a="http://schemas.openxmlformats.org/drawingml/2006/main" w="9525">
            <a:solidFill>
              <a:srgbClr val="27D9C8"/>
            </a:solidFill>
          </a:ln>
        </p:spPr>
      </p:sp>
      <p:sp>
        <p:nvSpPr>
          <p:cNvPr id="23" name="">
            <a:extLst xmlns:a="http://schemas.openxmlformats.org/drawingml/2006/main">
              <a:ext uri="{FF2B5EF4-FFF2-40B4-BE49-F238E27FC236}">
                <a16:creationId xmlns:a16="http://schemas.microsoft.com/office/drawing/2014/main" id="{B8974DC4-761F-4576-9CDE-A3FB0CC77FCB}"/>
              </a:ext>
            </a:extLst>
          </p:cNvPr>
          <p:cNvSpPr>
            <a:spLocks xmlns:a="http://schemas.openxmlformats.org/drawingml/2006/main" noGrp="1"/>
          </p:cNvSpPr>
          <p:nvPr/>
        </p:nvSpPr>
        <p:spPr>
          <a:xfrm xmlns:a="http://schemas.openxmlformats.org/drawingml/2006/main">
            <a:off x="1238250" y="8134350"/>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8FAFC"/>
                </a:solidFill>
                <a:latin typeface="Aptos"/>
                <a:ea typeface="Aptos"/>
                <a:cs typeface="Aptos"/>
              </a:defRPr>
            </a:pPr>
            <a:r>
              <a:rPr sz="1500" b="1">
                <a:solidFill>
                  <a:srgbClr val="F8FAFC"/>
                </a:solidFill>
                <a:latin typeface="Aptos"/>
                <a:ea typeface="Aptos"/>
                <a:cs typeface="Aptos"/>
              </a:rPr>
              <a:t>N/A means no comparable evidence. It never means zero, neutral or poor performance.</a:t>
            </a:r>
          </a:p>
        </p:txBody>
      </p:sp>
    </p:spTree>
    <p:extLst>
      <p:ext uri="{BB962C8B-B14F-4D97-AF65-F5344CB8AC3E}">
        <p14:creationId xmlns:p14="http://schemas.microsoft.com/office/powerpoint/2010/main" val="1515012429"/>
      </p:ext>
    </p:extLst>
  </p:cSld>
</p:sld>
</file>

<file path=ppt/slides/slide6.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17A1F89-A010-4835-BEFA-01D5ABFC040D}"/>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CA0AF5-749D-48B1-82CE-F759B2576DC5}"/>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5DAA4510-85B5-4818-A086-E8639C68BB4F}"/>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Later results and management delivery</a:t>
            </a:r>
          </a:p>
        </p:txBody>
      </p:sp>
      <p:sp>
        <p:nvSpPr>
          <p:cNvPr id="4" name="">
            <a:extLst xmlns:a="http://schemas.openxmlformats.org/drawingml/2006/main">
              <a:ext uri="{FF2B5EF4-FFF2-40B4-BE49-F238E27FC236}">
                <a16:creationId xmlns:a16="http://schemas.microsoft.com/office/drawing/2014/main" id="{E4931AC4-3165-40BE-9B34-7E3F8DDCFE6C}"/>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The confirmation layer tests an earlier lifecycle without rewriting the historical record.</a:t>
            </a:r>
          </a:p>
        </p:txBody>
      </p:sp>
      <p:sp>
        <p:nvSpPr>
          <p:cNvPr id="5" name="">
            <a:extLst xmlns:a="http://schemas.openxmlformats.org/drawingml/2006/main">
              <a:ext uri="{FF2B5EF4-FFF2-40B4-BE49-F238E27FC236}">
                <a16:creationId xmlns:a16="http://schemas.microsoft.com/office/drawing/2014/main" id="{305327D6-3D34-4CC5-B49B-ED64D9C2858A}"/>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8A486AFB-159C-4EF2-885B-B1E81CE525AA}"/>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06</a:t>
            </a:r>
          </a:p>
        </p:txBody>
      </p:sp>
      <p:sp>
        <p:nvSpPr>
          <p:cNvPr id="7" name="">
            <a:extLst xmlns:a="http://schemas.openxmlformats.org/drawingml/2006/main">
              <a:ext uri="{FF2B5EF4-FFF2-40B4-BE49-F238E27FC236}">
                <a16:creationId xmlns:a16="http://schemas.microsoft.com/office/drawing/2014/main" id="{732C09F9-3A8E-4614-BC6E-DBC9F7484629}"/>
              </a:ext>
            </a:extLst>
          </p:cNvPr>
          <p:cNvSpPr>
            <a:spLocks xmlns:a="http://schemas.openxmlformats.org/drawingml/2006/main" noGrp="1"/>
          </p:cNvSpPr>
          <p:nvPr/>
        </p:nvSpPr>
        <p:spPr>
          <a:xfrm xmlns:a="http://schemas.openxmlformats.org/drawingml/2006/main">
            <a:off x="762000" y="28575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7D9C8"/>
                </a:solidFill>
                <a:latin typeface="Aptos"/>
                <a:ea typeface="Aptos"/>
                <a:cs typeface="Aptos"/>
              </a:defRPr>
            </a:pPr>
            <a:r>
              <a:rPr sz="2550" b="1">
                <a:solidFill>
                  <a:srgbClr val="27D9C8"/>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76AD3414-C639-4631-BF01-05EE723C58F9}"/>
              </a:ext>
            </a:extLst>
          </p:cNvPr>
          <p:cNvSpPr>
            <a:spLocks xmlns:a="http://schemas.openxmlformats.org/drawingml/2006/main" noGrp="1"/>
          </p:cNvSpPr>
          <p:nvPr/>
        </p:nvSpPr>
        <p:spPr>
          <a:xfrm xmlns:a="http://schemas.openxmlformats.org/drawingml/2006/main">
            <a:off x="1762125" y="28575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8FAFC"/>
                </a:solidFill>
                <a:latin typeface="Aptos"/>
                <a:ea typeface="Aptos"/>
                <a:cs typeface="Aptos"/>
              </a:defRPr>
            </a:pPr>
            <a:r>
              <a:rPr sz="1725" b="1">
                <a:solidFill>
                  <a:srgbClr val="F8FAFC"/>
                </a:solidFill>
                <a:latin typeface="Aptos"/>
                <a:ea typeface="Aptos"/>
                <a:cs typeface="Aptos"/>
              </a:rPr>
              <a:t>Record</a:t>
            </a:r>
          </a:p>
        </p:txBody>
      </p:sp>
      <p:sp>
        <p:nvSpPr>
          <p:cNvPr id="9" name="">
            <a:extLst xmlns:a="http://schemas.openxmlformats.org/drawingml/2006/main">
              <a:ext uri="{FF2B5EF4-FFF2-40B4-BE49-F238E27FC236}">
                <a16:creationId xmlns:a16="http://schemas.microsoft.com/office/drawing/2014/main" id="{8E73214F-BE48-4C37-BD9E-BFD8BEDED632}"/>
              </a:ext>
            </a:extLst>
          </p:cNvPr>
          <p:cNvSpPr>
            <a:spLocks xmlns:a="http://schemas.openxmlformats.org/drawingml/2006/main" noGrp="1"/>
          </p:cNvSpPr>
          <p:nvPr/>
        </p:nvSpPr>
        <p:spPr>
          <a:xfrm xmlns:a="http://schemas.openxmlformats.org/drawingml/2006/main">
            <a:off x="4095750" y="28575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Store the original lifecycle, period and supporting evidence.</a:t>
            </a:r>
          </a:p>
        </p:txBody>
      </p:sp>
      <p:sp>
        <p:nvSpPr>
          <p:cNvPr id="10" name="">
            <a:extLst xmlns:a="http://schemas.openxmlformats.org/drawingml/2006/main">
              <a:ext uri="{FF2B5EF4-FFF2-40B4-BE49-F238E27FC236}">
                <a16:creationId xmlns:a16="http://schemas.microsoft.com/office/drawing/2014/main" id="{F008A2D8-5D0A-44F6-A8D3-4634CD64BC0C}"/>
              </a:ext>
            </a:extLst>
          </p:cNvPr>
          <p:cNvSpPr>
            <a:spLocks xmlns:a="http://schemas.openxmlformats.org/drawingml/2006/main" noGrp="1"/>
          </p:cNvSpPr>
          <p:nvPr/>
        </p:nvSpPr>
        <p:spPr>
          <a:xfrm xmlns:a="http://schemas.openxmlformats.org/drawingml/2006/main">
            <a:off x="762000" y="42862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7D9C8"/>
                </a:solidFill>
                <a:latin typeface="Aptos"/>
                <a:ea typeface="Aptos"/>
                <a:cs typeface="Aptos"/>
              </a:defRPr>
            </a:pPr>
            <a:r>
              <a:rPr sz="2550" b="1">
                <a:solidFill>
                  <a:srgbClr val="27D9C8"/>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69F035B1-E124-493D-8153-8D4FF0B5FF1F}"/>
              </a:ext>
            </a:extLst>
          </p:cNvPr>
          <p:cNvSpPr>
            <a:spLocks xmlns:a="http://schemas.openxmlformats.org/drawingml/2006/main" noGrp="1"/>
          </p:cNvSpPr>
          <p:nvPr/>
        </p:nvSpPr>
        <p:spPr>
          <a:xfrm xmlns:a="http://schemas.openxmlformats.org/drawingml/2006/main">
            <a:off x="1762125" y="4286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8FAFC"/>
                </a:solidFill>
                <a:latin typeface="Aptos"/>
                <a:ea typeface="Aptos"/>
                <a:cs typeface="Aptos"/>
              </a:defRPr>
            </a:pPr>
            <a:r>
              <a:rPr sz="1725" b="1">
                <a:solidFill>
                  <a:srgbClr val="F8FAFC"/>
                </a:solidFill>
                <a:latin typeface="Aptos"/>
                <a:ea typeface="Aptos"/>
                <a:cs typeface="Aptos"/>
              </a:rPr>
              <a:t>Remember</a:t>
            </a:r>
          </a:p>
        </p:txBody>
      </p:sp>
      <p:sp>
        <p:nvSpPr>
          <p:cNvPr id="12" name="">
            <a:extLst xmlns:a="http://schemas.openxmlformats.org/drawingml/2006/main">
              <a:ext uri="{FF2B5EF4-FFF2-40B4-BE49-F238E27FC236}">
                <a16:creationId xmlns:a16="http://schemas.microsoft.com/office/drawing/2014/main" id="{3997DDD1-2109-4BE7-ACAB-C7240DA61F4F}"/>
              </a:ext>
            </a:extLst>
          </p:cNvPr>
          <p:cNvSpPr>
            <a:spLocks xmlns:a="http://schemas.openxmlformats.org/drawingml/2006/main" noGrp="1"/>
          </p:cNvSpPr>
          <p:nvPr/>
        </p:nvSpPr>
        <p:spPr>
          <a:xfrm xmlns:a="http://schemas.openxmlformats.org/drawingml/2006/main">
            <a:off x="4095750" y="42862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Save dated, measurable management commitments quarter by quarter.</a:t>
            </a:r>
          </a:p>
        </p:txBody>
      </p:sp>
      <p:sp>
        <p:nvSpPr>
          <p:cNvPr id="13" name="">
            <a:extLst xmlns:a="http://schemas.openxmlformats.org/drawingml/2006/main">
              <a:ext uri="{FF2B5EF4-FFF2-40B4-BE49-F238E27FC236}">
                <a16:creationId xmlns:a16="http://schemas.microsoft.com/office/drawing/2014/main" id="{1048CCCC-9946-443D-A2E5-F2B856201B11}"/>
              </a:ext>
            </a:extLst>
          </p:cNvPr>
          <p:cNvSpPr>
            <a:spLocks xmlns:a="http://schemas.openxmlformats.org/drawingml/2006/main" noGrp="1"/>
          </p:cNvSpPr>
          <p:nvPr/>
        </p:nvSpPr>
        <p:spPr>
          <a:xfrm xmlns:a="http://schemas.openxmlformats.org/drawingml/2006/main">
            <a:off x="762000" y="57150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7D9C8"/>
                </a:solidFill>
                <a:latin typeface="Aptos"/>
                <a:ea typeface="Aptos"/>
                <a:cs typeface="Aptos"/>
              </a:defRPr>
            </a:pPr>
            <a:r>
              <a:rPr sz="2550" b="1">
                <a:solidFill>
                  <a:srgbClr val="27D9C8"/>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A4F6545D-9612-4494-9D6A-8C0F28B9B401}"/>
              </a:ext>
            </a:extLst>
          </p:cNvPr>
          <p:cNvSpPr>
            <a:spLocks xmlns:a="http://schemas.openxmlformats.org/drawingml/2006/main" noGrp="1"/>
          </p:cNvSpPr>
          <p:nvPr/>
        </p:nvSpPr>
        <p:spPr>
          <a:xfrm xmlns:a="http://schemas.openxmlformats.org/drawingml/2006/main">
            <a:off x="1762125" y="5715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8FAFC"/>
                </a:solidFill>
                <a:latin typeface="Aptos"/>
                <a:ea typeface="Aptos"/>
                <a:cs typeface="Aptos"/>
              </a:defRPr>
            </a:pPr>
            <a:r>
              <a:rPr sz="1725" b="1">
                <a:solidFill>
                  <a:srgbClr val="F8FAFC"/>
                </a:solidFill>
                <a:latin typeface="Aptos"/>
                <a:ea typeface="Aptos"/>
                <a:cs typeface="Aptos"/>
              </a:rPr>
              <a:t>Compare</a:t>
            </a:r>
          </a:p>
        </p:txBody>
      </p:sp>
      <p:sp>
        <p:nvSpPr>
          <p:cNvPr id="15" name="">
            <a:extLst xmlns:a="http://schemas.openxmlformats.org/drawingml/2006/main">
              <a:ext uri="{FF2B5EF4-FFF2-40B4-BE49-F238E27FC236}">
                <a16:creationId xmlns:a16="http://schemas.microsoft.com/office/drawing/2014/main" id="{B0A99429-1526-4266-855A-7FAC80926D25}"/>
              </a:ext>
            </a:extLst>
          </p:cNvPr>
          <p:cNvSpPr>
            <a:spLocks xmlns:a="http://schemas.openxmlformats.org/drawingml/2006/main" noGrp="1"/>
          </p:cNvSpPr>
          <p:nvPr/>
        </p:nvSpPr>
        <p:spPr>
          <a:xfrm xmlns:a="http://schemas.openxmlformats.org/drawingml/2006/main">
            <a:off x="4095750" y="57150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Check later reported outcomes against financial factors and matured commitments.</a:t>
            </a:r>
          </a:p>
        </p:txBody>
      </p:sp>
      <p:sp>
        <p:nvSpPr>
          <p:cNvPr id="16" name="">
            <a:extLst xmlns:a="http://schemas.openxmlformats.org/drawingml/2006/main">
              <a:ext uri="{FF2B5EF4-FFF2-40B4-BE49-F238E27FC236}">
                <a16:creationId xmlns:a16="http://schemas.microsoft.com/office/drawing/2014/main" id="{7179DEE9-ABF1-4F41-94F5-E7624BAF2407}"/>
              </a:ext>
            </a:extLst>
          </p:cNvPr>
          <p:cNvSpPr>
            <a:spLocks xmlns:a="http://schemas.openxmlformats.org/drawingml/2006/main" noGrp="1"/>
          </p:cNvSpPr>
          <p:nvPr/>
        </p:nvSpPr>
        <p:spPr>
          <a:xfrm xmlns:a="http://schemas.openxmlformats.org/drawingml/2006/main">
            <a:off x="762000" y="71437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7B640"/>
                </a:solidFill>
                <a:latin typeface="Aptos"/>
                <a:ea typeface="Aptos"/>
                <a:cs typeface="Aptos"/>
              </a:defRPr>
            </a:pPr>
            <a:r>
              <a:rPr sz="2550" b="1">
                <a:solidFill>
                  <a:srgbClr val="E7B640"/>
                </a:solidFill>
                <a:latin typeface="Aptos"/>
                <a:ea typeface="Aptos"/>
                <a:cs typeface="Aptos"/>
              </a:rPr>
              <a:t>4</a:t>
            </a:r>
          </a:p>
        </p:txBody>
      </p:sp>
      <p:sp>
        <p:nvSpPr>
          <p:cNvPr id="17" name="">
            <a:extLst xmlns:a="http://schemas.openxmlformats.org/drawingml/2006/main">
              <a:ext uri="{FF2B5EF4-FFF2-40B4-BE49-F238E27FC236}">
                <a16:creationId xmlns:a16="http://schemas.microsoft.com/office/drawing/2014/main" id="{EF950FE4-09DF-443D-B8FB-F995A98C8583}"/>
              </a:ext>
            </a:extLst>
          </p:cNvPr>
          <p:cNvSpPr>
            <a:spLocks xmlns:a="http://schemas.openxmlformats.org/drawingml/2006/main" noGrp="1"/>
          </p:cNvSpPr>
          <p:nvPr/>
        </p:nvSpPr>
        <p:spPr>
          <a:xfrm xmlns:a="http://schemas.openxmlformats.org/drawingml/2006/main">
            <a:off x="1762125" y="7143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8FAFC"/>
                </a:solidFill>
                <a:latin typeface="Aptos"/>
                <a:ea typeface="Aptos"/>
                <a:cs typeface="Aptos"/>
              </a:defRPr>
            </a:pPr>
            <a:r>
              <a:rPr sz="1725" b="1">
                <a:solidFill>
                  <a:srgbClr val="F8FAFC"/>
                </a:solidFill>
                <a:latin typeface="Aptos"/>
                <a:ea typeface="Aptos"/>
                <a:cs typeface="Aptos"/>
              </a:rPr>
              <a:t>Qualify</a:t>
            </a:r>
          </a:p>
        </p:txBody>
      </p:sp>
      <p:sp>
        <p:nvSpPr>
          <p:cNvPr id="18" name="">
            <a:extLst xmlns:a="http://schemas.openxmlformats.org/drawingml/2006/main">
              <a:ext uri="{FF2B5EF4-FFF2-40B4-BE49-F238E27FC236}">
                <a16:creationId xmlns:a16="http://schemas.microsoft.com/office/drawing/2014/main" id="{DD01B21E-C561-4FCF-85CE-454498690A60}"/>
              </a:ext>
            </a:extLst>
          </p:cNvPr>
          <p:cNvSpPr>
            <a:spLocks xmlns:a="http://schemas.openxmlformats.org/drawingml/2006/main" noGrp="1"/>
          </p:cNvSpPr>
          <p:nvPr/>
        </p:nvSpPr>
        <p:spPr>
          <a:xfrm xmlns:a="http://schemas.openxmlformats.org/drawingml/2006/main">
            <a:off x="4095750" y="71437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Raise, lower or defer today’s research priority according to evidence coverage.</a:t>
            </a:r>
          </a:p>
        </p:txBody>
      </p:sp>
      <p:sp>
        <p:nvSpPr>
          <p:cNvPr id="19" name="">
            <a:extLst xmlns:a="http://schemas.openxmlformats.org/drawingml/2006/main">
              <a:ext uri="{FF2B5EF4-FFF2-40B4-BE49-F238E27FC236}">
                <a16:creationId xmlns:a16="http://schemas.microsoft.com/office/drawing/2014/main" id="{1DBF3C33-BC85-42A3-8AB6-DA61369A0C1B}"/>
              </a:ext>
            </a:extLst>
          </p:cNvPr>
          <p:cNvSpPr>
            <a:spLocks xmlns:a="http://schemas.openxmlformats.org/drawingml/2006/main" noGrp="1"/>
          </p:cNvSpPr>
          <p:nvPr/>
        </p:nvSpPr>
        <p:spPr>
          <a:xfrm xmlns:a="http://schemas.openxmlformats.org/drawingml/2006/main">
            <a:off x="857250" y="8810625"/>
            <a:ext cx="857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7B640"/>
                </a:solidFill>
                <a:latin typeface="Aptos"/>
                <a:ea typeface="Aptos"/>
                <a:cs typeface="Aptos"/>
              </a:defRPr>
            </a:pPr>
            <a:r>
              <a:rPr sz="1350" b="1">
                <a:solidFill>
                  <a:srgbClr val="E7B640"/>
                </a:solidFill>
                <a:latin typeface="Aptos"/>
                <a:ea typeface="Aptos"/>
                <a:cs typeface="Aptos"/>
              </a:rPr>
              <a:t>Management commentary records what was said. Management delivery checks what happened after the commitment matured.</a:t>
            </a:r>
          </a:p>
        </p:txBody>
      </p:sp>
    </p:spTree>
    <p:extLst>
      <p:ext uri="{BB962C8B-B14F-4D97-AF65-F5344CB8AC3E}">
        <p14:creationId xmlns:p14="http://schemas.microsoft.com/office/powerpoint/2010/main" val="385513869"/>
      </p:ext>
    </p:extLst>
  </p:cSld>
</p:sld>
</file>

<file path=ppt/slides/slide7.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C4A8AD-188C-40D6-A32D-C4674BDAF363}"/>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14BCA5-034D-4446-849F-CB2E3150833D}"/>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19C2A588-308A-4275-BF42-B4764BE61DA9}"/>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Selective PDF output</a:t>
            </a:r>
          </a:p>
        </p:txBody>
      </p:sp>
      <p:sp>
        <p:nvSpPr>
          <p:cNvPr id="4" name="">
            <a:extLst xmlns:a="http://schemas.openxmlformats.org/drawingml/2006/main">
              <a:ext uri="{FF2B5EF4-FFF2-40B4-BE49-F238E27FC236}">
                <a16:creationId xmlns:a16="http://schemas.microsoft.com/office/drawing/2014/main" id="{E9E77658-0E90-42FF-A61D-AA55EA99EEFE}"/>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A downloadable report appears only when the evidence-readiness checks pass.</a:t>
            </a:r>
          </a:p>
        </p:txBody>
      </p:sp>
      <p:sp>
        <p:nvSpPr>
          <p:cNvPr id="5" name="">
            <a:extLst xmlns:a="http://schemas.openxmlformats.org/drawingml/2006/main">
              <a:ext uri="{FF2B5EF4-FFF2-40B4-BE49-F238E27FC236}">
                <a16:creationId xmlns:a16="http://schemas.microsoft.com/office/drawing/2014/main" id="{AE302CBD-53DF-4486-A11B-5A4182410CE5}"/>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D65AF6B6-0C4B-49DA-A840-2E35A60B152F}"/>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07</a:t>
            </a:r>
          </a:p>
        </p:txBody>
      </p:sp>
      <p:sp>
        <p:nvSpPr>
          <p:cNvPr id="7" name="">
            <a:extLst xmlns:a="http://schemas.openxmlformats.org/drawingml/2006/main">
              <a:ext uri="{FF2B5EF4-FFF2-40B4-BE49-F238E27FC236}">
                <a16:creationId xmlns:a16="http://schemas.microsoft.com/office/drawing/2014/main" id="{AD792827-B413-4F0A-936F-FD0D9DE617F7}"/>
              </a:ext>
            </a:extLst>
          </p:cNvPr>
          <p:cNvSpPr>
            <a:spLocks xmlns:a="http://schemas.openxmlformats.org/drawingml/2006/main" noGrp="1"/>
          </p:cNvSpPr>
          <p:nvPr/>
        </p:nvSpPr>
        <p:spPr>
          <a:xfrm xmlns:a="http://schemas.openxmlformats.org/drawingml/2006/main">
            <a:off x="685800" y="2362200"/>
            <a:ext cx="5191125" cy="6800850"/>
          </a:xfrm>
          <a:prstGeom xmlns:a="http://schemas.openxmlformats.org/drawingml/2006/main" prst="roundRect">
            <a:avLst>
              <a:gd name="adj" fmla="val 1835"/>
            </a:avLst>
          </a:prstGeom>
          <a:solidFill xmlns:a="http://schemas.openxmlformats.org/drawingml/2006/main">
            <a:srgbClr val="FFFFFF"/>
          </a:solidFill>
          <a:ln xmlns:a="http://schemas.openxmlformats.org/drawingml/2006/main" w="9525">
            <a:solidFill>
              <a:srgbClr val="33445F"/>
            </a:solid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b73e9a282ab4803"/>
          <a:stretch xmlns:a="http://schemas.openxmlformats.org/drawingml/2006/main"/>
        </p:blipFill>
        <p:spPr>
          <a:xfrm xmlns:a="http://schemas.openxmlformats.org/drawingml/2006/main">
            <a:off x="930900" y="2438400"/>
            <a:ext cx="4700924" cy="6648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652D9A7-2F04-42C1-8877-B67B9E3A54B5}"/>
              </a:ext>
            </a:extLst>
          </p:cNvPr>
          <p:cNvSpPr>
            <a:spLocks xmlns:a="http://schemas.openxmlformats.org/drawingml/2006/main" noGrp="1"/>
          </p:cNvSpPr>
          <p:nvPr/>
        </p:nvSpPr>
        <p:spPr>
          <a:xfrm xmlns:a="http://schemas.openxmlformats.org/drawingml/2006/main">
            <a:off x="6381750" y="28575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7D9C8"/>
                </a:solidFill>
                <a:latin typeface="Aptos"/>
                <a:ea typeface="Aptos"/>
                <a:cs typeface="Aptos"/>
              </a:defRPr>
            </a:pPr>
            <a:r>
              <a:rPr sz="1500" b="1">
                <a:solidFill>
                  <a:srgbClr val="27D9C8"/>
                </a:solidFill>
                <a:latin typeface="Aptos"/>
                <a:ea typeface="Aptos"/>
                <a:cs typeface="Aptos"/>
              </a:rPr>
              <a:t>What this page demonstrates</a:t>
            </a:r>
          </a:p>
        </p:txBody>
      </p:sp>
      <p:sp>
        <p:nvSpPr>
          <p:cNvPr id="10" name="">
            <a:extLst xmlns:a="http://schemas.openxmlformats.org/drawingml/2006/main">
              <a:ext uri="{FF2B5EF4-FFF2-40B4-BE49-F238E27FC236}">
                <a16:creationId xmlns:a16="http://schemas.microsoft.com/office/drawing/2014/main" id="{42727DB1-262F-47E5-A2D6-384C18DD7693}"/>
              </a:ext>
            </a:extLst>
          </p:cNvPr>
          <p:cNvSpPr>
            <a:spLocks xmlns:a="http://schemas.openxmlformats.org/drawingml/2006/main" noGrp="1"/>
          </p:cNvSpPr>
          <p:nvPr/>
        </p:nvSpPr>
        <p:spPr>
          <a:xfrm xmlns:a="http://schemas.openxmlformats.org/drawingml/2006/main">
            <a:off x="6381750" y="352425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F8FAFC"/>
                </a:solidFill>
                <a:latin typeface="Aptos"/>
                <a:ea typeface="Aptos"/>
                <a:cs typeface="Aptos"/>
              </a:defRPr>
            </a:pPr>
            <a:r>
              <a:rPr sz="1425" b="0">
                <a:solidFill>
                  <a:srgbClr val="F8FAFC"/>
                </a:solidFill>
                <a:latin typeface="Aptos"/>
                <a:ea typeface="Aptos"/>
                <a:cs typeface="Aptos"/>
              </a:rPr>
              <a:t>The five BMS factors</a:t>
            </a:r>
          </a:p>
          <a:p xmlns:a="http://schemas.openxmlformats.org/drawingml/2006/main">
            <a:r>
              <a:t/>
            </a:r>
          </a:p>
          <a:p xmlns:a="http://schemas.openxmlformats.org/drawingml/2006/main">
            <a:pPr>
              <a:defRPr sz="1425" b="0">
                <a:solidFill>
                  <a:srgbClr val="F8FAFC"/>
                </a:solidFill>
                <a:latin typeface="Aptos"/>
                <a:ea typeface="Aptos"/>
                <a:cs typeface="Aptos"/>
              </a:defRPr>
            </a:pPr>
            <a:r>
              <a:rPr sz="1425" b="0">
                <a:solidFill>
                  <a:srgbClr val="F8FAFC"/>
                </a:solidFill>
                <a:latin typeface="Aptos"/>
                <a:ea typeface="Aptos"/>
                <a:cs typeface="Aptos"/>
              </a:rPr>
              <a:t>Previous and current evidence</a:t>
            </a:r>
          </a:p>
          <a:p xmlns:a="http://schemas.openxmlformats.org/drawingml/2006/main">
            <a:r>
              <a:t/>
            </a:r>
          </a:p>
          <a:p xmlns:a="http://schemas.openxmlformats.org/drawingml/2006/main">
            <a:pPr>
              <a:defRPr sz="1425" b="0">
                <a:solidFill>
                  <a:srgbClr val="F8FAFC"/>
                </a:solidFill>
                <a:latin typeface="Aptos"/>
                <a:ea typeface="Aptos"/>
                <a:cs typeface="Aptos"/>
              </a:defRPr>
            </a:pPr>
            <a:r>
              <a:rPr sz="1425" b="0">
                <a:solidFill>
                  <a:srgbClr val="F8FAFC"/>
                </a:solidFill>
                <a:latin typeface="Aptos"/>
                <a:ea typeface="Aptos"/>
                <a:cs typeface="Aptos"/>
              </a:rPr>
              <a:t>Factor weight and evidence confidence</a:t>
            </a:r>
          </a:p>
          <a:p xmlns:a="http://schemas.openxmlformats.org/drawingml/2006/main">
            <a:r>
              <a:t/>
            </a:r>
          </a:p>
          <a:p xmlns:a="http://schemas.openxmlformats.org/drawingml/2006/main">
            <a:pPr>
              <a:defRPr sz="1425" b="0">
                <a:solidFill>
                  <a:srgbClr val="F8FAFC"/>
                </a:solidFill>
                <a:latin typeface="Aptos"/>
                <a:ea typeface="Aptos"/>
                <a:cs typeface="Aptos"/>
              </a:defRPr>
            </a:pPr>
            <a:r>
              <a:rPr sz="1425" b="0">
                <a:solidFill>
                  <a:srgbClr val="F8FAFC"/>
                </a:solidFill>
                <a:latin typeface="Aptos"/>
                <a:ea typeface="Aptos"/>
                <a:cs typeface="Aptos"/>
              </a:rPr>
              <a:t>Unavailable evidence shown honestly</a:t>
            </a:r>
          </a:p>
        </p:txBody>
      </p:sp>
      <p:sp>
        <p:nvSpPr>
          <p:cNvPr id="11" name="">
            <a:extLst xmlns:a="http://schemas.openxmlformats.org/drawingml/2006/main">
              <a:ext uri="{FF2B5EF4-FFF2-40B4-BE49-F238E27FC236}">
                <a16:creationId xmlns:a16="http://schemas.microsoft.com/office/drawing/2014/main" id="{2C2EBABC-295E-4DE1-BB1B-F07FA4BCE024}"/>
              </a:ext>
            </a:extLst>
          </p:cNvPr>
          <p:cNvSpPr>
            <a:spLocks xmlns:a="http://schemas.openxmlformats.org/drawingml/2006/main" noGrp="1"/>
          </p:cNvSpPr>
          <p:nvPr/>
        </p:nvSpPr>
        <p:spPr>
          <a:xfrm xmlns:a="http://schemas.openxmlformats.org/drawingml/2006/main">
            <a:off x="6286500" y="6858000"/>
            <a:ext cx="3333750" cy="1143000"/>
          </a:xfrm>
          <a:prstGeom xmlns:a="http://schemas.openxmlformats.org/drawingml/2006/main" prst="roundRect">
            <a:avLst>
              <a:gd name="adj" fmla="val 11667"/>
            </a:avLst>
          </a:prstGeom>
          <a:solidFill xmlns:a="http://schemas.openxmlformats.org/drawingml/2006/main">
            <a:srgbClr val="0D2430"/>
          </a:solidFill>
          <a:ln xmlns:a="http://schemas.openxmlformats.org/drawingml/2006/main" w="9525">
            <a:solidFill>
              <a:srgbClr val="E7B640"/>
            </a:solidFill>
          </a:ln>
        </p:spPr>
      </p:sp>
      <p:sp>
        <p:nvSpPr>
          <p:cNvPr id="12" name="">
            <a:extLst xmlns:a="http://schemas.openxmlformats.org/drawingml/2006/main">
              <a:ext uri="{FF2B5EF4-FFF2-40B4-BE49-F238E27FC236}">
                <a16:creationId xmlns:a16="http://schemas.microsoft.com/office/drawing/2014/main" id="{B608275B-55BF-49A2-B00F-DF6C0EB97669}"/>
              </a:ext>
            </a:extLst>
          </p:cNvPr>
          <p:cNvSpPr>
            <a:spLocks xmlns:a="http://schemas.openxmlformats.org/drawingml/2006/main" noGrp="1"/>
          </p:cNvSpPr>
          <p:nvPr/>
        </p:nvSpPr>
        <p:spPr>
          <a:xfrm xmlns:a="http://schemas.openxmlformats.org/drawingml/2006/main">
            <a:off x="6572250" y="7143750"/>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7B640"/>
                </a:solidFill>
                <a:latin typeface="Aptos"/>
                <a:ea typeface="Aptos"/>
                <a:cs typeface="Aptos"/>
              </a:defRPr>
            </a:pPr>
            <a:r>
              <a:rPr sz="1350" b="1">
                <a:solidFill>
                  <a:srgbClr val="E7B640"/>
                </a:solidFill>
                <a:latin typeface="Aptos"/>
                <a:ea typeface="Aptos"/>
                <a:cs typeface="Aptos"/>
              </a:rPr>
              <a:t>When evidence is too thin, the on-screen report remains available but the PDF is withheld.</a:t>
            </a:r>
          </a:p>
        </p:txBody>
      </p:sp>
    </p:spTree>
    <p:extLst>
      <p:ext uri="{BB962C8B-B14F-4D97-AF65-F5344CB8AC3E}">
        <p14:creationId xmlns:p14="http://schemas.microsoft.com/office/powerpoint/2010/main" val="1822278463"/>
      </p:ext>
    </p:extLst>
  </p:cSld>
</p:sld>
</file>

<file path=ppt/slides/slide8.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8A2DAA-C317-4BEB-89D7-D6C2ECB5447D}"/>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B7EE51-6BFC-4F52-B04E-71C6619CB25F}"/>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C6226F12-9F42-40B7-8286-D06E90E10B30}"/>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Deep Dive handoff</a:t>
            </a:r>
          </a:p>
        </p:txBody>
      </p:sp>
      <p:sp>
        <p:nvSpPr>
          <p:cNvPr id="4" name="">
            <a:extLst xmlns:a="http://schemas.openxmlformats.org/drawingml/2006/main">
              <a:ext uri="{FF2B5EF4-FFF2-40B4-BE49-F238E27FC236}">
                <a16:creationId xmlns:a16="http://schemas.microsoft.com/office/drawing/2014/main" id="{D0147D54-661B-4954-A0F8-D3813F363F1D}"/>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The chosen company carries from the BMS tracker into the broader AlphaSynth research workflow.</a:t>
            </a:r>
          </a:p>
        </p:txBody>
      </p:sp>
      <p:sp>
        <p:nvSpPr>
          <p:cNvPr id="5" name="">
            <a:extLst xmlns:a="http://schemas.openxmlformats.org/drawingml/2006/main">
              <a:ext uri="{FF2B5EF4-FFF2-40B4-BE49-F238E27FC236}">
                <a16:creationId xmlns:a16="http://schemas.microsoft.com/office/drawing/2014/main" id="{433981BA-2B21-4E37-82F8-2AE5BA349F1D}"/>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B7AD2C11-C3DC-48B7-8078-51AE91D9EBC9}"/>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08</a:t>
            </a:r>
          </a:p>
        </p:txBody>
      </p:sp>
      <p:sp>
        <p:nvSpPr>
          <p:cNvPr id="7" name="">
            <a:extLst xmlns:a="http://schemas.openxmlformats.org/drawingml/2006/main">
              <a:ext uri="{FF2B5EF4-FFF2-40B4-BE49-F238E27FC236}">
                <a16:creationId xmlns:a16="http://schemas.microsoft.com/office/drawing/2014/main" id="{214AC3D1-4519-41DF-BE55-794AFCA279A1}"/>
              </a:ext>
            </a:extLst>
          </p:cNvPr>
          <p:cNvSpPr>
            <a:spLocks xmlns:a="http://schemas.openxmlformats.org/drawingml/2006/main" noGrp="1"/>
          </p:cNvSpPr>
          <p:nvPr/>
        </p:nvSpPr>
        <p:spPr>
          <a:xfrm xmlns:a="http://schemas.openxmlformats.org/drawingml/2006/main">
            <a:off x="457200" y="2257425"/>
            <a:ext cx="9372600" cy="6343650"/>
          </a:xfrm>
          <a:prstGeom xmlns:a="http://schemas.openxmlformats.org/drawingml/2006/main" prst="roundRect">
            <a:avLst>
              <a:gd name="adj" fmla="val 1952"/>
            </a:avLst>
          </a:prstGeom>
          <a:solidFill xmlns:a="http://schemas.openxmlformats.org/drawingml/2006/main">
            <a:srgbClr val="0A1220"/>
          </a:solidFill>
          <a:ln xmlns:a="http://schemas.openxmlformats.org/drawingml/2006/main" w="9525">
            <a:solidFill>
              <a:srgbClr val="33445F"/>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0d966918e004efd"/>
          <a:stretch xmlns:a="http://schemas.openxmlformats.org/drawingml/2006/main"/>
        </p:blipFill>
        <p:spPr>
          <a:xfrm xmlns:a="http://schemas.openxmlformats.org/drawingml/2006/main">
            <a:off x="928181" y="2333625"/>
            <a:ext cx="8430638" cy="619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6F56688-EBBA-4141-B9E5-05531B3828E7}"/>
              </a:ext>
            </a:extLst>
          </p:cNvPr>
          <p:cNvSpPr>
            <a:spLocks xmlns:a="http://schemas.openxmlformats.org/drawingml/2006/main" noGrp="1"/>
          </p:cNvSpPr>
          <p:nvPr/>
        </p:nvSpPr>
        <p:spPr>
          <a:xfrm xmlns:a="http://schemas.openxmlformats.org/drawingml/2006/main">
            <a:off x="685800" y="87249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A deliberate next step</a:t>
            </a:r>
          </a:p>
        </p:txBody>
      </p:sp>
      <p:sp>
        <p:nvSpPr>
          <p:cNvPr id="10" name="">
            <a:extLst xmlns:a="http://schemas.openxmlformats.org/drawingml/2006/main">
              <a:ext uri="{FF2B5EF4-FFF2-40B4-BE49-F238E27FC236}">
                <a16:creationId xmlns:a16="http://schemas.microsoft.com/office/drawing/2014/main" id="{E0019B79-9BE9-4826-BFB3-60C36E551AE5}"/>
              </a:ext>
            </a:extLst>
          </p:cNvPr>
          <p:cNvSpPr>
            <a:spLocks xmlns:a="http://schemas.openxmlformats.org/drawingml/2006/main" noGrp="1"/>
          </p:cNvSpPr>
          <p:nvPr/>
        </p:nvSpPr>
        <p:spPr>
          <a:xfrm xmlns:a="http://schemas.openxmlformats.org/drawingml/2006/main">
            <a:off x="3352800" y="8686800"/>
            <a:ext cx="624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DEA"/>
                </a:solidFill>
                <a:latin typeface="Aptos"/>
                <a:ea typeface="Aptos"/>
                <a:cs typeface="Aptos"/>
              </a:defRPr>
            </a:pPr>
            <a:r>
              <a:rPr sz="1275" b="0">
                <a:solidFill>
                  <a:srgbClr val="D4DDEA"/>
                </a:solidFill>
                <a:latin typeface="Aptos"/>
                <a:ea typeface="Aptos"/>
                <a:cs typeface="Aptos"/>
              </a:rPr>
              <a:t>The user decides whether the signal deserves a fuller company review. Deep Dive covers a broader universe, including additional small and mid-cap companies when data is available.</a:t>
            </a:r>
          </a:p>
        </p:txBody>
      </p:sp>
    </p:spTree>
    <p:extLst>
      <p:ext uri="{BB962C8B-B14F-4D97-AF65-F5344CB8AC3E}">
        <p14:creationId xmlns:p14="http://schemas.microsoft.com/office/powerpoint/2010/main" val="459890881"/>
      </p:ext>
    </p:extLst>
  </p:cSld>
</p:sld>
</file>

<file path=ppt/slides/slide9.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E41268-EC76-4E11-AB5D-2178C0A41862}"/>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37CCC0-AD53-44B8-AA8A-001ADEDE8C82}"/>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2A4AC7A9-B4C9-4488-A427-F91BC4AF79D0}"/>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Broader company review</a:t>
            </a:r>
          </a:p>
        </p:txBody>
      </p:sp>
      <p:sp>
        <p:nvSpPr>
          <p:cNvPr id="4" name="">
            <a:extLst xmlns:a="http://schemas.openxmlformats.org/drawingml/2006/main">
              <a:ext uri="{FF2B5EF4-FFF2-40B4-BE49-F238E27FC236}">
                <a16:creationId xmlns:a16="http://schemas.microsoft.com/office/drawing/2014/main" id="{F475E655-1363-4D20-9B0D-875E67C02FBC}"/>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The full report adds company context, risks and an independent check against the recorded BMS direction.</a:t>
            </a:r>
          </a:p>
        </p:txBody>
      </p:sp>
      <p:sp>
        <p:nvSpPr>
          <p:cNvPr id="5" name="">
            <a:extLst xmlns:a="http://schemas.openxmlformats.org/drawingml/2006/main">
              <a:ext uri="{FF2B5EF4-FFF2-40B4-BE49-F238E27FC236}">
                <a16:creationId xmlns:a16="http://schemas.microsoft.com/office/drawing/2014/main" id="{3E7142A7-6F93-4824-A1CB-A76A9E76A0E2}"/>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98C9E1BE-2AC6-465A-A946-028B676E7769}"/>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09</a:t>
            </a:r>
          </a:p>
        </p:txBody>
      </p:sp>
      <p:sp>
        <p:nvSpPr>
          <p:cNvPr id="7" name="">
            <a:extLst xmlns:a="http://schemas.openxmlformats.org/drawingml/2006/main">
              <a:ext uri="{FF2B5EF4-FFF2-40B4-BE49-F238E27FC236}">
                <a16:creationId xmlns:a16="http://schemas.microsoft.com/office/drawing/2014/main" id="{270C9F94-8C95-4C95-9622-4C225BA6336D}"/>
              </a:ext>
            </a:extLst>
          </p:cNvPr>
          <p:cNvSpPr>
            <a:spLocks xmlns:a="http://schemas.openxmlformats.org/drawingml/2006/main" noGrp="1"/>
          </p:cNvSpPr>
          <p:nvPr/>
        </p:nvSpPr>
        <p:spPr>
          <a:xfrm xmlns:a="http://schemas.openxmlformats.org/drawingml/2006/main">
            <a:off x="457200" y="2257425"/>
            <a:ext cx="9372600" cy="6343650"/>
          </a:xfrm>
          <a:prstGeom xmlns:a="http://schemas.openxmlformats.org/drawingml/2006/main" prst="roundRect">
            <a:avLst>
              <a:gd name="adj" fmla="val 1952"/>
            </a:avLst>
          </a:prstGeom>
          <a:solidFill xmlns:a="http://schemas.openxmlformats.org/drawingml/2006/main">
            <a:srgbClr val="0A1220"/>
          </a:solidFill>
          <a:ln xmlns:a="http://schemas.openxmlformats.org/drawingml/2006/main" w="9525">
            <a:solidFill>
              <a:srgbClr val="33445F"/>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1cdb046e6514550"/>
          <a:stretch xmlns:a="http://schemas.openxmlformats.org/drawingml/2006/main"/>
        </p:blipFill>
        <p:spPr>
          <a:xfrm xmlns:a="http://schemas.openxmlformats.org/drawingml/2006/main">
            <a:off x="1379501" y="2333625"/>
            <a:ext cx="7527997" cy="619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D650B6A-63F2-4317-9265-7B639D55967A}"/>
              </a:ext>
            </a:extLst>
          </p:cNvPr>
          <p:cNvSpPr>
            <a:spLocks xmlns:a="http://schemas.openxmlformats.org/drawingml/2006/main" noGrp="1"/>
          </p:cNvSpPr>
          <p:nvPr/>
        </p:nvSpPr>
        <p:spPr>
          <a:xfrm xmlns:a="http://schemas.openxmlformats.org/drawingml/2006/main">
            <a:off x="685800" y="87249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Two readings stay separate</a:t>
            </a:r>
          </a:p>
        </p:txBody>
      </p:sp>
      <p:sp>
        <p:nvSpPr>
          <p:cNvPr id="10" name="">
            <a:extLst xmlns:a="http://schemas.openxmlformats.org/drawingml/2006/main">
              <a:ext uri="{FF2B5EF4-FFF2-40B4-BE49-F238E27FC236}">
                <a16:creationId xmlns:a16="http://schemas.microsoft.com/office/drawing/2014/main" id="{BC386CB7-BC1A-40CC-90F0-934D2F1E5F37}"/>
              </a:ext>
            </a:extLst>
          </p:cNvPr>
          <p:cNvSpPr>
            <a:spLocks xmlns:a="http://schemas.openxmlformats.org/drawingml/2006/main" noGrp="1"/>
          </p:cNvSpPr>
          <p:nvPr/>
        </p:nvSpPr>
        <p:spPr>
          <a:xfrm xmlns:a="http://schemas.openxmlformats.org/drawingml/2006/main">
            <a:off x="3352800" y="8686800"/>
            <a:ext cx="624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DEA"/>
                </a:solidFill>
                <a:latin typeface="Aptos"/>
                <a:ea typeface="Aptos"/>
                <a:cs typeface="Aptos"/>
              </a:defRPr>
            </a:pPr>
            <a:r>
              <a:rPr sz="1275" b="0">
                <a:solidFill>
                  <a:srgbClr val="D4DDEA"/>
                </a:solidFill>
                <a:latin typeface="Aptos"/>
                <a:ea typeface="Aptos"/>
                <a:cs typeface="Aptos"/>
              </a:rPr>
              <a:t>BMS preserves the multi-quarter momentum record. Deep Dive examines the company using the latest evidence and states whether that evidence supports or challenges the earlier direction.</a:t>
            </a:r>
          </a:p>
        </p:txBody>
      </p:sp>
    </p:spTree>
    <p:extLst>
      <p:ext uri="{BB962C8B-B14F-4D97-AF65-F5344CB8AC3E}">
        <p14:creationId xmlns:p14="http://schemas.microsoft.com/office/powerpoint/2010/main" val="1677201703"/>
      </p:ext>
    </p:extLst>
  </p:cSld>
</p:sld>
</file>

<file path=ppt/slides/slide10.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7ED4BF-DE37-4A06-9BF0-9EB893188ADC}"/>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78BA90-B5B5-473F-88C4-7D24DE25A6BE}"/>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903FFA81-A951-4025-8298-9C24842DAE3B}"/>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Earnings and management commentary</a:t>
            </a:r>
          </a:p>
        </p:txBody>
      </p:sp>
      <p:sp>
        <p:nvSpPr>
          <p:cNvPr id="4" name="">
            <a:extLst xmlns:a="http://schemas.openxmlformats.org/drawingml/2006/main">
              <a:ext uri="{FF2B5EF4-FFF2-40B4-BE49-F238E27FC236}">
                <a16:creationId xmlns:a16="http://schemas.microsoft.com/office/drawing/2014/main" id="{9AFBF586-AFD8-4998-A3F4-2359007AB9CC}"/>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The earnings view brings quarterly results, management statements and analyst questions into one review.</a:t>
            </a:r>
          </a:p>
        </p:txBody>
      </p:sp>
      <p:sp>
        <p:nvSpPr>
          <p:cNvPr id="5" name="">
            <a:extLst xmlns:a="http://schemas.openxmlformats.org/drawingml/2006/main">
              <a:ext uri="{FF2B5EF4-FFF2-40B4-BE49-F238E27FC236}">
                <a16:creationId xmlns:a16="http://schemas.microsoft.com/office/drawing/2014/main" id="{C0192731-912B-41D2-A7D1-18A6ED5C2B0F}"/>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BCBC7A28-422E-42C7-B598-7061A41B28A6}"/>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61D67465-C112-4044-A98A-8483632F665E}"/>
              </a:ext>
            </a:extLst>
          </p:cNvPr>
          <p:cNvSpPr>
            <a:spLocks xmlns:a="http://schemas.openxmlformats.org/drawingml/2006/main" noGrp="1"/>
          </p:cNvSpPr>
          <p:nvPr/>
        </p:nvSpPr>
        <p:spPr>
          <a:xfrm xmlns:a="http://schemas.openxmlformats.org/drawingml/2006/main">
            <a:off x="457200" y="2257425"/>
            <a:ext cx="9372600" cy="6343650"/>
          </a:xfrm>
          <a:prstGeom xmlns:a="http://schemas.openxmlformats.org/drawingml/2006/main" prst="roundRect">
            <a:avLst>
              <a:gd name="adj" fmla="val 1952"/>
            </a:avLst>
          </a:prstGeom>
          <a:solidFill xmlns:a="http://schemas.openxmlformats.org/drawingml/2006/main">
            <a:srgbClr val="0A1220"/>
          </a:solidFill>
          <a:ln xmlns:a="http://schemas.openxmlformats.org/drawingml/2006/main" w="9525">
            <a:solidFill>
              <a:srgbClr val="33445F"/>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2b37b00ea504d17"/>
          <a:stretch xmlns:a="http://schemas.openxmlformats.org/drawingml/2006/main"/>
        </p:blipFill>
        <p:spPr>
          <a:xfrm xmlns:a="http://schemas.openxmlformats.org/drawingml/2006/main">
            <a:off x="1379501" y="2333625"/>
            <a:ext cx="7527997" cy="619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D4F9BA0-D962-4A7D-8821-819906153B57}"/>
              </a:ext>
            </a:extLst>
          </p:cNvPr>
          <p:cNvSpPr>
            <a:spLocks xmlns:a="http://schemas.openxmlformats.org/drawingml/2006/main" noGrp="1"/>
          </p:cNvSpPr>
          <p:nvPr/>
        </p:nvSpPr>
        <p:spPr>
          <a:xfrm xmlns:a="http://schemas.openxmlformats.org/drawingml/2006/main">
            <a:off x="685800" y="87249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A history-dependent score</a:t>
            </a:r>
          </a:p>
        </p:txBody>
      </p:sp>
      <p:sp>
        <p:nvSpPr>
          <p:cNvPr id="10" name="">
            <a:extLst xmlns:a="http://schemas.openxmlformats.org/drawingml/2006/main">
              <a:ext uri="{FF2B5EF4-FFF2-40B4-BE49-F238E27FC236}">
                <a16:creationId xmlns:a16="http://schemas.microsoft.com/office/drawing/2014/main" id="{A3213DB0-10DA-4C53-ABAD-1C3EB1DED5C0}"/>
              </a:ext>
            </a:extLst>
          </p:cNvPr>
          <p:cNvSpPr>
            <a:spLocks xmlns:a="http://schemas.openxmlformats.org/drawingml/2006/main" noGrp="1"/>
          </p:cNvSpPr>
          <p:nvPr/>
        </p:nvSpPr>
        <p:spPr>
          <a:xfrm xmlns:a="http://schemas.openxmlformats.org/drawingml/2006/main">
            <a:off x="3352800" y="8686800"/>
            <a:ext cx="624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DEA"/>
                </a:solidFill>
                <a:latin typeface="Aptos"/>
                <a:ea typeface="Aptos"/>
                <a:cs typeface="Aptos"/>
              </a:defRPr>
            </a:pPr>
            <a:r>
              <a:rPr sz="1275" b="0">
                <a:solidFill>
                  <a:srgbClr val="D4DDEA"/>
                </a:solidFill>
                <a:latin typeface="Aptos"/>
                <a:ea typeface="Aptos"/>
                <a:cs typeface="Aptos"/>
              </a:rPr>
              <a:t>Management reliability should appear only after enough dated commitments have matured and can be checked against reported outcomes. Otherwise the app shows insufficient history.</a:t>
            </a:r>
          </a:p>
        </p:txBody>
      </p:sp>
    </p:spTree>
    <p:extLst>
      <p:ext uri="{BB962C8B-B14F-4D97-AF65-F5344CB8AC3E}">
        <p14:creationId xmlns:p14="http://schemas.microsoft.com/office/powerpoint/2010/main" val="1166905209"/>
      </p:ext>
    </p:extLst>
  </p:cSld>
</p:sld>
</file>

<file path=ppt/slides/slide11.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AD4881-36DB-4AAA-92D7-27282D93440B}"/>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18B5C4-B490-4B17-8211-B0E46B9007AF}"/>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175E3264-D004-42B2-92F7-440ADFA06125}"/>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Explain the Move</a:t>
            </a:r>
          </a:p>
        </p:txBody>
      </p:sp>
      <p:sp>
        <p:nvSpPr>
          <p:cNvPr id="4" name="">
            <a:extLst xmlns:a="http://schemas.openxmlformats.org/drawingml/2006/main">
              <a:ext uri="{FF2B5EF4-FFF2-40B4-BE49-F238E27FC236}">
                <a16:creationId xmlns:a16="http://schemas.microsoft.com/office/drawing/2014/main" id="{7B536D95-E8AB-4DC2-AA8A-540156ED14BA}"/>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This research view asks what public catalysts and market context may explain a recent price move.</a:t>
            </a:r>
          </a:p>
        </p:txBody>
      </p:sp>
      <p:sp>
        <p:nvSpPr>
          <p:cNvPr id="5" name="">
            <a:extLst xmlns:a="http://schemas.openxmlformats.org/drawingml/2006/main">
              <a:ext uri="{FF2B5EF4-FFF2-40B4-BE49-F238E27FC236}">
                <a16:creationId xmlns:a16="http://schemas.microsoft.com/office/drawing/2014/main" id="{DBC37DCB-CE90-4AA2-BF60-ECF4F2E03F6C}"/>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87B2C08D-1C80-418F-82C9-4DF373E01F1D}"/>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11</a:t>
            </a:r>
          </a:p>
        </p:txBody>
      </p:sp>
      <p:sp>
        <p:nvSpPr>
          <p:cNvPr id="7" name="">
            <a:extLst xmlns:a="http://schemas.openxmlformats.org/drawingml/2006/main">
              <a:ext uri="{FF2B5EF4-FFF2-40B4-BE49-F238E27FC236}">
                <a16:creationId xmlns:a16="http://schemas.microsoft.com/office/drawing/2014/main" id="{FCC59165-77B1-4062-A8B5-BE54EEB5871B}"/>
              </a:ext>
            </a:extLst>
          </p:cNvPr>
          <p:cNvSpPr>
            <a:spLocks xmlns:a="http://schemas.openxmlformats.org/drawingml/2006/main" noGrp="1"/>
          </p:cNvSpPr>
          <p:nvPr/>
        </p:nvSpPr>
        <p:spPr>
          <a:xfrm xmlns:a="http://schemas.openxmlformats.org/drawingml/2006/main">
            <a:off x="457200" y="2352675"/>
            <a:ext cx="9372600" cy="5772150"/>
          </a:xfrm>
          <a:prstGeom xmlns:a="http://schemas.openxmlformats.org/drawingml/2006/main" prst="roundRect">
            <a:avLst>
              <a:gd name="adj" fmla="val 2145"/>
            </a:avLst>
          </a:prstGeom>
          <a:solidFill xmlns:a="http://schemas.openxmlformats.org/drawingml/2006/main">
            <a:srgbClr val="0A1220"/>
          </a:solidFill>
          <a:ln xmlns:a="http://schemas.openxmlformats.org/drawingml/2006/main" w="9525">
            <a:solidFill>
              <a:srgbClr val="33445F"/>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b204588e53245bb"/>
          <a:stretch xmlns:a="http://schemas.openxmlformats.org/drawingml/2006/main"/>
        </p:blipFill>
        <p:spPr>
          <a:xfrm xmlns:a="http://schemas.openxmlformats.org/drawingml/2006/main">
            <a:off x="533400" y="2438222"/>
            <a:ext cx="9220200" cy="5601056"/>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8F219D2-816C-4436-A29C-FC1AC5B091F1}"/>
              </a:ext>
            </a:extLst>
          </p:cNvPr>
          <p:cNvSpPr>
            <a:spLocks xmlns:a="http://schemas.openxmlformats.org/drawingml/2006/main" noGrp="1"/>
          </p:cNvSpPr>
          <p:nvPr/>
        </p:nvSpPr>
        <p:spPr>
          <a:xfrm xmlns:a="http://schemas.openxmlformats.org/drawingml/2006/main">
            <a:off x="685800" y="87249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Evidence before labels</a:t>
            </a:r>
          </a:p>
        </p:txBody>
      </p:sp>
      <p:sp>
        <p:nvSpPr>
          <p:cNvPr id="10" name="">
            <a:extLst xmlns:a="http://schemas.openxmlformats.org/drawingml/2006/main">
              <a:ext uri="{FF2B5EF4-FFF2-40B4-BE49-F238E27FC236}">
                <a16:creationId xmlns:a16="http://schemas.microsoft.com/office/drawing/2014/main" id="{E76D3B73-0A29-4E37-BF15-36FD5219475F}"/>
              </a:ext>
            </a:extLst>
          </p:cNvPr>
          <p:cNvSpPr>
            <a:spLocks xmlns:a="http://schemas.openxmlformats.org/drawingml/2006/main" noGrp="1"/>
          </p:cNvSpPr>
          <p:nvPr/>
        </p:nvSpPr>
        <p:spPr>
          <a:xfrm xmlns:a="http://schemas.openxmlformats.org/drawingml/2006/main">
            <a:off x="3352800" y="8686800"/>
            <a:ext cx="624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DEA"/>
                </a:solidFill>
                <a:latin typeface="Aptos"/>
                <a:ea typeface="Aptos"/>
                <a:cs typeface="Aptos"/>
              </a:defRPr>
            </a:pPr>
            <a:r>
              <a:rPr sz="1275" b="0">
                <a:solidFill>
                  <a:srgbClr val="D4DDEA"/>
                </a:solidFill>
                <a:latin typeface="Aptos"/>
                <a:ea typeface="Aptos"/>
                <a:cs typeface="Aptos"/>
              </a:rPr>
              <a:t>The final code removes the previous fixed RSI, delivery-ratio and breakout cards. The screen now relies on retrieved report evidence instead of reusable placeholder values.</a:t>
            </a:r>
          </a:p>
        </p:txBody>
      </p:sp>
    </p:spTree>
    <p:extLst>
      <p:ext uri="{BB962C8B-B14F-4D97-AF65-F5344CB8AC3E}">
        <p14:creationId xmlns:p14="http://schemas.microsoft.com/office/powerpoint/2010/main" val="384624993"/>
      </p:ext>
    </p:extLst>
  </p:cSld>
</p:sld>
</file>

<file path=ppt/slides/slide12.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8B9A10F-6673-4D46-B494-B0621E1AB4AD}"/>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59ED66-128F-4EC0-988E-8CE872DB8D00}"/>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0993E140-2680-4CC9-A892-5D5139FF36C9}"/>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Filings and management commentary</a:t>
            </a:r>
          </a:p>
        </p:txBody>
      </p:sp>
      <p:sp>
        <p:nvSpPr>
          <p:cNvPr id="4" name="">
            <a:extLst xmlns:a="http://schemas.openxmlformats.org/drawingml/2006/main">
              <a:ext uri="{FF2B5EF4-FFF2-40B4-BE49-F238E27FC236}">
                <a16:creationId xmlns:a16="http://schemas.microsoft.com/office/drawing/2014/main" id="{088C4EE1-4792-4D4B-B01E-8ADECB7B4121}"/>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The filings view reviews dated disclosures and tracks whether management language changes over time.</a:t>
            </a:r>
          </a:p>
        </p:txBody>
      </p:sp>
      <p:sp>
        <p:nvSpPr>
          <p:cNvPr id="5" name="">
            <a:extLst xmlns:a="http://schemas.openxmlformats.org/drawingml/2006/main">
              <a:ext uri="{FF2B5EF4-FFF2-40B4-BE49-F238E27FC236}">
                <a16:creationId xmlns:a16="http://schemas.microsoft.com/office/drawing/2014/main" id="{5D7FC756-A629-46B4-9C1E-B658C87D0320}"/>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0D75E2D0-A244-409F-ABF2-968AA4558166}"/>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12</a:t>
            </a:r>
          </a:p>
        </p:txBody>
      </p:sp>
      <p:sp>
        <p:nvSpPr>
          <p:cNvPr id="7" name="">
            <a:extLst xmlns:a="http://schemas.openxmlformats.org/drawingml/2006/main">
              <a:ext uri="{FF2B5EF4-FFF2-40B4-BE49-F238E27FC236}">
                <a16:creationId xmlns:a16="http://schemas.microsoft.com/office/drawing/2014/main" id="{0990DC7F-BC54-4EA0-80E3-D416CCA8D19E}"/>
              </a:ext>
            </a:extLst>
          </p:cNvPr>
          <p:cNvSpPr>
            <a:spLocks xmlns:a="http://schemas.openxmlformats.org/drawingml/2006/main" noGrp="1"/>
          </p:cNvSpPr>
          <p:nvPr/>
        </p:nvSpPr>
        <p:spPr>
          <a:xfrm xmlns:a="http://schemas.openxmlformats.org/drawingml/2006/main">
            <a:off x="666750" y="2857500"/>
            <a:ext cx="4238625" cy="1809750"/>
          </a:xfrm>
          <a:prstGeom xmlns:a="http://schemas.openxmlformats.org/drawingml/2006/main" prst="roundRect">
            <a:avLst>
              <a:gd name="adj" fmla="val 8421"/>
            </a:avLst>
          </a:prstGeom>
          <a:solidFill xmlns:a="http://schemas.openxmlformats.org/drawingml/2006/main">
            <a:srgbClr val="111B2D"/>
          </a:solidFill>
          <a:ln xmlns:a="http://schemas.openxmlformats.org/drawingml/2006/main" w="9525">
            <a:solidFill>
              <a:srgbClr val="33445F"/>
            </a:solidFill>
          </a:ln>
        </p:spPr>
      </p:sp>
      <p:sp>
        <p:nvSpPr>
          <p:cNvPr id="8" name="">
            <a:extLst xmlns:a="http://schemas.openxmlformats.org/drawingml/2006/main">
              <a:ext uri="{FF2B5EF4-FFF2-40B4-BE49-F238E27FC236}">
                <a16:creationId xmlns:a16="http://schemas.microsoft.com/office/drawing/2014/main" id="{A750457C-69D4-4B70-8689-97BC4696B5ED}"/>
              </a:ext>
            </a:extLst>
          </p:cNvPr>
          <p:cNvSpPr>
            <a:spLocks xmlns:a="http://schemas.openxmlformats.org/drawingml/2006/main" noGrp="1"/>
          </p:cNvSpPr>
          <p:nvPr/>
        </p:nvSpPr>
        <p:spPr>
          <a:xfrm xmlns:a="http://schemas.openxmlformats.org/drawingml/2006/main">
            <a:off x="666750" y="2857500"/>
            <a:ext cx="66675" cy="18097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F68EFA3-72B0-4CB5-A247-2DC9424EA6C2}"/>
              </a:ext>
            </a:extLst>
          </p:cNvPr>
          <p:cNvSpPr>
            <a:spLocks xmlns:a="http://schemas.openxmlformats.org/drawingml/2006/main" noGrp="1"/>
          </p:cNvSpPr>
          <p:nvPr/>
        </p:nvSpPr>
        <p:spPr>
          <a:xfrm xmlns:a="http://schemas.openxmlformats.org/drawingml/2006/main">
            <a:off x="952500" y="31242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7D9C8"/>
                </a:solidFill>
                <a:latin typeface="Aptos"/>
                <a:ea typeface="Aptos"/>
                <a:cs typeface="Aptos"/>
              </a:defRPr>
            </a:pPr>
            <a:r>
              <a:rPr sz="1650" b="1">
                <a:solidFill>
                  <a:srgbClr val="27D9C8"/>
                </a:solidFill>
                <a:latin typeface="Aptos"/>
                <a:ea typeface="Aptos"/>
                <a:cs typeface="Aptos"/>
              </a:rPr>
              <a:t>Transcript clarity</a:t>
            </a:r>
          </a:p>
        </p:txBody>
      </p:sp>
      <p:sp>
        <p:nvSpPr>
          <p:cNvPr id="10" name="">
            <a:extLst xmlns:a="http://schemas.openxmlformats.org/drawingml/2006/main">
              <a:ext uri="{FF2B5EF4-FFF2-40B4-BE49-F238E27FC236}">
                <a16:creationId xmlns:a16="http://schemas.microsoft.com/office/drawing/2014/main" id="{0D563C7F-152F-4D17-95EB-28473CF186CE}"/>
              </a:ext>
            </a:extLst>
          </p:cNvPr>
          <p:cNvSpPr>
            <a:spLocks xmlns:a="http://schemas.openxmlformats.org/drawingml/2006/main" noGrp="1"/>
          </p:cNvSpPr>
          <p:nvPr/>
        </p:nvSpPr>
        <p:spPr>
          <a:xfrm xmlns:a="http://schemas.openxmlformats.org/drawingml/2006/main">
            <a:off x="952500" y="361950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Did management answer material analyst questions directly?</a:t>
            </a:r>
          </a:p>
        </p:txBody>
      </p:sp>
      <p:sp>
        <p:nvSpPr>
          <p:cNvPr id="11" name="">
            <a:extLst xmlns:a="http://schemas.openxmlformats.org/drawingml/2006/main">
              <a:ext uri="{FF2B5EF4-FFF2-40B4-BE49-F238E27FC236}">
                <a16:creationId xmlns:a16="http://schemas.microsoft.com/office/drawing/2014/main" id="{9150FF22-C806-4E58-A8F5-86557E85D740}"/>
              </a:ext>
            </a:extLst>
          </p:cNvPr>
          <p:cNvSpPr>
            <a:spLocks xmlns:a="http://schemas.openxmlformats.org/drawingml/2006/main" noGrp="1"/>
          </p:cNvSpPr>
          <p:nvPr/>
        </p:nvSpPr>
        <p:spPr>
          <a:xfrm xmlns:a="http://schemas.openxmlformats.org/drawingml/2006/main">
            <a:off x="5381625" y="2857500"/>
            <a:ext cx="4238625" cy="1809750"/>
          </a:xfrm>
          <a:prstGeom xmlns:a="http://schemas.openxmlformats.org/drawingml/2006/main" prst="roundRect">
            <a:avLst>
              <a:gd name="adj" fmla="val 8421"/>
            </a:avLst>
          </a:prstGeom>
          <a:solidFill xmlns:a="http://schemas.openxmlformats.org/drawingml/2006/main">
            <a:srgbClr val="111B2D"/>
          </a:solidFill>
          <a:ln xmlns:a="http://schemas.openxmlformats.org/drawingml/2006/main" w="9525">
            <a:solidFill>
              <a:srgbClr val="33445F"/>
            </a:solidFill>
          </a:ln>
        </p:spPr>
      </p:sp>
      <p:sp>
        <p:nvSpPr>
          <p:cNvPr id="12" name="">
            <a:extLst xmlns:a="http://schemas.openxmlformats.org/drawingml/2006/main">
              <a:ext uri="{FF2B5EF4-FFF2-40B4-BE49-F238E27FC236}">
                <a16:creationId xmlns:a16="http://schemas.microsoft.com/office/drawing/2014/main" id="{55E835AF-1B62-4C92-93FC-13D0CAE30A02}"/>
              </a:ext>
            </a:extLst>
          </p:cNvPr>
          <p:cNvSpPr>
            <a:spLocks xmlns:a="http://schemas.openxmlformats.org/drawingml/2006/main" noGrp="1"/>
          </p:cNvSpPr>
          <p:nvPr/>
        </p:nvSpPr>
        <p:spPr>
          <a:xfrm xmlns:a="http://schemas.openxmlformats.org/drawingml/2006/main">
            <a:off x="5381625" y="2857500"/>
            <a:ext cx="66675" cy="1809750"/>
          </a:xfrm>
          <a:prstGeom xmlns:a="http://schemas.openxmlformats.org/drawingml/2006/main" prst="rect">
            <a:avLst/>
          </a:prstGeom>
          <a:solidFill xmlns:a="http://schemas.openxmlformats.org/drawingml/2006/main">
            <a:srgbClr val="67E0A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E7FDA1A-82AE-4306-BD3D-22B7576E7C4D}"/>
              </a:ext>
            </a:extLst>
          </p:cNvPr>
          <p:cNvSpPr>
            <a:spLocks xmlns:a="http://schemas.openxmlformats.org/drawingml/2006/main" noGrp="1"/>
          </p:cNvSpPr>
          <p:nvPr/>
        </p:nvSpPr>
        <p:spPr>
          <a:xfrm xmlns:a="http://schemas.openxmlformats.org/drawingml/2006/main">
            <a:off x="5667375" y="31242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7E0A1"/>
                </a:solidFill>
                <a:latin typeface="Aptos"/>
                <a:ea typeface="Aptos"/>
                <a:cs typeface="Aptos"/>
              </a:defRPr>
            </a:pPr>
            <a:r>
              <a:rPr sz="1650" b="1">
                <a:solidFill>
                  <a:srgbClr val="67E0A1"/>
                </a:solidFill>
                <a:latin typeface="Aptos"/>
                <a:ea typeface="Aptos"/>
                <a:cs typeface="Aptos"/>
              </a:rPr>
              <a:t>Disclosure completeness</a:t>
            </a:r>
          </a:p>
        </p:txBody>
      </p:sp>
      <p:sp>
        <p:nvSpPr>
          <p:cNvPr id="14" name="">
            <a:extLst xmlns:a="http://schemas.openxmlformats.org/drawingml/2006/main">
              <a:ext uri="{FF2B5EF4-FFF2-40B4-BE49-F238E27FC236}">
                <a16:creationId xmlns:a16="http://schemas.microsoft.com/office/drawing/2014/main" id="{34B98543-D816-4FA6-93C9-E107FBB255F5}"/>
              </a:ext>
            </a:extLst>
          </p:cNvPr>
          <p:cNvSpPr>
            <a:spLocks xmlns:a="http://schemas.openxmlformats.org/drawingml/2006/main" noGrp="1"/>
          </p:cNvSpPr>
          <p:nvPr/>
        </p:nvSpPr>
        <p:spPr>
          <a:xfrm xmlns:a="http://schemas.openxmlformats.org/drawingml/2006/main">
            <a:off x="5667375" y="361950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Are the required facts and periods available in dated filings?</a:t>
            </a:r>
          </a:p>
        </p:txBody>
      </p:sp>
      <p:sp>
        <p:nvSpPr>
          <p:cNvPr id="15" name="">
            <a:extLst xmlns:a="http://schemas.openxmlformats.org/drawingml/2006/main">
              <a:ext uri="{FF2B5EF4-FFF2-40B4-BE49-F238E27FC236}">
                <a16:creationId xmlns:a16="http://schemas.microsoft.com/office/drawing/2014/main" id="{721E16EB-E975-4D94-8F8B-8FFCE1EF5DF7}"/>
              </a:ext>
            </a:extLst>
          </p:cNvPr>
          <p:cNvSpPr>
            <a:spLocks xmlns:a="http://schemas.openxmlformats.org/drawingml/2006/main" noGrp="1"/>
          </p:cNvSpPr>
          <p:nvPr/>
        </p:nvSpPr>
        <p:spPr>
          <a:xfrm xmlns:a="http://schemas.openxmlformats.org/drawingml/2006/main">
            <a:off x="666750" y="5191125"/>
            <a:ext cx="4238625" cy="1809750"/>
          </a:xfrm>
          <a:prstGeom xmlns:a="http://schemas.openxmlformats.org/drawingml/2006/main" prst="roundRect">
            <a:avLst>
              <a:gd name="adj" fmla="val 8421"/>
            </a:avLst>
          </a:prstGeom>
          <a:solidFill xmlns:a="http://schemas.openxmlformats.org/drawingml/2006/main">
            <a:srgbClr val="111B2D"/>
          </a:solidFill>
          <a:ln xmlns:a="http://schemas.openxmlformats.org/drawingml/2006/main" w="9525">
            <a:solidFill>
              <a:srgbClr val="33445F"/>
            </a:solidFill>
          </a:ln>
        </p:spPr>
      </p:sp>
      <p:sp>
        <p:nvSpPr>
          <p:cNvPr id="16" name="">
            <a:extLst xmlns:a="http://schemas.openxmlformats.org/drawingml/2006/main">
              <a:ext uri="{FF2B5EF4-FFF2-40B4-BE49-F238E27FC236}">
                <a16:creationId xmlns:a16="http://schemas.microsoft.com/office/drawing/2014/main" id="{D663EEE1-F2EE-4FAB-8540-691D4A220605}"/>
              </a:ext>
            </a:extLst>
          </p:cNvPr>
          <p:cNvSpPr>
            <a:spLocks xmlns:a="http://schemas.openxmlformats.org/drawingml/2006/main" noGrp="1"/>
          </p:cNvSpPr>
          <p:nvPr/>
        </p:nvSpPr>
        <p:spPr>
          <a:xfrm xmlns:a="http://schemas.openxmlformats.org/drawingml/2006/main">
            <a:off x="666750" y="5191125"/>
            <a:ext cx="66675" cy="1809750"/>
          </a:xfrm>
          <a:prstGeom xmlns:a="http://schemas.openxmlformats.org/drawingml/2006/main" prst="rect">
            <a:avLst/>
          </a:prstGeom>
          <a:solidFill xmlns:a="http://schemas.openxmlformats.org/drawingml/2006/main">
            <a:srgbClr val="E7B64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081051E-80E7-4C13-8FD9-1D7CC25793AE}"/>
              </a:ext>
            </a:extLst>
          </p:cNvPr>
          <p:cNvSpPr>
            <a:spLocks xmlns:a="http://schemas.openxmlformats.org/drawingml/2006/main" noGrp="1"/>
          </p:cNvSpPr>
          <p:nvPr/>
        </p:nvSpPr>
        <p:spPr>
          <a:xfrm xmlns:a="http://schemas.openxmlformats.org/drawingml/2006/main">
            <a:off x="952500" y="54578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7B640"/>
                </a:solidFill>
                <a:latin typeface="Aptos"/>
                <a:ea typeface="Aptos"/>
                <a:cs typeface="Aptos"/>
              </a:defRPr>
            </a:pPr>
            <a:r>
              <a:rPr sz="1650" b="1">
                <a:solidFill>
                  <a:srgbClr val="E7B640"/>
                </a:solidFill>
                <a:latin typeface="Aptos"/>
                <a:ea typeface="Aptos"/>
                <a:cs typeface="Aptos"/>
              </a:rPr>
              <a:t>Guidance realism</a:t>
            </a:r>
          </a:p>
        </p:txBody>
      </p:sp>
      <p:sp>
        <p:nvSpPr>
          <p:cNvPr id="18" name="">
            <a:extLst xmlns:a="http://schemas.openxmlformats.org/drawingml/2006/main">
              <a:ext uri="{FF2B5EF4-FFF2-40B4-BE49-F238E27FC236}">
                <a16:creationId xmlns:a16="http://schemas.microsoft.com/office/drawing/2014/main" id="{5A5285B3-29DC-4F3D-80D1-EEB00A5DD65D}"/>
              </a:ext>
            </a:extLst>
          </p:cNvPr>
          <p:cNvSpPr>
            <a:spLocks xmlns:a="http://schemas.openxmlformats.org/drawingml/2006/main" noGrp="1"/>
          </p:cNvSpPr>
          <p:nvPr/>
        </p:nvSpPr>
        <p:spPr>
          <a:xfrm xmlns:a="http://schemas.openxmlformats.org/drawingml/2006/main">
            <a:off x="952500" y="5953125"/>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Are outlook statements measurable and consistent with later outcomes?</a:t>
            </a:r>
          </a:p>
        </p:txBody>
      </p:sp>
      <p:sp>
        <p:nvSpPr>
          <p:cNvPr id="19" name="">
            <a:extLst xmlns:a="http://schemas.openxmlformats.org/drawingml/2006/main">
              <a:ext uri="{FF2B5EF4-FFF2-40B4-BE49-F238E27FC236}">
                <a16:creationId xmlns:a16="http://schemas.microsoft.com/office/drawing/2014/main" id="{3DD01BF6-44CD-46B5-8324-040C7C54BFD3}"/>
              </a:ext>
            </a:extLst>
          </p:cNvPr>
          <p:cNvSpPr>
            <a:spLocks xmlns:a="http://schemas.openxmlformats.org/drawingml/2006/main" noGrp="1"/>
          </p:cNvSpPr>
          <p:nvPr/>
        </p:nvSpPr>
        <p:spPr>
          <a:xfrm xmlns:a="http://schemas.openxmlformats.org/drawingml/2006/main">
            <a:off x="5381625" y="5191125"/>
            <a:ext cx="4238625" cy="1809750"/>
          </a:xfrm>
          <a:prstGeom xmlns:a="http://schemas.openxmlformats.org/drawingml/2006/main" prst="roundRect">
            <a:avLst>
              <a:gd name="adj" fmla="val 8421"/>
            </a:avLst>
          </a:prstGeom>
          <a:solidFill xmlns:a="http://schemas.openxmlformats.org/drawingml/2006/main">
            <a:srgbClr val="111B2D"/>
          </a:solidFill>
          <a:ln xmlns:a="http://schemas.openxmlformats.org/drawingml/2006/main" w="9525">
            <a:solidFill>
              <a:srgbClr val="33445F"/>
            </a:solidFill>
          </a:ln>
        </p:spPr>
      </p:sp>
      <p:sp>
        <p:nvSpPr>
          <p:cNvPr id="20" name="">
            <a:extLst xmlns:a="http://schemas.openxmlformats.org/drawingml/2006/main">
              <a:ext uri="{FF2B5EF4-FFF2-40B4-BE49-F238E27FC236}">
                <a16:creationId xmlns:a16="http://schemas.microsoft.com/office/drawing/2014/main" id="{1B2ED33C-D384-4E1D-9445-EE7D01B63916}"/>
              </a:ext>
            </a:extLst>
          </p:cNvPr>
          <p:cNvSpPr>
            <a:spLocks xmlns:a="http://schemas.openxmlformats.org/drawingml/2006/main" noGrp="1"/>
          </p:cNvSpPr>
          <p:nvPr/>
        </p:nvSpPr>
        <p:spPr>
          <a:xfrm xmlns:a="http://schemas.openxmlformats.org/drawingml/2006/main">
            <a:off x="5381625" y="5191125"/>
            <a:ext cx="66675" cy="1809750"/>
          </a:xfrm>
          <a:prstGeom xmlns:a="http://schemas.openxmlformats.org/drawingml/2006/main" prst="rect">
            <a:avLst/>
          </a:prstGeom>
          <a:solidFill xmlns:a="http://schemas.openxmlformats.org/drawingml/2006/main">
            <a:srgbClr val="F4777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97D3D2D-27CF-42CE-BACA-6AB1B3C76C51}"/>
              </a:ext>
            </a:extLst>
          </p:cNvPr>
          <p:cNvSpPr>
            <a:spLocks xmlns:a="http://schemas.openxmlformats.org/drawingml/2006/main" noGrp="1"/>
          </p:cNvSpPr>
          <p:nvPr/>
        </p:nvSpPr>
        <p:spPr>
          <a:xfrm xmlns:a="http://schemas.openxmlformats.org/drawingml/2006/main">
            <a:off x="5667375" y="54578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47777"/>
                </a:solidFill>
                <a:latin typeface="Aptos"/>
                <a:ea typeface="Aptos"/>
                <a:cs typeface="Aptos"/>
              </a:defRPr>
            </a:pPr>
            <a:r>
              <a:rPr sz="1650" b="1">
                <a:solidFill>
                  <a:srgbClr val="F47777"/>
                </a:solidFill>
                <a:latin typeface="Aptos"/>
                <a:ea typeface="Aptos"/>
                <a:cs typeface="Aptos"/>
              </a:rPr>
              <a:t>Governance evidence</a:t>
            </a:r>
          </a:p>
        </p:txBody>
      </p:sp>
      <p:sp>
        <p:nvSpPr>
          <p:cNvPr id="22" name="">
            <a:extLst xmlns:a="http://schemas.openxmlformats.org/drawingml/2006/main">
              <a:ext uri="{FF2B5EF4-FFF2-40B4-BE49-F238E27FC236}">
                <a16:creationId xmlns:a16="http://schemas.microsoft.com/office/drawing/2014/main" id="{99E77D19-D0D6-4686-B4F1-D0CDABE6F094}"/>
              </a:ext>
            </a:extLst>
          </p:cNvPr>
          <p:cNvSpPr>
            <a:spLocks xmlns:a="http://schemas.openxmlformats.org/drawingml/2006/main" noGrp="1"/>
          </p:cNvSpPr>
          <p:nvPr/>
        </p:nvSpPr>
        <p:spPr>
          <a:xfrm xmlns:a="http://schemas.openxmlformats.org/drawingml/2006/main">
            <a:off x="5667375" y="5953125"/>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What do dated filings support—and what remains unverified?</a:t>
            </a:r>
          </a:p>
        </p:txBody>
      </p:sp>
      <p:sp>
        <p:nvSpPr>
          <p:cNvPr id="23" name="">
            <a:extLst xmlns:a="http://schemas.openxmlformats.org/drawingml/2006/main">
              <a:ext uri="{FF2B5EF4-FFF2-40B4-BE49-F238E27FC236}">
                <a16:creationId xmlns:a16="http://schemas.microsoft.com/office/drawing/2014/main" id="{2AE0D91A-2278-4FB0-AE31-7FD14CDE32EE}"/>
              </a:ext>
            </a:extLst>
          </p:cNvPr>
          <p:cNvSpPr>
            <a:spLocks xmlns:a="http://schemas.openxmlformats.org/drawingml/2006/main" noGrp="1"/>
          </p:cNvSpPr>
          <p:nvPr/>
        </p:nvSpPr>
        <p:spPr>
          <a:xfrm xmlns:a="http://schemas.openxmlformats.org/drawingml/2006/main">
            <a:off x="952500" y="7715250"/>
            <a:ext cx="8382000" cy="1000125"/>
          </a:xfrm>
          <a:prstGeom xmlns:a="http://schemas.openxmlformats.org/drawingml/2006/main" prst="roundRect">
            <a:avLst>
              <a:gd name="adj" fmla="val 13333"/>
            </a:avLst>
          </a:prstGeom>
          <a:solidFill xmlns:a="http://schemas.openxmlformats.org/drawingml/2006/main">
            <a:srgbClr val="0D2430"/>
          </a:solidFill>
          <a:ln xmlns:a="http://schemas.openxmlformats.org/drawingml/2006/main" w="9525">
            <a:solidFill>
              <a:srgbClr val="27D9C8"/>
            </a:solidFill>
          </a:ln>
        </p:spPr>
      </p:sp>
      <p:sp>
        <p:nvSpPr>
          <p:cNvPr id="24" name="">
            <a:extLst xmlns:a="http://schemas.openxmlformats.org/drawingml/2006/main">
              <a:ext uri="{FF2B5EF4-FFF2-40B4-BE49-F238E27FC236}">
                <a16:creationId xmlns:a16="http://schemas.microsoft.com/office/drawing/2014/main" id="{30A169DC-CB79-4145-9D88-EF8F482BC816}"/>
              </a:ext>
            </a:extLst>
          </p:cNvPr>
          <p:cNvSpPr>
            <a:spLocks xmlns:a="http://schemas.openxmlformats.org/drawingml/2006/main" noGrp="1"/>
          </p:cNvSpPr>
          <p:nvPr/>
        </p:nvSpPr>
        <p:spPr>
          <a:xfrm xmlns:a="http://schemas.openxmlformats.org/drawingml/2006/main">
            <a:off x="1381125" y="79724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8FAFC"/>
                </a:solidFill>
                <a:latin typeface="Aptos"/>
                <a:ea typeface="Aptos"/>
                <a:cs typeface="Aptos"/>
              </a:defRPr>
            </a:pPr>
            <a:r>
              <a:rPr sz="1500" b="1">
                <a:solidFill>
                  <a:srgbClr val="F8FAFC"/>
                </a:solidFill>
                <a:latin typeface="Aptos"/>
                <a:ea typeface="Aptos"/>
                <a:cs typeface="Aptos"/>
              </a:rPr>
              <a:t>Missing evidence remains unavailable. The app does not turn a missing disclosure into a favourable or neutral score.</a:t>
            </a:r>
          </a:p>
        </p:txBody>
      </p:sp>
    </p:spTree>
    <p:extLst>
      <p:ext uri="{BB962C8B-B14F-4D97-AF65-F5344CB8AC3E}">
        <p14:creationId xmlns:p14="http://schemas.microsoft.com/office/powerpoint/2010/main" val="1021624286"/>
      </p:ext>
    </p:extLst>
  </p:cSld>
</p:sld>
</file>

<file path=ppt/slides/slide13.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C3CF65A-0DCE-4A13-9B66-E3C10C7C7E16}"/>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69ECB9-BF4A-49D9-A13A-2632FC658542}"/>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28C98AB9-D1BF-4F4D-9C3F-43554A733671}"/>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When AlphaSynth withholds a report</a:t>
            </a:r>
          </a:p>
        </p:txBody>
      </p:sp>
      <p:sp>
        <p:nvSpPr>
          <p:cNvPr id="4" name="">
            <a:extLst xmlns:a="http://schemas.openxmlformats.org/drawingml/2006/main">
              <a:ext uri="{FF2B5EF4-FFF2-40B4-BE49-F238E27FC236}">
                <a16:creationId xmlns:a16="http://schemas.microsoft.com/office/drawing/2014/main" id="{3E695549-19A0-4725-8B09-4AECA31DB82F}"/>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A successful workflow can still decide that the evidence is not strong enough for a downloadable PDF.</a:t>
            </a:r>
          </a:p>
        </p:txBody>
      </p:sp>
      <p:sp>
        <p:nvSpPr>
          <p:cNvPr id="5" name="">
            <a:extLst xmlns:a="http://schemas.openxmlformats.org/drawingml/2006/main">
              <a:ext uri="{FF2B5EF4-FFF2-40B4-BE49-F238E27FC236}">
                <a16:creationId xmlns:a16="http://schemas.microsoft.com/office/drawing/2014/main" id="{A2C5E1C9-87D5-4920-AFD8-FA9299777112}"/>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16C21EED-7ADC-4FAA-8D6C-96516ECA69E9}"/>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13</a:t>
            </a:r>
          </a:p>
        </p:txBody>
      </p:sp>
      <p:sp>
        <p:nvSpPr>
          <p:cNvPr id="7" name="">
            <a:extLst xmlns:a="http://schemas.openxmlformats.org/drawingml/2006/main">
              <a:ext uri="{FF2B5EF4-FFF2-40B4-BE49-F238E27FC236}">
                <a16:creationId xmlns:a16="http://schemas.microsoft.com/office/drawing/2014/main" id="{9939559E-75E4-423D-A44C-E8D85953F752}"/>
              </a:ext>
            </a:extLst>
          </p:cNvPr>
          <p:cNvSpPr>
            <a:spLocks xmlns:a="http://schemas.openxmlformats.org/drawingml/2006/main" noGrp="1"/>
          </p:cNvSpPr>
          <p:nvPr/>
        </p:nvSpPr>
        <p:spPr>
          <a:xfrm xmlns:a="http://schemas.openxmlformats.org/drawingml/2006/main">
            <a:off x="714375" y="28575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7D9C8"/>
                </a:solidFill>
                <a:latin typeface="Aptos"/>
                <a:ea typeface="Aptos"/>
                <a:cs typeface="Aptos"/>
              </a:defRPr>
            </a:pPr>
            <a:r>
              <a:rPr sz="2025" b="1">
                <a:solidFill>
                  <a:srgbClr val="27D9C8"/>
                </a:solidFill>
                <a:latin typeface="Aptos"/>
                <a:ea typeface="Aptos"/>
                <a:cs typeface="Aptos"/>
              </a:rPr>
              <a:t>On-screen evidence report</a:t>
            </a:r>
          </a:p>
        </p:txBody>
      </p:sp>
      <p:sp>
        <p:nvSpPr>
          <p:cNvPr id="8" name="">
            <a:extLst xmlns:a="http://schemas.openxmlformats.org/drawingml/2006/main">
              <a:ext uri="{FF2B5EF4-FFF2-40B4-BE49-F238E27FC236}">
                <a16:creationId xmlns:a16="http://schemas.microsoft.com/office/drawing/2014/main" id="{F38960E3-2B43-4C5D-AC99-FBDC6032C99A}"/>
              </a:ext>
            </a:extLst>
          </p:cNvPr>
          <p:cNvSpPr>
            <a:spLocks xmlns:a="http://schemas.openxmlformats.org/drawingml/2006/main" noGrp="1"/>
          </p:cNvSpPr>
          <p:nvPr/>
        </p:nvSpPr>
        <p:spPr>
          <a:xfrm xmlns:a="http://schemas.openxmlformats.org/drawingml/2006/main">
            <a:off x="714375" y="34766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D4DDEA"/>
                </a:solidFill>
                <a:latin typeface="Aptos"/>
                <a:ea typeface="Aptos"/>
                <a:cs typeface="Aptos"/>
              </a:defRPr>
            </a:pPr>
            <a:r>
              <a:rPr sz="1500" b="0">
                <a:solidFill>
                  <a:srgbClr val="D4DDEA"/>
                </a:solidFill>
                <a:latin typeface="Aptos"/>
                <a:ea typeface="Aptos"/>
                <a:cs typeface="Aptos"/>
              </a:rPr>
              <a:t>Available when the workflow has enough evidence to explain what it found and what remains missing.</a:t>
            </a:r>
          </a:p>
        </p:txBody>
      </p:sp>
      <p:sp>
        <p:nvSpPr>
          <p:cNvPr id="9" name="">
            <a:extLst xmlns:a="http://schemas.openxmlformats.org/drawingml/2006/main">
              <a:ext uri="{FF2B5EF4-FFF2-40B4-BE49-F238E27FC236}">
                <a16:creationId xmlns:a16="http://schemas.microsoft.com/office/drawing/2014/main" id="{7790D623-5625-454E-941A-7818A7B11D85}"/>
              </a:ext>
            </a:extLst>
          </p:cNvPr>
          <p:cNvSpPr>
            <a:spLocks xmlns:a="http://schemas.openxmlformats.org/drawingml/2006/main" noGrp="1"/>
          </p:cNvSpPr>
          <p:nvPr/>
        </p:nvSpPr>
        <p:spPr>
          <a:xfrm xmlns:a="http://schemas.openxmlformats.org/drawingml/2006/main">
            <a:off x="5667375" y="28575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7B640"/>
                </a:solidFill>
                <a:latin typeface="Aptos"/>
                <a:ea typeface="Aptos"/>
                <a:cs typeface="Aptos"/>
              </a:defRPr>
            </a:pPr>
            <a:r>
              <a:rPr sz="2025" b="1">
                <a:solidFill>
                  <a:srgbClr val="E7B640"/>
                </a:solidFill>
                <a:latin typeface="Aptos"/>
                <a:ea typeface="Aptos"/>
                <a:cs typeface="Aptos"/>
              </a:rPr>
              <a:t>Downloadable PDF</a:t>
            </a:r>
          </a:p>
        </p:txBody>
      </p:sp>
      <p:sp>
        <p:nvSpPr>
          <p:cNvPr id="10" name="">
            <a:extLst xmlns:a="http://schemas.openxmlformats.org/drawingml/2006/main">
              <a:ext uri="{FF2B5EF4-FFF2-40B4-BE49-F238E27FC236}">
                <a16:creationId xmlns:a16="http://schemas.microsoft.com/office/drawing/2014/main" id="{5B1F819A-909C-4F3E-AE3B-C588FDB0598B}"/>
              </a:ext>
            </a:extLst>
          </p:cNvPr>
          <p:cNvSpPr>
            <a:spLocks xmlns:a="http://schemas.openxmlformats.org/drawingml/2006/main" noGrp="1"/>
          </p:cNvSpPr>
          <p:nvPr/>
        </p:nvSpPr>
        <p:spPr>
          <a:xfrm xmlns:a="http://schemas.openxmlformats.org/drawingml/2006/main">
            <a:off x="5667375" y="3476625"/>
            <a:ext cx="390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D4DDEA"/>
                </a:solidFill>
                <a:latin typeface="Aptos"/>
                <a:ea typeface="Aptos"/>
                <a:cs typeface="Aptos"/>
              </a:defRPr>
            </a:pPr>
            <a:r>
              <a:rPr sz="1500" b="0">
                <a:solidFill>
                  <a:srgbClr val="D4DDEA"/>
                </a:solidFill>
                <a:latin typeface="Aptos"/>
                <a:ea typeface="Aptos"/>
                <a:cs typeface="Aptos"/>
              </a:rPr>
              <a:t>Available only after stricter checks for official sources, supported claims, narrative coverage, comparable BMS factors and later-results evidence.</a:t>
            </a:r>
          </a:p>
        </p:txBody>
      </p:sp>
      <p:sp>
        <p:nvSpPr>
          <p:cNvPr id="11" name="">
            <a:extLst xmlns:a="http://schemas.openxmlformats.org/drawingml/2006/main">
              <a:ext uri="{FF2B5EF4-FFF2-40B4-BE49-F238E27FC236}">
                <a16:creationId xmlns:a16="http://schemas.microsoft.com/office/drawing/2014/main" id="{58AFE2F5-89A2-418B-B85D-6DEACBCB6E7A}"/>
              </a:ext>
            </a:extLst>
          </p:cNvPr>
          <p:cNvSpPr>
            <a:spLocks xmlns:a="http://schemas.openxmlformats.org/drawingml/2006/main" noGrp="1"/>
          </p:cNvSpPr>
          <p:nvPr/>
        </p:nvSpPr>
        <p:spPr>
          <a:xfrm xmlns:a="http://schemas.openxmlformats.org/drawingml/2006/main">
            <a:off x="714375" y="5381625"/>
            <a:ext cx="8858250" cy="19050"/>
          </a:xfrm>
          <a:prstGeom xmlns:a="http://schemas.openxmlformats.org/drawingml/2006/main" prst="rect">
            <a:avLst/>
          </a:prstGeom>
          <a:solidFill xmlns:a="http://schemas.openxmlformats.org/drawingml/2006/main">
            <a:srgbClr val="3344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53026E2-DE5A-44BB-A717-45B5CCEDF950}"/>
              </a:ext>
            </a:extLst>
          </p:cNvPr>
          <p:cNvSpPr>
            <a:spLocks xmlns:a="http://schemas.openxmlformats.org/drawingml/2006/main" noGrp="1"/>
          </p:cNvSpPr>
          <p:nvPr/>
        </p:nvSpPr>
        <p:spPr>
          <a:xfrm xmlns:a="http://schemas.openxmlformats.org/drawingml/2006/main">
            <a:off x="714375" y="6096000"/>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8FAFC"/>
                </a:solidFill>
                <a:latin typeface="Aptos"/>
                <a:ea typeface="Aptos"/>
                <a:cs typeface="Aptos"/>
              </a:defRPr>
            </a:pPr>
            <a:r>
              <a:rPr sz="1650" b="1">
                <a:solidFill>
                  <a:srgbClr val="F8FAFC"/>
                </a:solidFill>
                <a:latin typeface="Aptos"/>
                <a:ea typeface="Aptos"/>
                <a:cs typeface="Aptos"/>
              </a:rPr>
              <a:t>Bounded validation cohort</a:t>
            </a:r>
          </a:p>
        </p:txBody>
      </p:sp>
      <p:sp>
        <p:nvSpPr>
          <p:cNvPr id="13" name="">
            <a:extLst xmlns:a="http://schemas.openxmlformats.org/drawingml/2006/main">
              <a:ext uri="{FF2B5EF4-FFF2-40B4-BE49-F238E27FC236}">
                <a16:creationId xmlns:a16="http://schemas.microsoft.com/office/drawing/2014/main" id="{520CA406-8E1B-4C3D-943C-B70CE37887D9}"/>
              </a:ext>
            </a:extLst>
          </p:cNvPr>
          <p:cNvSpPr>
            <a:spLocks xmlns:a="http://schemas.openxmlformats.org/drawingml/2006/main" noGrp="1"/>
          </p:cNvSpPr>
          <p:nvPr/>
        </p:nvSpPr>
        <p:spPr>
          <a:xfrm xmlns:a="http://schemas.openxmlformats.org/drawingml/2006/main">
            <a:off x="714375" y="6619875"/>
            <a:ext cx="866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4DDEA"/>
                </a:solidFill>
                <a:latin typeface="Aptos"/>
                <a:ea typeface="Aptos"/>
                <a:cs typeface="Aptos"/>
              </a:defRPr>
            </a:pPr>
            <a:r>
              <a:rPr sz="1650" b="0">
                <a:solidFill>
                  <a:srgbClr val="D4DDEA"/>
                </a:solidFill>
                <a:latin typeface="Aptos"/>
                <a:ea typeface="Aptos"/>
                <a:cs typeface="Aptos"/>
              </a:rPr>
              <a:t>24 of 25 workflows completed. Only 2 of 25 met the stricter PDF-readiness standard. Withholding the other PDFs was an intended safety result.</a:t>
            </a:r>
          </a:p>
        </p:txBody>
      </p:sp>
      <p:sp>
        <p:nvSpPr>
          <p:cNvPr id="14" name="">
            <a:extLst xmlns:a="http://schemas.openxmlformats.org/drawingml/2006/main">
              <a:ext uri="{FF2B5EF4-FFF2-40B4-BE49-F238E27FC236}">
                <a16:creationId xmlns:a16="http://schemas.microsoft.com/office/drawing/2014/main" id="{D710EB37-5857-456B-93A8-6A6F8E6255A1}"/>
              </a:ext>
            </a:extLst>
          </p:cNvPr>
          <p:cNvSpPr>
            <a:spLocks xmlns:a="http://schemas.openxmlformats.org/drawingml/2006/main" noGrp="1"/>
          </p:cNvSpPr>
          <p:nvPr/>
        </p:nvSpPr>
        <p:spPr>
          <a:xfrm xmlns:a="http://schemas.openxmlformats.org/drawingml/2006/main">
            <a:off x="952500" y="8334375"/>
            <a:ext cx="8382000" cy="666750"/>
          </a:xfrm>
          <a:prstGeom xmlns:a="http://schemas.openxmlformats.org/drawingml/2006/main" prst="roundRect">
            <a:avLst>
              <a:gd name="adj" fmla="val 20000"/>
            </a:avLst>
          </a:prstGeom>
          <a:solidFill xmlns:a="http://schemas.openxmlformats.org/drawingml/2006/main">
            <a:srgbClr val="0D2430"/>
          </a:solidFill>
          <a:ln xmlns:a="http://schemas.openxmlformats.org/drawingml/2006/main" w="9525">
            <a:solidFill>
              <a:srgbClr val="27D9C8"/>
            </a:solidFill>
          </a:ln>
        </p:spPr>
      </p:sp>
      <p:sp>
        <p:nvSpPr>
          <p:cNvPr id="15" name="">
            <a:extLst xmlns:a="http://schemas.openxmlformats.org/drawingml/2006/main">
              <a:ext uri="{FF2B5EF4-FFF2-40B4-BE49-F238E27FC236}">
                <a16:creationId xmlns:a16="http://schemas.microsoft.com/office/drawing/2014/main" id="{3EDC5C8D-48D6-4965-8D01-DF358C7890C0}"/>
              </a:ext>
            </a:extLst>
          </p:cNvPr>
          <p:cNvSpPr>
            <a:spLocks xmlns:a="http://schemas.openxmlformats.org/drawingml/2006/main" noGrp="1"/>
          </p:cNvSpPr>
          <p:nvPr/>
        </p:nvSpPr>
        <p:spPr>
          <a:xfrm xmlns:a="http://schemas.openxmlformats.org/drawingml/2006/main">
            <a:off x="1238250" y="8524875"/>
            <a:ext cx="781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8FAFC"/>
                </a:solidFill>
                <a:latin typeface="Aptos"/>
                <a:ea typeface="Aptos"/>
                <a:cs typeface="Aptos"/>
              </a:defRPr>
            </a:pPr>
            <a:r>
              <a:rPr sz="1350" b="1">
                <a:solidFill>
                  <a:srgbClr val="F8FAFC"/>
                </a:solidFill>
                <a:latin typeface="Aptos"/>
                <a:ea typeface="Aptos"/>
                <a:cs typeface="Aptos"/>
              </a:rPr>
              <a:t>Live pilot: expectation-pilot---alphasynth-equity-oqc2y4ogda-uc.a.run.app</a:t>
            </a:r>
          </a:p>
        </p:txBody>
      </p:sp>
    </p:spTree>
    <p:extLst>
      <p:ext uri="{BB962C8B-B14F-4D97-AF65-F5344CB8AC3E}">
        <p14:creationId xmlns:p14="http://schemas.microsoft.com/office/powerpoint/2010/main" val="4953409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2026-09-15T08:23:24.3870000Z</dcterms:created>
  <dcterms:modified xsi:type="dcterms:W3CDTF">2026-09-15T08:23:24.3870000Z</dcterms:modified>
</coreProperties>
</file>