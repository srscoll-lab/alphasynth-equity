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b7b8b3e704a6a" /><Relationship Type="http://schemas.openxmlformats.org/officeDocument/2006/relationships/extended-properties" Target="/docProps/app.xml" Id="Rf5c571f126134a46" /><Relationship Type="http://schemas.openxmlformats.org/officeDocument/2006/relationships/officeDocument" Target="/ppt/presentation.xml" Id="R8e34bb091d5b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9abddb5ac464a"/>
  </p:sldMasterIdLst>
  <p:notesMasterIdLst>
    <p:notesMasterId xmlns:r="http://schemas.openxmlformats.org/officeDocument/2006/relationships" r:id="Rb165af212f484c7f"/>
  </p:notesMasterIdLst>
  <p:sldIdLst>
    <p:sldId xmlns:r="http://schemas.openxmlformats.org/officeDocument/2006/relationships" id="256" r:id="R7658483f30da42d6"/>
    <p:sldId xmlns:r="http://schemas.openxmlformats.org/officeDocument/2006/relationships" id="257" r:id="R004b88e6392d4fa7"/>
    <p:sldId xmlns:r="http://schemas.openxmlformats.org/officeDocument/2006/relationships" id="258" r:id="Re72688f2e4b641fb"/>
    <p:sldId xmlns:r="http://schemas.openxmlformats.org/officeDocument/2006/relationships" id="259" r:id="R57237e4406794b05"/>
    <p:sldId xmlns:r="http://schemas.openxmlformats.org/officeDocument/2006/relationships" id="260" r:id="R453e9c9206994212"/>
    <p:sldId xmlns:r="http://schemas.openxmlformats.org/officeDocument/2006/relationships" id="261" r:id="R0762f98bd8ae4a52"/>
    <p:sldId xmlns:r="http://schemas.openxmlformats.org/officeDocument/2006/relationships" id="262" r:id="R8062121fd1834cf2"/>
    <p:sldId xmlns:r="http://schemas.openxmlformats.org/officeDocument/2006/relationships" id="263" r:id="R39f9d1ee13324100"/>
    <p:sldId xmlns:r="http://schemas.openxmlformats.org/officeDocument/2006/relationships" id="264" r:id="Rc5560cf988dd4d41"/>
    <p:sldId xmlns:r="http://schemas.openxmlformats.org/officeDocument/2006/relationships" id="265" r:id="R7a2e98cbd2a3451a"/>
    <p:sldId xmlns:r="http://schemas.openxmlformats.org/officeDocument/2006/relationships" id="266" r:id="R50ba5d83f90d4c64"/>
    <p:sldId xmlns:r="http://schemas.openxmlformats.org/officeDocument/2006/relationships" id="267" r:id="Rb2813c2e44e24d8b"/>
    <p:sldId xmlns:r="http://schemas.openxmlformats.org/officeDocument/2006/relationships" id="268" r:id="Rfc37cb22283f4a3b"/>
    <p:sldId xmlns:r="http://schemas.openxmlformats.org/officeDocument/2006/relationships" id="269" r:id="Rdb02f6f350894f15"/>
    <p:sldId xmlns:r="http://schemas.openxmlformats.org/officeDocument/2006/relationships" id="270" r:id="R9ce714be94fa4a93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269cf2079f4f16" /><Relationship Type="http://schemas.openxmlformats.org/officeDocument/2006/relationships/slideMaster" Target="/ppt/slideMasters/slideMaster1.xml" Id="R2909abddb5ac464a" /><Relationship Type="http://schemas.openxmlformats.org/officeDocument/2006/relationships/notesMaster" Target="/ppt/notesMasters/notesMaster1.xml" Id="Rb165af212f484c7f" /><Relationship Type="http://schemas.openxmlformats.org/officeDocument/2006/relationships/presProps" Target="/ppt/presProps.xml" Id="R3a90e23a9be545be" /><Relationship Type="http://schemas.openxmlformats.org/officeDocument/2006/relationships/tableStyles" Target="/ppt/tableStyles.xml" Id="Rf9ecfa4b96cd41e0" /><Relationship Type="http://schemas.openxmlformats.org/officeDocument/2006/relationships/slide" Target="/ppt/slides/slide1.xml" Id="R7658483f30da42d6" /><Relationship Type="http://schemas.openxmlformats.org/officeDocument/2006/relationships/slide" Target="/ppt/slides/slide2.xml" Id="R004b88e6392d4fa7" /><Relationship Type="http://schemas.openxmlformats.org/officeDocument/2006/relationships/slide" Target="/ppt/slides/slide3.xml" Id="Re72688f2e4b641fb" /><Relationship Type="http://schemas.openxmlformats.org/officeDocument/2006/relationships/slide" Target="/ppt/slides/slide4.xml" Id="R57237e4406794b05" /><Relationship Type="http://schemas.openxmlformats.org/officeDocument/2006/relationships/slide" Target="/ppt/slides/slide5.xml" Id="R453e9c9206994212" /><Relationship Type="http://schemas.openxmlformats.org/officeDocument/2006/relationships/slide" Target="/ppt/slides/slide6.xml" Id="R0762f98bd8ae4a52" /><Relationship Type="http://schemas.openxmlformats.org/officeDocument/2006/relationships/slide" Target="/ppt/slides/slide7.xml" Id="R8062121fd1834cf2" /><Relationship Type="http://schemas.openxmlformats.org/officeDocument/2006/relationships/slide" Target="/ppt/slides/slide8.xml" Id="R39f9d1ee13324100" /><Relationship Type="http://schemas.openxmlformats.org/officeDocument/2006/relationships/slide" Target="/ppt/slides/slide9.xml" Id="Rc5560cf988dd4d41" /><Relationship Type="http://schemas.openxmlformats.org/officeDocument/2006/relationships/slide" Target="/ppt/slides/slide10.xml" Id="R7a2e98cbd2a3451a" /><Relationship Type="http://schemas.openxmlformats.org/officeDocument/2006/relationships/slide" Target="/ppt/slides/slide11.xml" Id="R50ba5d83f90d4c64" /><Relationship Type="http://schemas.openxmlformats.org/officeDocument/2006/relationships/slide" Target="/ppt/slides/slide12.xml" Id="Rb2813c2e44e24d8b" /><Relationship Type="http://schemas.openxmlformats.org/officeDocument/2006/relationships/slide" Target="/ppt/slides/slide13.xml" Id="Rfc37cb22283f4a3b" /><Relationship Type="http://schemas.openxmlformats.org/officeDocument/2006/relationships/slide" Target="/ppt/slides/slide14.xml" Id="Rdb02f6f350894f15" /><Relationship Type="http://schemas.openxmlformats.org/officeDocument/2006/relationships/slide" Target="/ppt/slides/slide15.xml" Id="R9ce714be94fa4a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b197ddeb74b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b63b6dcc64101" /><Relationship Type="http://schemas.openxmlformats.org/officeDocument/2006/relationships/notesMaster" Target="/ppt/notesMasters/notesMaster1.xml" Id="R7ee2e0000d7e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20a960c76845ac" /><Relationship Type="http://schemas.openxmlformats.org/officeDocument/2006/relationships/notesMaster" Target="/ppt/notesMasters/notesMaster1.xml" Id="R2c4f136f7c3e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38a171bcd4f39" /><Relationship Type="http://schemas.openxmlformats.org/officeDocument/2006/relationships/notesMaster" Target="/ppt/notesMasters/notesMaster1.xml" Id="Rb4fe550c15db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5ee9a26df645d4" /><Relationship Type="http://schemas.openxmlformats.org/officeDocument/2006/relationships/notesMaster" Target="/ppt/notesMasters/notesMaster1.xml" Id="R1cdc17a2451549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d6135ab7b3482d" /><Relationship Type="http://schemas.openxmlformats.org/officeDocument/2006/relationships/notesMaster" Target="/ppt/notesMasters/notesMaster1.xml" Id="R21447698a79348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ea675465a447d2" /><Relationship Type="http://schemas.openxmlformats.org/officeDocument/2006/relationships/notesMaster" Target="/ppt/notesMasters/notesMaster1.xml" Id="R3581d96dcbbb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73cd9b9a234940" /><Relationship Type="http://schemas.openxmlformats.org/officeDocument/2006/relationships/notesMaster" Target="/ppt/notesMasters/notesMaster1.xml" Id="Rb9ef4c5673b947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addc51268a4af2" /><Relationship Type="http://schemas.openxmlformats.org/officeDocument/2006/relationships/notesMaster" Target="/ppt/notesMasters/notesMaster1.xml" Id="Rd20a0880eb8d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55d5afae94a9b" /><Relationship Type="http://schemas.openxmlformats.org/officeDocument/2006/relationships/notesMaster" Target="/ppt/notesMasters/notesMaster1.xml" Id="R970d01ec545142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8f6cd269c04bb3" /><Relationship Type="http://schemas.openxmlformats.org/officeDocument/2006/relationships/notesMaster" Target="/ppt/notesMasters/notesMaster1.xml" Id="Rce5c072b972148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ba8b0f2c234aad" /><Relationship Type="http://schemas.openxmlformats.org/officeDocument/2006/relationships/notesMaster" Target="/ppt/notesMasters/notesMaster1.xml" Id="R016f2209b1c949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cd33536e7242c8" /><Relationship Type="http://schemas.openxmlformats.org/officeDocument/2006/relationships/notesMaster" Target="/ppt/notesMasters/notesMaster1.xml" Id="Rc28c7339ba974a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a68d30ec094029" /><Relationship Type="http://schemas.openxmlformats.org/officeDocument/2006/relationships/notesMaster" Target="/ppt/notesMasters/notesMaster1.xml" Id="Rc2c28726a3aa4c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9eacc23712461c" /><Relationship Type="http://schemas.openxmlformats.org/officeDocument/2006/relationships/notesMaster" Target="/ppt/notesMasters/notesMaster1.xml" Id="Rf5b7ce7fc82645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34509a3c6f4cad" /><Relationship Type="http://schemas.openxmlformats.org/officeDocument/2006/relationships/notesMaster" Target="/ppt/notesMasters/notesMaster1.xml" Id="R2919df65e8e848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AI peers and market users. AlphaSynth is a research workflow, not a prediction claim or investment recommendation. The presentation notes are presenter prompts, not an embedded voice-over.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layers are Signal Tracker, Evidence Report, later-results confirmation, and Deep Dive. PDF is an optional output within the evidence layer, not a required step for every company.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live pilot capture from 15 September 2026. The five lifecycle labels are repeated below the screenshot at presentation size for legibility. The 477-company count refers specifically to the monitored BMS universe.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live pilot capture from 15 September 2026. The screenshot shows multiple Emerging companies and the selected MRF signal without cropping the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pilot capture from 15 September 2026. The Evidence Report and Deep Dive are separate layers; the tracker remains deliberately concise.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Lifecycle is the time-based history of the BMS reading. It must stay separate from valuation and investment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1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2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3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4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5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page 6 of the generated RADICO professional dossier sample, September 2026. No portion of the page has been cropped.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live pilot capture from 15 September 2026. Deep Dive is a deliberate next action, not an automatic claim attached to every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live pilot capture from 15 September 2026. The on-demand Deep Dive universe is broader than the 477-company BMS tracker; those two coverage claims must not be conflated.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The bounded cohort measured technical completion and report readiness, not stock-return prediction. Suggested live demo: select a lifecycle, choose a company, open Evidence Report, then open Deep Dive.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7dd09c48f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2da03493874889" /><Relationship Type="http://schemas.openxmlformats.org/officeDocument/2006/relationships/slideLayout" Target="/ppt/slideLayouts/slideLayout1.xml" Id="R9a5c1ee375154c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5c1ee375154c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9abe1af4d4922" /><Relationship Type="http://schemas.openxmlformats.org/officeDocument/2006/relationships/notesSlide" Target="/ppt/notesSlides/notesSlide1.xml" Id="R9830c161b6c9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c2f0d53de4494" /><Relationship Type="http://schemas.openxmlformats.org/officeDocument/2006/relationships/notesSlide" Target="/ppt/notesSlides/notesSlide2.xml" Id="R9998d58e62084e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3dcb34c484695" /><Relationship Type="http://schemas.openxmlformats.org/officeDocument/2006/relationships/image" Target="/ppt/media/image.jpeg" Id="Rb1e95e103db34a2e" /><Relationship Type="http://schemas.openxmlformats.org/officeDocument/2006/relationships/notesSlide" Target="/ppt/notesSlides/notesSlide3.xml" Id="Rb11fdaae8a0b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12dad9d514779" /><Relationship Type="http://schemas.openxmlformats.org/officeDocument/2006/relationships/image" Target="/ppt/media/image2.jpeg" Id="R0220c8eef32a49f2" /><Relationship Type="http://schemas.openxmlformats.org/officeDocument/2006/relationships/notesSlide" Target="/ppt/notesSlides/notesSlide4.xml" Id="R7266442bc751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73d852ef0430c" /><Relationship Type="http://schemas.openxmlformats.org/officeDocument/2006/relationships/image" Target="/ppt/media/image3.jpeg" Id="R2e8ec9bd6bdb4579" /><Relationship Type="http://schemas.openxmlformats.org/officeDocument/2006/relationships/notesSlide" Target="/ppt/notesSlides/notesSlide5.xml" Id="Rc8e1addedfdb4a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b087100874998" /><Relationship Type="http://schemas.openxmlformats.org/officeDocument/2006/relationships/notesSlide" Target="/ppt/notesSlides/notesSlide6.xml" Id="Rc0b1c3e0f5a24d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e9f20f7fb4acb" /><Relationship Type="http://schemas.openxmlformats.org/officeDocument/2006/relationships/image" Target="/ppt/media/image.png" Id="R6df550e380de4cff" /><Relationship Type="http://schemas.openxmlformats.org/officeDocument/2006/relationships/notesSlide" Target="/ppt/notesSlides/notesSlide7.xml" Id="Rc37c4a4354444a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ffbc31c1d48fc" /><Relationship Type="http://schemas.openxmlformats.org/officeDocument/2006/relationships/image" Target="/ppt/media/image2.png" Id="Re145d088c6114d1c" /><Relationship Type="http://schemas.openxmlformats.org/officeDocument/2006/relationships/notesSlide" Target="/ppt/notesSlides/notesSlide8.xml" Id="R52a3160584fd41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dbdb6d0644bd8" /><Relationship Type="http://schemas.openxmlformats.org/officeDocument/2006/relationships/image" Target="/ppt/media/image3.png" Id="Rf0fa13d912734503" /><Relationship Type="http://schemas.openxmlformats.org/officeDocument/2006/relationships/notesSlide" Target="/ppt/notesSlides/notesSlide9.xml" Id="R1e018b9c3b0f4e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fd063d9bd4815" /><Relationship Type="http://schemas.openxmlformats.org/officeDocument/2006/relationships/image" Target="/ppt/media/image4.png" Id="R71801540ee794fd0" /><Relationship Type="http://schemas.openxmlformats.org/officeDocument/2006/relationships/notesSlide" Target="/ppt/notesSlides/notesSlide10.xml" Id="R1360470706be4a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03eeff19c4521" /><Relationship Type="http://schemas.openxmlformats.org/officeDocument/2006/relationships/image" Target="/ppt/media/image5.png" Id="R8907d89de06b4399" /><Relationship Type="http://schemas.openxmlformats.org/officeDocument/2006/relationships/notesSlide" Target="/ppt/notesSlides/notesSlide11.xml" Id="R92b1e626a89c49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e84670c584b8b" /><Relationship Type="http://schemas.openxmlformats.org/officeDocument/2006/relationships/image" Target="/ppt/media/image6.png" Id="Rcc65b4b9c7bb42fa" /><Relationship Type="http://schemas.openxmlformats.org/officeDocument/2006/relationships/notesSlide" Target="/ppt/notesSlides/notesSlide12.xml" Id="R93666d61e38142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4e28d63e447a2" /><Relationship Type="http://schemas.openxmlformats.org/officeDocument/2006/relationships/image" Target="/ppt/media/image4.jpeg" Id="R41988ec3ef3e4620" /><Relationship Type="http://schemas.openxmlformats.org/officeDocument/2006/relationships/notesSlide" Target="/ppt/notesSlides/notesSlide13.xml" Id="R03056fae041e49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aa5d3ce60473f" /><Relationship Type="http://schemas.openxmlformats.org/officeDocument/2006/relationships/image" Target="/ppt/media/image5.jpeg" Id="Rd3fceb68b52e42f6" /><Relationship Type="http://schemas.openxmlformats.org/officeDocument/2006/relationships/notesSlide" Target="/ppt/notesSlides/notesSlide14.xml" Id="Raeb92905eac642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29285708a436d" /><Relationship Type="http://schemas.openxmlformats.org/officeDocument/2006/relationships/notesSlide" Target="/ppt/notesSlides/notesSlide15.xml" Id="R4d26b7ee9bb5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65A0A-DC59-44D9-A8CA-9190A4D1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C78DF-4627-42AF-8D26-E1E71DF9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8B3B2-3792-42EB-BED3-01DF841A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 business change</a:t>
            </a:r>
          </a:p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before it becomes obvious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AD7C4-AE2E-4CFE-B3EC-DEDE2A25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 guided product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56674-EB4C-473E-938F-726322C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776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From a monitored momentum signal to its evidence trail, later-results check and full company Deep Dive.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FFE5D-0F3D-4C22-AE11-0D361ABC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0"/>
            <a:ext cx="8953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430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A5849-285E-40F1-8827-247C1EB7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1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477-company BMS tracker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4DAE0-98C0-4C62-A9DC-3224726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315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Evidence-first explanation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F2072-F9D7-4670-BC16-477D4809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315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Broader on-demand Deep Dive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92905-5834-42B4-A485-4B62557D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582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Research aid only · no buy/sell recommendation · verify material claims against cited filings</a:t>
            </a:r>
          </a:p>
        </p:txBody>
      </p:sp>
    </p:spTree>
    <p:extLst>
      <p:ext uri="{BB962C8B-B14F-4D97-AF65-F5344CB8AC3E}">
        <p14:creationId xmlns:p14="http://schemas.microsoft.com/office/powerpoint/2010/main" val="4808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F7B3ED-2AE5-4BA3-BA6A-1A7D4CD8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BC19B-FAC0-4988-8441-43DA4B5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19AE5-A75D-434F-967A-994F7733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product has one simple research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0300B-DEFE-4D48-8AE7-0CF708E7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Each layer answers a different question. The user can stop as soon as they have enough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9C5BA-06F8-4621-8D1E-748D7196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2E5CA-5328-4B6E-9B05-662AC111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46ED7-1F5C-4BA3-85B8-69A9E89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B981D-521D-41D4-8126-B2AFFFCB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52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0C3CD-2308-4F17-AE51-8E90A18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3AC3F-4A70-46E1-B7DF-33912631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F5A7D-194D-45DC-843C-1338AC73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38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Which company’s business momentum is changing?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445AC-5249-406B-8934-4000BDD0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E834E-5B88-41AA-BCA3-706B0FE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9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7D4EF-D9C7-45AA-9DF0-637D579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43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267F1-8B74-4FE7-815F-C3F06AB3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43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A4649-F98C-4AE8-9C44-5BCF441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1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What evidence produced the lifecycle and score?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3038C-95F3-4C9A-9D3B-0E926EE9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9B455-80FF-4D44-99A0-01F01322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055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1BB3F-49D0-42A5-9258-49E6E54B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198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E66B1-C193-46A3-B81A-3A27474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19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AE963-BC06-4EF3-A0F1-E604C6A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912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Do later results support the earlier reading?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F2CE6-2986-47F4-B22E-20AB1826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86625"/>
            <a:ext cx="8286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21F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0C661-B2C2-467D-8FC3-5D6DA20A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58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2A93B-8E00-4AFA-B48B-D23CEAB3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696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CA368-D007-42F3-A9D7-F0AD1B3D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9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INVESTIGATE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5677D-1EA3-4B7F-83A6-232E42C5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8676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What does a fuller company review reveal?</a:t>
            </a:r>
          </a:p>
        </p:txBody>
      </p:sp>
    </p:spTree>
    <p:extLst>
      <p:ext uri="{BB962C8B-B14F-4D97-AF65-F5344CB8AC3E}">
        <p14:creationId xmlns:p14="http://schemas.microsoft.com/office/powerpoint/2010/main" val="1979514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605AE-A872-4D38-B9DA-725DAEA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B0DE2-C159-4746-A121-0557C5C1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E4F23-6272-4A92-BB0E-C62DA9F5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monitored BMS universe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7ABE3-EDBF-47C5-A27A-76A1B75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opening screen shows the product purpose, total coverage and distribution across five lifecycle stages.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5B57B-CF3C-456C-99AE-FA64F1F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2A724-88D2-42E8-996C-0F7F9F7A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F92C6-C55C-4FF9-AFAF-2C55785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9372600" cy="5343525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95e103db34a2e"/>
          <a:stretch xmlns:a="http://schemas.openxmlformats.org/drawingml/2006/main"/>
        </p:blipFill>
        <p:spPr>
          <a:xfrm xmlns:a="http://schemas.openxmlformats.org/drawingml/2006/main">
            <a:off x="533400" y="2439187"/>
            <a:ext cx="9220200" cy="518955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B28D1-6D49-490E-BF2B-3C1D79E4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20050"/>
            <a:ext cx="1695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22EC9-E9C1-46EB-B2B2-0C038E42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343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298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1E3B0-5FCB-4ACD-817F-EAD731AE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020050"/>
            <a:ext cx="1695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EMERGING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ECB9C-1AD8-40AC-BF9D-1AAC6E0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3343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CF09-62CB-4B3A-80B4-5A657055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8020050"/>
            <a:ext cx="1695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82A4B-96C9-47C0-885D-DCD7A772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83343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F6473-0C92-40FB-B89D-1CBE2A8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8020050"/>
            <a:ext cx="1695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E0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E09B"/>
                </a:solidFill>
                <a:latin typeface="Aptos"/>
                <a:ea typeface="Aptos"/>
                <a:cs typeface="Aptos"/>
              </a:rPr>
              <a:t>ESTABLISHED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6BA7F-71BD-42EF-9BAA-EA34757B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83343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4B148-6708-4346-B92C-445DA397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020050"/>
            <a:ext cx="1695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FADING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6E537-A129-49A1-A688-F9DD4580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3343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10A5E-036C-40F5-A644-588F17D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154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These brighter labels repeat the live categories so they remain legible when the carousel is viewed on a phone.</a:t>
            </a:r>
          </a:p>
        </p:txBody>
      </p:sp>
    </p:spTree>
    <p:extLst>
      <p:ext uri="{BB962C8B-B14F-4D97-AF65-F5344CB8AC3E}">
        <p14:creationId xmlns:p14="http://schemas.microsoft.com/office/powerpoint/2010/main" val="1216165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B3D28-CC66-4143-88D7-D5DCDE22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D6745-0C88-4F04-B917-FA929DF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D833A-1A57-4E03-BC14-1EE63E8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company list and selected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BCA92-3EF5-4176-AA3A-592E5F61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full list remains visible in the carousel. The selected company appears beside its momentum and market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FC478-5763-406F-8F89-A7B81333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600ED-1093-402C-BE38-E9BA1FF1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983EE-66BF-4BCB-9289-995F8807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9372600" cy="5343525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0c8eef32a49f2"/>
          <a:stretch xmlns:a="http://schemas.openxmlformats.org/drawingml/2006/main"/>
        </p:blipFill>
        <p:spPr>
          <a:xfrm xmlns:a="http://schemas.openxmlformats.org/drawingml/2006/main">
            <a:off x="533400" y="2439187"/>
            <a:ext cx="9220200" cy="518955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817C1-718B-411A-AF86-6053D115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3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A2E60-5D49-4439-B0A4-04E9417F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8A509-13B9-4FB7-BBFD-138FAA7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020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Several companies stay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36F7C-A3FA-4B15-A5DD-EA06A98B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43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capture shows the ranked research queue instead of an empty filtered panel.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42B26-F3E5-4E09-B99A-BD4EA46C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03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8BF66-5E0B-4A2C-8B17-12ED9DC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09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D6FFF-A039-4F3F-8709-0BD171A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020050"/>
            <a:ext cx="3800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selected company stays in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DCC36-8914-4433-99C4-8BFA2307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343900"/>
            <a:ext cx="3800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right side explains the lifecycle, score direction and available market context.</a:t>
            </a:r>
          </a:p>
        </p:txBody>
      </p:sp>
    </p:spTree>
    <p:extLst>
      <p:ext uri="{BB962C8B-B14F-4D97-AF65-F5344CB8AC3E}">
        <p14:creationId xmlns:p14="http://schemas.microsoft.com/office/powerpoint/2010/main" val="932317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6027F-3E45-4560-9F6C-8CF77745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6AFA3-CC19-45C3-85EE-44CABD01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F85B-1235-4E47-A27F-0154DE4F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signal and next research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E774E-D6E8-4A6F-B298-EAB6D5B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lower part of the selected-company screen shows the human interpretation and the three research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08C8C-F45B-4A12-BBB0-6FBFDED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A5CFB-DBD9-4C1F-AA02-2DEBE904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3F3D0-2AC1-41E9-9252-1766C2E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9372600" cy="5343525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ec9bd6bdb4579"/>
          <a:stretch xmlns:a="http://schemas.openxmlformats.org/drawingml/2006/main"/>
        </p:blipFill>
        <p:spPr>
          <a:xfrm xmlns:a="http://schemas.openxmlformats.org/drawingml/2006/main">
            <a:off x="533400" y="2572537"/>
            <a:ext cx="9220200" cy="518955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1954F-45BF-4D59-887F-DBAABCE8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6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B24EC-5E9C-4232-995D-B6DF9A55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20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3BE29-FACD-4862-AF05-0AD1CF79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143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Research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98F77-5AFA-49C2-9323-226ADCA5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677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Understand what changed and what would change the signal again.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BCD1C-ABDF-400C-A136-0178639C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16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D3932-7285-4D4C-B978-57F2432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220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62C63-B53E-45FB-80AB-B25E637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143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7F268-3A86-4610-864B-3EFD25B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4677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Open the supporting factors, confidence and confirmation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9B78C-C04A-426C-B402-753679E7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16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545DA-C49F-48CE-9E68-A4D0CCE1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220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51519-07DC-4A28-8ED8-37A26DDE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1438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Dive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DBAE8-822A-4CF5-8533-8853901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467725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Move into a broader company, valuation and risk review.</a:t>
            </a:r>
          </a:p>
        </p:txBody>
      </p:sp>
    </p:spTree>
    <p:extLst>
      <p:ext uri="{BB962C8B-B14F-4D97-AF65-F5344CB8AC3E}">
        <p14:creationId xmlns:p14="http://schemas.microsoft.com/office/powerpoint/2010/main" val="1919323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3BA90-2E06-4C0F-B288-4703FDE7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C06FE-DA91-4247-B26D-18BCC57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D92E5-009E-443A-901E-B2433D9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Lifecycle adds history to a single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A9B62-B84A-4694-BDD3-764D5F5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One result can create a signal. Repeated evidence shows whether it broadens, persists or fades.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73CD4-9AA9-45E9-B87D-D60E1237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FD018-5E82-4B68-89BB-A5669C6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16AE7-08BD-4270-A75D-CA19EEA9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E287A-AA0D-4E19-8EB6-DDCB7EC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384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FF174-B898-41B1-A9F4-EFB086F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62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A5A94-CE37-4F5E-A581-B0DB234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99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First evidence; establish a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3148B-32A2-4DDB-B610-26BACF06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D1F87-1411-4F21-9760-FD1CE8CD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27DB9-2BF3-4731-AEE0-3464F3A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43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EMERGING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1B162-B09B-40C4-9528-109E5D6F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910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positive inflection begins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3E540-DACC-41C6-9EE0-1F195E0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7584C-EA54-4729-95F6-9185A57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006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5003F-573A-426C-9E0E-DA5F7214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244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78DDE-5B22-4B67-93EF-B47B5231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72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More factors or periods confirm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88C2E-82B4-4293-B7F3-D83625FA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246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1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68FEB-0746-4E66-ACED-29418F98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81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E3DA3-A415-42B4-8F8D-D50D35F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05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ESTABLISHED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3F1D0-ED0A-4285-A0DF-C7FBB7C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532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Improvement persists through results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EC4F7-4CC0-47D0-9FD7-4AEF75EC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05700"/>
            <a:ext cx="857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7191E"/>
          </a:solidFill>
          <a:ln xmlns:a="http://schemas.openxmlformats.org/drawingml/2006/main" w="9525">
            <a:solidFill>
              <a:srgbClr val="F477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21607-F9AB-48CE-9FCC-222397A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762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777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77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A9A45-491C-49DD-B54B-832F8C01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866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27D3B-93FD-4B7B-96EE-4E2E396F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7343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Earlier momentum is weakening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4B527-AC60-46C6-BCAA-135EE9A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Lifecycle is not company quality, valuation, price direction or a buy/sell view.</a:t>
            </a:r>
          </a:p>
        </p:txBody>
      </p:sp>
    </p:spTree>
    <p:extLst>
      <p:ext uri="{BB962C8B-B14F-4D97-AF65-F5344CB8AC3E}">
        <p14:creationId xmlns:p14="http://schemas.microsoft.com/office/powerpoint/2010/main" val="1876254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E5EC9-5FD0-49A9-9893-DAC410E6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12D60-B63C-4973-9773-B28BD9D7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6B212-EF36-4A5A-85D2-96EC85DF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selective PDF begins with the decision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4D484-752D-4FD6-B34E-993A3C16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cover preserves the recorded lifecycle, evidence coverage, central watch item and research-readiness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28CD3-1DF7-4D3D-B2CF-2CE72E0B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2E067-FB7F-41E3-B87F-8E322B5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68F3E-7EF3-4ECF-AA73-5D484717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550e380de4cff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911E-6FFB-4462-AAED-88541B71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48EE3-0BB2-40F5-A5D4-7F5D7B9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DA830-86A6-4500-8EE5-571F146E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DEF2E-1738-4C0C-8351-05355DF4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682A6-F851-47BA-99B8-E3382CA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Recorded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1DC46-8A94-40B3-BB03-FF0A0190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original BMS V1 lifecycle remains auditable.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20327-982C-4535-96CE-447BEECE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3B90F-27D0-4F1B-813C-9AB44502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4C7B6-ED7F-4256-A73D-43368285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63C40-2AAF-4E88-A882-5210388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Sources and supported claims are counted.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1D956-2952-4404-89B5-3280B99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182BC-BD65-4ABF-AF22-5889E85E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312CB-58E9-41A5-A927-6840D75A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Visible uncertainty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09BF0-952F-491D-B45E-C34C6FE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watch item is shown rather than concealed.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A98AE-87AB-4105-A66F-1495B05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PDF appears only when report-readiness checks pass.</a:t>
            </a:r>
          </a:p>
        </p:txBody>
      </p:sp>
    </p:spTree>
    <p:extLst>
      <p:ext uri="{BB962C8B-B14F-4D97-AF65-F5344CB8AC3E}">
        <p14:creationId xmlns:p14="http://schemas.microsoft.com/office/powerpoint/2010/main" val="38970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759CC-5880-4107-9878-B404244C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B4B8E-2858-436D-8F1A-3C45D61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D1180-C4D9-4E65-B09D-1AFBBFE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 and confidence answer different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151E1-05E4-49BD-AA96-C4A5EC70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factor score measures direction within available comparisons. Confidence measures how complete that evidence 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65CE4-7206-418A-88E7-B152832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BA53D-3F6F-43C4-A08B-1B257BD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D78CF-3C82-43FD-A30F-76C47811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5d088c6114d1c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C503A-2FCD-4193-9317-AEFDBA11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E226A-EF78-4CFD-AC6F-C302699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E618B-B83A-4E40-9922-8ACED2F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30B78-131C-4F89-8CAE-8A4B27C8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535BB-6DE1-4265-9B65-F93114B2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100 / 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96C42-0D2A-4EC8-AB88-8D8695A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Strong measured momentum in the factors supplied.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8B149-A751-4A6C-BF03-F2ED9A8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B6822-FBF8-4383-8752-A9A4734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92BE4-01AE-4922-99AF-41E20ADB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Medium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109E7-6B76-43AF-BCB0-2AFEFC2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Only part of the five-factor model is comparable.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258A8-AE77-4981-A280-C5FF891D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5DB81-F01D-47EE-8735-EA59E83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6CC53-4596-4B6E-8BA0-FC8BAC8E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N/A stays N/A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DC9C7-6F33-4F00-97F0-532D31F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Missing evidence is never converted into zero or neutral.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40211-C4FD-4895-89C8-B514CC1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327668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17902-C16D-4CA7-8BC0-69B8E543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17420-43CB-4076-A59B-AC7F3369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F167C-ECE1-47B7-B890-0ACF60CF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Financial evidence makes the comparison inspectable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615E9-D479-45FB-B8B4-F395172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report shows prices, quarterly financials and the periods used for comparison, with explicit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7D48C-706F-49BF-B2DC-F265A3CD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E0FB2-03C6-4602-B7AC-D8239AFE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6B684-318A-49F0-8ADE-936AEE38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a13d912734503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CB1C9-FFCD-4ABF-BBAB-421793F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EC240-CADE-4C8D-9FA7-1BD728B7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12E09-81E7-4C68-B714-EBF66EC1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22EAB-09CF-44CC-BFD2-8722945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2796F-FA5E-4595-BA14-08F4319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Comparable periods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A5573-B6A5-4DD2-90D6-8BC6736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Previous and current readings are labelled.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1E120-3BE8-4306-9007-3F4025F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103A7-D809-4248-BB61-3D8FC4E5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F755D-5137-43AF-BEF8-96A334B3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Explicit units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3E920-69EC-4966-90DF-BF1BCE7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₹ crore, percentages, EPS and score /100.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2CDDF-D001-485B-BCB8-B9A8EF6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8B74D-2D90-41A0-99AA-2B2FE4A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9D20F-ED00-4A07-9D2F-93230E8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Source-linked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73E3A-B19A-48A3-BC39-159307EA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Quantitative inputs remain traceable to their source.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13C70-82CA-4F35-A04D-89C3002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1478749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9683B-25D9-43EA-9890-DAF2C4E5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C2056-321E-4DE6-B413-8D7ADDD3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45A11-A673-43AF-9C67-4A7EE44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Later results test the earlier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F266F-22EB-4D09-8419-D668E154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After a lifecycle is recorded, subsequent evidence checks whether that earlier reading still appears valid.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46010-765E-40D4-B974-C4DAD0E0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060EB-D543-4EBA-8249-671C57D1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808AB-44A0-4388-84E2-A9D7592C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01540ee794fd0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60737-C59A-40BF-A3D9-9D9D936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DD96A-2B41-4399-8693-1068F00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SAMPLE PDF · PAGE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FF9F1-0409-4BF7-A8AF-4179C0A8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5978A-0C30-4A63-977D-38914343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0E3D3-CBD5-472F-9C03-04D42177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9FEB0-8A18-4338-9545-D1EB077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Do not rewrite the historical classification.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E84A7-0C72-4C2A-AC2F-CADE5A3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371B7-739D-491A-90C3-2322830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C06A4-F1AE-4D1A-A656-E40E4EDE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EA0F8-4A56-4DDF-9537-4A415C1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Test delivery and business-quality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D2573-59F1-4E7F-9202-050408E1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11EB3-C5FE-4117-8218-2D837B73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9C2FF-F881-4341-8E15-2FC947C1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Prioritise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2682D-F8E8-4AD2-BB6B-FD34B67B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Raise, lower or defer today’s research priority.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FE845-B24E-4B77-974D-BDE47E63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13260067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0DD6C3-8F17-47B9-AC77-DDD1887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0884-405A-49F3-A351-5B3B748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DA2CE-C65A-45B9-AE2F-B000A07D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Management claims need memory before they need a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381B-18BF-4397-B25B-6CA9EEB8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 statement becomes useful only when it is dated, measurable, remembered and checked against a later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5CEEE-8273-4FB3-AE4D-54CFD7DB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36688-EEB1-4199-86F3-8B1F1CE9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48637-9A81-4962-86D2-7F7B9B75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7d89de06b4399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DB90C-A8AF-4C7B-BF7B-5638543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06FB1-7F50-4D13-A497-514CC25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F5179-D593-451E-AAE0-D262A1C3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A05F2-0771-4640-9F5E-678F3BF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5D89C-2FB1-479D-9F90-8076F2A5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8F54E-B32E-447E-BEAC-EF22FBC4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Capture a measurable commitment and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4309B-BEF7-47E2-9B2E-325D0A4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8F100-F783-4E22-A8AC-123CDDCD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ABC44-D120-4FA8-BAFB-85FE5DC1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EEB62-53E7-470A-B393-E87926C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Wait until the target date or outcome exists.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84664-AD46-456F-BA70-B66A5991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C8509-4D31-449A-B553-74775FF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99319-72CF-4017-B6EE-28E54ED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A4F1C-B64B-447D-9058-D334E47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Assess delivery, revision discipline and disclosure quality.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9FF2D-2545-4690-BD3A-3808EF4B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859072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E0E0B-C13D-4E7B-A04B-E5478971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30EAB-3305-44E5-AEC4-89A0CF7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BF03F-ECA2-4FC3-866D-EDD9CA7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methodology preserves the source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57508-F6C4-4B63-AE32-71F46D4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final page explains the method, limitations and source register so the conclusion can be challenged.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0AD9F-FC69-40F6-A11B-583E4734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5BE75-69F1-4CE0-9BF0-53C237A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E14E4-30D0-4B0B-8BFC-89241C65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105400" cy="672465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5b4b9c7bb42fa"/>
          <a:stretch xmlns:a="http://schemas.openxmlformats.org/drawingml/2006/main"/>
        </p:blipFill>
        <p:spPr>
          <a:xfrm xmlns:a="http://schemas.openxmlformats.org/drawingml/2006/main">
            <a:off x="819727" y="2571750"/>
            <a:ext cx="4647045" cy="657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2186A-97A2-4B37-9788-9BF3F2C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6670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83CC1-9DDF-4FEB-B35C-AD98F37B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SAMPLE PDF · PAGE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16999-42D4-454D-B3CA-CFADED0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12D70-9607-4279-B44E-5205FA15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9CFF4-8E2B-465A-AA56-BFD7F5D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Official-first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7B985-04F0-4472-994D-1A1A70DA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Company and exchange evidence lead admission.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B374C-9B8D-4E39-966C-62DA2D97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F4E03-BA71-47A1-891A-21D8021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E0E93-0452-4C26-B415-A17523F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Bounded fallbacks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5CB0C-09F7-46B7-BE93-54B3B683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Alternative evidence is labelled and constrained.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04F78-F805-4A5F-8597-6E97A5C2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0F32E-08DF-4C84-BCF2-135AAB86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4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0D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D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0FB5E-6666-48A4-8C82-C80DB8DC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7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 invention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A68BC-4D06-40AA-921F-1744C7D8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Unknown or incomplete evidence remains visible.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9392F-E6D4-492B-814D-29C170F4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82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Complete page shown without cropping.</a:t>
            </a:r>
          </a:p>
        </p:txBody>
      </p:sp>
    </p:spTree>
    <p:extLst>
      <p:ext uri="{BB962C8B-B14F-4D97-AF65-F5344CB8AC3E}">
        <p14:creationId xmlns:p14="http://schemas.microsoft.com/office/powerpoint/2010/main" val="1049222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ADE5-2CFA-4008-89BD-BC13A68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F0A10-BB29-406B-B520-335AF31C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0B3A-C4E3-44C5-8F74-8E758FFD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Dive begins with a deliberate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749B8-2CF1-45EA-9110-494380C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selected company carries from the BMS experience into the broader research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9B4CA-6C3B-415C-AB60-E179CC3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223DB-7AF2-4771-A01F-03D3CC4D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2B84F-DD7D-4C78-861A-CE2AB53D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8801100" cy="704850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88ec3ef3e4620"/>
          <a:stretch xmlns:a="http://schemas.openxmlformats.org/drawingml/2006/main"/>
        </p:blipFill>
        <p:spPr>
          <a:xfrm xmlns:a="http://schemas.openxmlformats.org/drawingml/2006/main">
            <a:off x="819150" y="2483423"/>
            <a:ext cx="8648700" cy="68822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6CB02-EBCF-4886-9904-8ED07E3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496300"/>
            <a:ext cx="18097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38DD5-C2F5-4607-BBDC-9C707BB1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553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SELECT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BC79B-8CD6-4AD0-AC62-9A9CB2F3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5248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user initiates the fuller analysis only when the signal deserves additional work.</a:t>
            </a:r>
          </a:p>
        </p:txBody>
      </p:sp>
    </p:spTree>
    <p:extLst>
      <p:ext uri="{BB962C8B-B14F-4D97-AF65-F5344CB8AC3E}">
        <p14:creationId xmlns:p14="http://schemas.microsoft.com/office/powerpoint/2010/main" val="2142979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E98F8-A412-43BC-9D40-D71B9EA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136BB-F12E-4038-8A6C-666E1CE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FEBE2-A04D-4E03-BA13-493D0CC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Deep Dive returns a broader company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80C60-7E4E-4ED3-ABE1-E986BE5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output adds an executive narrative, quantitative scoring and risk identification beyond the concise tracker.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6547A-1502-4CBC-8D00-EAD3B7E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B0DF0-E582-41E9-AA40-CDD797F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5CC83-84DA-43F9-BFBE-3662C4F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8801100" cy="704850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415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ceb68b52e42f6"/>
          <a:stretch xmlns:a="http://schemas.openxmlformats.org/drawingml/2006/main"/>
        </p:blipFill>
        <p:spPr>
          <a:xfrm xmlns:a="http://schemas.openxmlformats.org/drawingml/2006/main">
            <a:off x="819150" y="2483423"/>
            <a:ext cx="8648700" cy="68822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ABCD2-4C09-44A8-B257-26532A63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496300"/>
            <a:ext cx="2857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70C14-C9C7-40E8-8344-BB82C1B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5534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BROADER ON-DEMAND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D59C6-2B4B-47C0-BFDC-A05452B6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4391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Additional small and mid caps may be researched subject to data availability. Deep Dive coverage does not itself confer a BMS lifecycle.</a:t>
            </a:r>
          </a:p>
        </p:txBody>
      </p:sp>
    </p:spTree>
    <p:extLst>
      <p:ext uri="{BB962C8B-B14F-4D97-AF65-F5344CB8AC3E}">
        <p14:creationId xmlns:p14="http://schemas.microsoft.com/office/powerpoint/2010/main" val="183051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FC110-A20E-49BA-8001-BF4107F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CEEF0-521A-4811-850A-63A59D8A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ALPHASYNTH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5EA7-F4C7-4556-8A43-FAED0480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discipline and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04A94-723F-43AB-AC0B-F9E4B84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The build is ready for demonstration when the workflow completes reliably and weak evidence is stopped visibly.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5B43D-1007-4D4D-8060-8FBB4E2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6C9"/>
                </a:solidFill>
                <a:latin typeface="Aptos"/>
                <a:ea typeface="Aptos"/>
                <a:cs typeface="Aptos"/>
              </a:rPr>
              <a:t>AlphaSynth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CE4EC-FBD1-45EA-9FDA-4CFC20A3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20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6C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1398C-AA3C-47A3-9467-14388CE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1719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0C2430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8415A-EB67-4B4E-8F3C-40844E3C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24 of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EB980-14C1-4777-BAAB-FE5C9F46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workflows completed in the bounded validation cohort.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4E037-FCD4-4529-98F7-E126EBC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1719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E7B64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6A0B2-4738-4E4F-807D-8EAEC626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2 of 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5B281-9AC6-434D-9223-6E707BF8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 the stricter standard for a downloadable full PDF.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62B8F-FB2E-45C5-A3EB-836A4987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D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D7C8"/>
                </a:solidFill>
                <a:latin typeface="Aptos"/>
                <a:ea typeface="Aptos"/>
                <a:cs typeface="Aptos"/>
              </a:rPr>
              <a:t>WHAT THIS PROVES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1BDFF-EDB2-4970-A43B-BBC2557A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881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workflow can finish, expose limitations, and selectively withhold a report when evidence is too thin.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D2513-C7F5-4C70-8F59-C139471B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7B6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B640"/>
                </a:solidFill>
                <a:latin typeface="Aptos"/>
                <a:ea typeface="Aptos"/>
                <a:cs typeface="Aptos"/>
              </a:rPr>
              <a:t>WHAT THIS DOES NOT 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1EE21-76C0-4BDD-8DFF-024A8A74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34300"/>
            <a:ext cx="881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3DC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3DCE8"/>
                </a:solidFill>
                <a:latin typeface="Aptos"/>
                <a:ea typeface="Aptos"/>
                <a:cs typeface="Aptos"/>
              </a:rPr>
              <a:t>It is not predictive-accuracy evidence and it does not replace due diligence or provide an investment recommendation.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F3D3C-36FD-49B7-8786-2596EC6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10625"/>
            <a:ext cx="6858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928"/>
          </a:solidFill>
          <a:ln xmlns:a="http://schemas.openxmlformats.org/drawingml/2006/main" w="9525">
            <a:solidFill>
              <a:srgbClr val="25D7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AAE46-841E-488E-AC3D-61C3A14B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expectation-pilot---alphasynth-equity-oqc2y4ogda-uc.a.run.app</a:t>
            </a:r>
          </a:p>
        </p:txBody>
      </p:sp>
    </p:spTree>
    <p:extLst>
      <p:ext uri="{BB962C8B-B14F-4D97-AF65-F5344CB8AC3E}">
        <p14:creationId xmlns:p14="http://schemas.microsoft.com/office/powerpoint/2010/main" val="1654816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2026-09-15T07:07:20.2480000Z</dcterms:created>
  <dcterms:modified xsi:type="dcterms:W3CDTF">2026-09-15T07:07:20.2480000Z</dcterms:modified>
</coreProperties>
</file>