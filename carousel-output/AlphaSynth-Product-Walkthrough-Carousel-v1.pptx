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8d953611c54390" /><Relationship Type="http://schemas.openxmlformats.org/officeDocument/2006/relationships/extended-properties" Target="/docProps/app.xml" Id="Rdaa65ec8d0714575" /><Relationship Type="http://schemas.openxmlformats.org/officeDocument/2006/relationships/officeDocument" Target="/ppt/presentation.xml" Id="Rb181ae94c48c4a61" /></Relationships>
</file>

<file path=ppt/presentation.xml><?xml version="1.0" encoding="utf-8"?>
<p:presentation xmlns:p="http://schemas.openxmlformats.org/presentationml/2006/main">
  <p:sldMasterIdLst>
    <p:sldMasterId xmlns:r="http://schemas.openxmlformats.org/officeDocument/2006/relationships" id="2147483648" r:id="Ra1bfa7e4a35c468e"/>
  </p:sldMasterIdLst>
  <p:notesMasterIdLst>
    <p:notesMasterId xmlns:r="http://schemas.openxmlformats.org/officeDocument/2006/relationships" r:id="R814a0115e6324405"/>
  </p:notesMasterIdLst>
  <p:sldIdLst>
    <p:sldId xmlns:r="http://schemas.openxmlformats.org/officeDocument/2006/relationships" id="256" r:id="R411a9a0162ed4567"/>
    <p:sldId xmlns:r="http://schemas.openxmlformats.org/officeDocument/2006/relationships" id="257" r:id="R97a7d35fe1bd4862"/>
    <p:sldId xmlns:r="http://schemas.openxmlformats.org/officeDocument/2006/relationships" id="258" r:id="Rd0a9eeba1e2a4e76"/>
    <p:sldId xmlns:r="http://schemas.openxmlformats.org/officeDocument/2006/relationships" id="259" r:id="Ra57f0752329c45ef"/>
    <p:sldId xmlns:r="http://schemas.openxmlformats.org/officeDocument/2006/relationships" id="260" r:id="R352c21da7bc84540"/>
    <p:sldId xmlns:r="http://schemas.openxmlformats.org/officeDocument/2006/relationships" id="261" r:id="R8acd1b106f5b44d0"/>
    <p:sldId xmlns:r="http://schemas.openxmlformats.org/officeDocument/2006/relationships" id="262" r:id="R141ac21f62c643e4"/>
    <p:sldId xmlns:r="http://schemas.openxmlformats.org/officeDocument/2006/relationships" id="263" r:id="Rdc67aa9be58545ad"/>
    <p:sldId xmlns:r="http://schemas.openxmlformats.org/officeDocument/2006/relationships" id="264" r:id="R7adcd6bebdf94a24"/>
    <p:sldId xmlns:r="http://schemas.openxmlformats.org/officeDocument/2006/relationships" id="265" r:id="R44690c22b9824c08"/>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7d2878e3a34e7b" /><Relationship Type="http://schemas.openxmlformats.org/officeDocument/2006/relationships/slideMaster" Target="/ppt/slideMasters/slideMaster1.xml" Id="Ra1bfa7e4a35c468e" /><Relationship Type="http://schemas.openxmlformats.org/officeDocument/2006/relationships/notesMaster" Target="/ppt/notesMasters/notesMaster1.xml" Id="R814a0115e6324405" /><Relationship Type="http://schemas.openxmlformats.org/officeDocument/2006/relationships/presProps" Target="/ppt/presProps.xml" Id="Rbf50e5f9552b4409" /><Relationship Type="http://schemas.openxmlformats.org/officeDocument/2006/relationships/tableStyles" Target="/ppt/tableStyles.xml" Id="R66695b22dbd946bf" /><Relationship Type="http://schemas.openxmlformats.org/officeDocument/2006/relationships/slide" Target="/ppt/slides/slide1.xml" Id="R411a9a0162ed4567" /><Relationship Type="http://schemas.openxmlformats.org/officeDocument/2006/relationships/slide" Target="/ppt/slides/slide2.xml" Id="R97a7d35fe1bd4862" /><Relationship Type="http://schemas.openxmlformats.org/officeDocument/2006/relationships/slide" Target="/ppt/slides/slide3.xml" Id="Rd0a9eeba1e2a4e76" /><Relationship Type="http://schemas.openxmlformats.org/officeDocument/2006/relationships/slide" Target="/ppt/slides/slide4.xml" Id="Ra57f0752329c45ef" /><Relationship Type="http://schemas.openxmlformats.org/officeDocument/2006/relationships/slide" Target="/ppt/slides/slide5.xml" Id="R352c21da7bc84540" /><Relationship Type="http://schemas.openxmlformats.org/officeDocument/2006/relationships/slide" Target="/ppt/slides/slide6.xml" Id="R8acd1b106f5b44d0" /><Relationship Type="http://schemas.openxmlformats.org/officeDocument/2006/relationships/slide" Target="/ppt/slides/slide7.xml" Id="R141ac21f62c643e4" /><Relationship Type="http://schemas.openxmlformats.org/officeDocument/2006/relationships/slide" Target="/ppt/slides/slide8.xml" Id="Rdc67aa9be58545ad" /><Relationship Type="http://schemas.openxmlformats.org/officeDocument/2006/relationships/slide" Target="/ppt/slides/slide9.xml" Id="R7adcd6bebdf94a24" /><Relationship Type="http://schemas.openxmlformats.org/officeDocument/2006/relationships/slide" Target="/ppt/slides/slide10.xml" Id="R44690c22b9824c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a2034caa4c41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d3dd194ba74ebe" /><Relationship Type="http://schemas.openxmlformats.org/officeDocument/2006/relationships/notesMaster" Target="/ppt/notesMasters/notesMaster1.xml" Id="Rd17cd1dcff4247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fe308e74534bab" /><Relationship Type="http://schemas.openxmlformats.org/officeDocument/2006/relationships/notesMaster" Target="/ppt/notesMasters/notesMaster1.xml" Id="Rcaa57be6af7b42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b35030008349f6" /><Relationship Type="http://schemas.openxmlformats.org/officeDocument/2006/relationships/notesMaster" Target="/ppt/notesMasters/notesMaster1.xml" Id="R337e7560ac1545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ee9119a7fa4c85" /><Relationship Type="http://schemas.openxmlformats.org/officeDocument/2006/relationships/notesMaster" Target="/ppt/notesMasters/notesMaster1.xml" Id="R5333868e8efb4e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55b743601e4703" /><Relationship Type="http://schemas.openxmlformats.org/officeDocument/2006/relationships/notesMaster" Target="/ppt/notesMasters/notesMaster1.xml" Id="Radea79ce88254c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76e689f1974774" /><Relationship Type="http://schemas.openxmlformats.org/officeDocument/2006/relationships/notesMaster" Target="/ppt/notesMasters/notesMaster1.xml" Id="Rcafdb76d49f749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440ea5d01c4d96" /><Relationship Type="http://schemas.openxmlformats.org/officeDocument/2006/relationships/notesMaster" Target="/ppt/notesMasters/notesMaster1.xml" Id="R93c9600853f647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81288aeaa94ef2" /><Relationship Type="http://schemas.openxmlformats.org/officeDocument/2006/relationships/notesMaster" Target="/ppt/notesMasters/notesMaster1.xml" Id="R372aef653e8041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c1ed2b96b14b9f" /><Relationship Type="http://schemas.openxmlformats.org/officeDocument/2006/relationships/notesMaster" Target="/ppt/notesMasters/notesMaster1.xml" Id="R77c551775e6b4d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8eefe70e524f91" /><Relationship Type="http://schemas.openxmlformats.org/officeDocument/2006/relationships/notesMaster" Target="/ppt/notesMasters/notesMaster1.xml" Id="Rf8d3f10ee5ce40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message for both peer developers and market users. The right side is a live AlphaSynth Signal Tracker capture from 15 September 2026. The text below each slide in PowerPoint is a presenter note, not a voice-over track. Source: live pilot URL, captured 2026-09-15.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Signal Tracker capture, RADICO selected, 15 September 2026. The 477-company number refers to the monitored BMS universe, not the broader on-demand Deep Dive search universe.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is a time-based classification layered on the current BMS reading. It remains separate from valuation and investment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page 1 of the generated RADICO evidence dossier. In the live application the same information is reached through View Evidence Report. Missing evidence remains visible; it is not backfilled with invented values. Source: generated sample dossier,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RADICO dossier, page 2. The apparent 100 versus medium-confidence tension is intentional: the first measures momentum in the supplied comparable factors; the second states how complete the evidence set is. Source: generated sample dossier,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RADICO dossier, page 4. The confirmation overlay compares subsequent published evidence with the recorded lifecycle. It can raise or lower research priority while preserving the original classification as an auditable historical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RADICO dossier, page 5, alongside the implemented management-guidance ledger methodology. Commentary and delivery are related but separate: commentary records tone and commitments; delivery scores only matured commitments with verifiable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images are live pilot captures from 15 September 2026. Deep Dive can research a broader on-demand universe than the 477-company BMS tracker. A company found through Deep Dive should not be described as having a BMS lifecycle unless it is actually included in the monitored BMS universe.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images are pages 1, 3 and 6 from the generated RADICO dossier. The bounded 25-company test measured system completion and PDF readiness, not stock-return accuracy: 24 workflows completed; 2 met the full report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slide. Suggested live demonstration: choose a lifecycle, select one company, open View Evidence Report, then use Deep Dive. The pilot URL is shown for the peer-review session. The application is a research aid and does not replace due diligence or provide investment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6030b694cb4c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180175820549b0" /><Relationship Type="http://schemas.openxmlformats.org/officeDocument/2006/relationships/slideLayout" Target="/ppt/slideLayouts/slideLayout1.xml" Id="Rdbb613e97f0d4b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b613e97f0d4b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70b78308904e4e" /><Relationship Type="http://schemas.openxmlformats.org/officeDocument/2006/relationships/image" Target="/ppt/media/image.jpeg" Id="R43e63672dcd74c40" /><Relationship Type="http://schemas.openxmlformats.org/officeDocument/2006/relationships/notesSlide" Target="/ppt/notesSlides/notesSlide1.xml" Id="R7dd519c4f8fa4b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f1c917e73e4dff" /><Relationship Type="http://schemas.openxmlformats.org/officeDocument/2006/relationships/image" Target="/ppt/media/image2.jpeg" Id="R50829ee1963e4f93" /><Relationship Type="http://schemas.openxmlformats.org/officeDocument/2006/relationships/notesSlide" Target="/ppt/notesSlides/notesSlide2.xml" Id="R71f523fca50848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aa64817a5143a2" /><Relationship Type="http://schemas.openxmlformats.org/officeDocument/2006/relationships/notesSlide" Target="/ppt/notesSlides/notesSlide3.xml" Id="Rdbb28b481b424d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6496ded41a45bc" /><Relationship Type="http://schemas.openxmlformats.org/officeDocument/2006/relationships/image" Target="/ppt/media/image.png" Id="Rfdc9b53ed5964c99" /><Relationship Type="http://schemas.openxmlformats.org/officeDocument/2006/relationships/notesSlide" Target="/ppt/notesSlides/notesSlide4.xml" Id="R4c5871a7bc2548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1d0a8734344752" /><Relationship Type="http://schemas.openxmlformats.org/officeDocument/2006/relationships/image" Target="/ppt/media/image2.png" Id="R5d91e2062b5b4db2" /><Relationship Type="http://schemas.openxmlformats.org/officeDocument/2006/relationships/notesSlide" Target="/ppt/notesSlides/notesSlide5.xml" Id="R8df70f0a8a8c4b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2a196367584b39" /><Relationship Type="http://schemas.openxmlformats.org/officeDocument/2006/relationships/image" Target="/ppt/media/image3.png" Id="R7591b80397b7445d" /><Relationship Type="http://schemas.openxmlformats.org/officeDocument/2006/relationships/notesSlide" Target="/ppt/notesSlides/notesSlide6.xml" Id="R7d6cef26eb5543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b4805c084d475b" /><Relationship Type="http://schemas.openxmlformats.org/officeDocument/2006/relationships/image" Target="/ppt/media/image4.png" Id="R823e20f1dd174ed5" /><Relationship Type="http://schemas.openxmlformats.org/officeDocument/2006/relationships/notesSlide" Target="/ppt/notesSlides/notesSlide7.xml" Id="Rc10cdc4604da46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e6043afa56480a" /><Relationship Type="http://schemas.openxmlformats.org/officeDocument/2006/relationships/image" Target="/ppt/media/image3.jpeg" Id="R046981da2a234fe3" /><Relationship Type="http://schemas.openxmlformats.org/officeDocument/2006/relationships/image" Target="/ppt/media/image4.jpeg" Id="R60fb8dede45a40cd" /><Relationship Type="http://schemas.openxmlformats.org/officeDocument/2006/relationships/notesSlide" Target="/ppt/notesSlides/notesSlide8.xml" Id="Ref6393d58e344e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67ea113f5d4a9c" /><Relationship Type="http://schemas.openxmlformats.org/officeDocument/2006/relationships/image" Target="/ppt/media/image5.png" Id="R99db5a19f51d4ea6" /><Relationship Type="http://schemas.openxmlformats.org/officeDocument/2006/relationships/image" Target="/ppt/media/image6.png" Id="R9d641fc0752c431b" /><Relationship Type="http://schemas.openxmlformats.org/officeDocument/2006/relationships/image" Target="/ppt/media/image7.png" Id="R6ec0030c87d44b59" /><Relationship Type="http://schemas.openxmlformats.org/officeDocument/2006/relationships/notesSlide" Target="/ppt/notesSlides/notesSlide9.xml" Id="Rde4ff52b9a094c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be119aef0d43dd" /><Relationship Type="http://schemas.openxmlformats.org/officeDocument/2006/relationships/notesSlide" Target="/ppt/notesSlides/notesSlide10.xml" Id="R2cafe4d2f9654f9e" /></Relationships>
</file>

<file path=ppt/slides/slide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3e63672dcd74c40"/>
          <a:srcRect xmlns:a="http://schemas.openxmlformats.org/drawingml/2006/main" l="24580" t="0" r="24580" b="0"/>
          <a:stretch xmlns:a="http://schemas.openxmlformats.org/drawingml/2006/main">
            <a:fillRect l="0" t="0" r="0" b="0"/>
          </a:stretch>
        </p:blipFill>
        <p:spPr>
          <a:xfrm xmlns:a="http://schemas.openxmlformats.org/drawingml/2006/main">
            <a:off x="3714750" y="0"/>
            <a:ext cx="6572250" cy="10287000"/>
          </a:xfrm>
          <a:prstGeom xmlns:a="http://schemas.openxmlformats.org/drawingml/2006/main" prst="roundRect">
            <a:avLst>
              <a:gd name="adj" fmla="val 1739"/>
            </a:avLst>
          </a:prstGeom>
        </p:spPr>
      </p:pic>
      <p:sp>
        <p:nvSpPr>
          <p:cNvPr id="2" name="">
            <a:extLst xmlns:a="http://schemas.openxmlformats.org/drawingml/2006/main">
              <a:ext uri="{FF2B5EF4-FFF2-40B4-BE49-F238E27FC236}">
                <a16:creationId xmlns:a16="http://schemas.microsoft.com/office/drawing/2014/main" id="{598340ED-0207-40CE-A2FB-04C02AA8E05F}"/>
              </a:ext>
            </a:extLst>
          </p:cNvPr>
          <p:cNvSpPr>
            <a:spLocks xmlns:a="http://schemas.openxmlformats.org/drawingml/2006/main" noGrp="1"/>
          </p:cNvSpPr>
          <p:nvPr/>
        </p:nvSpPr>
        <p:spPr>
          <a:xfrm xmlns:a="http://schemas.openxmlformats.org/drawingml/2006/main">
            <a:off x="0" y="0"/>
            <a:ext cx="4619625" cy="10287000"/>
          </a:xfrm>
          <a:prstGeom xmlns:a="http://schemas.openxmlformats.org/drawingml/2006/main" prst="rect">
            <a:avLst/>
          </a:prstGeom>
          <a:solidFill xmlns:a="http://schemas.openxmlformats.org/drawingml/2006/main">
            <a:srgbClr val="08101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1A3515-8A43-4D47-A066-2AA8C8AEBAB4}"/>
              </a:ext>
            </a:extLst>
          </p:cNvPr>
          <p:cNvSpPr>
            <a:spLocks xmlns:a="http://schemas.openxmlformats.org/drawingml/2006/main" noGrp="1"/>
          </p:cNvSpPr>
          <p:nvPr/>
        </p:nvSpPr>
        <p:spPr>
          <a:xfrm xmlns:a="http://schemas.openxmlformats.org/drawingml/2006/main">
            <a:off x="552450" y="876300"/>
            <a:ext cx="685800" cy="66675"/>
          </a:xfrm>
          <a:prstGeom xmlns:a="http://schemas.openxmlformats.org/drawingml/2006/main" prst="rect">
            <a:avLst/>
          </a:prstGeom>
          <a:solidFill xmlns:a="http://schemas.openxmlformats.org/drawingml/2006/main">
            <a:srgbClr val="E3B34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B7212F-A65C-429E-95FB-8D22BA140FD6}"/>
              </a:ext>
            </a:extLst>
          </p:cNvPr>
          <p:cNvSpPr>
            <a:spLocks xmlns:a="http://schemas.openxmlformats.org/drawingml/2006/main" noGrp="1"/>
          </p:cNvSpPr>
          <p:nvPr/>
        </p:nvSpPr>
        <p:spPr>
          <a:xfrm xmlns:a="http://schemas.openxmlformats.org/drawingml/2006/main">
            <a:off x="552450" y="112395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E3B341"/>
                </a:solidFill>
                <a:latin typeface="Aptos"/>
                <a:ea typeface="Aptos"/>
                <a:cs typeface="Aptos"/>
              </a:defRPr>
            </a:pPr>
            <a:r>
              <a:rPr sz="1125" b="1">
                <a:solidFill>
                  <a:srgbClr val="E3B341"/>
                </a:solidFill>
                <a:latin typeface="Aptos"/>
                <a:ea typeface="Aptos"/>
                <a:cs typeface="Aptos"/>
              </a:rPr>
              <a:t>ALPHASYNTH INTELLIGENCE</a:t>
            </a:r>
          </a:p>
        </p:txBody>
      </p:sp>
      <p:sp>
        <p:nvSpPr>
          <p:cNvPr id="5" name="">
            <a:extLst xmlns:a="http://schemas.openxmlformats.org/drawingml/2006/main">
              <a:ext uri="{FF2B5EF4-FFF2-40B4-BE49-F238E27FC236}">
                <a16:creationId xmlns:a16="http://schemas.microsoft.com/office/drawing/2014/main" id="{1F31B775-A7FF-4D85-AFE9-56BFE2B3D34A}"/>
              </a:ext>
            </a:extLst>
          </p:cNvPr>
          <p:cNvSpPr>
            <a:spLocks xmlns:a="http://schemas.openxmlformats.org/drawingml/2006/main" noGrp="1"/>
          </p:cNvSpPr>
          <p:nvPr/>
        </p:nvSpPr>
        <p:spPr>
          <a:xfrm xmlns:a="http://schemas.openxmlformats.org/drawingml/2006/main">
            <a:off x="552450" y="2000250"/>
            <a:ext cx="371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7F9FC"/>
                </a:solidFill>
                <a:latin typeface="Aptos"/>
                <a:ea typeface="Aptos"/>
                <a:cs typeface="Aptos"/>
              </a:defRPr>
            </a:pPr>
            <a:r>
              <a:rPr sz="3450" b="1">
                <a:solidFill>
                  <a:srgbClr val="F7F9FC"/>
                </a:solidFill>
                <a:latin typeface="Aptos"/>
                <a:ea typeface="Aptos"/>
                <a:cs typeface="Aptos"/>
              </a:rPr>
              <a:t>Find business change</a:t>
            </a:r>
          </a:p>
          <a:p xmlns:a="http://schemas.openxmlformats.org/drawingml/2006/main">
            <a:pPr>
              <a:defRPr sz="3450" b="1">
                <a:solidFill>
                  <a:srgbClr val="F7F9FC"/>
                </a:solidFill>
                <a:latin typeface="Aptos"/>
                <a:ea typeface="Aptos"/>
                <a:cs typeface="Aptos"/>
              </a:defRPr>
            </a:pPr>
            <a:r>
              <a:rPr sz="3450" b="1">
                <a:solidFill>
                  <a:srgbClr val="F7F9FC"/>
                </a:solidFill>
                <a:latin typeface="Aptos"/>
                <a:ea typeface="Aptos"/>
                <a:cs typeface="Aptos"/>
              </a:rPr>
              <a:t>before it becomes obvious</a:t>
            </a:r>
          </a:p>
        </p:txBody>
      </p:sp>
      <p:sp>
        <p:nvSpPr>
          <p:cNvPr id="6" name="">
            <a:extLst xmlns:a="http://schemas.openxmlformats.org/drawingml/2006/main">
              <a:ext uri="{FF2B5EF4-FFF2-40B4-BE49-F238E27FC236}">
                <a16:creationId xmlns:a16="http://schemas.microsoft.com/office/drawing/2014/main" id="{D9BF2CFC-E742-4E93-8EB3-5012246F6E39}"/>
              </a:ext>
            </a:extLst>
          </p:cNvPr>
          <p:cNvSpPr>
            <a:spLocks xmlns:a="http://schemas.openxmlformats.org/drawingml/2006/main" noGrp="1"/>
          </p:cNvSpPr>
          <p:nvPr/>
        </p:nvSpPr>
        <p:spPr>
          <a:xfrm xmlns:a="http://schemas.openxmlformats.org/drawingml/2006/main">
            <a:off x="552450" y="4476750"/>
            <a:ext cx="3524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BD5E1"/>
                </a:solidFill>
                <a:latin typeface="Aptos"/>
                <a:ea typeface="Aptos"/>
                <a:cs typeface="Aptos"/>
              </a:defRPr>
            </a:pPr>
            <a:r>
              <a:rPr sz="1500" b="0">
                <a:solidFill>
                  <a:srgbClr val="CBD5E1"/>
                </a:solidFill>
                <a:latin typeface="Aptos"/>
                <a:ea typeface="Aptos"/>
                <a:cs typeface="Aptos"/>
              </a:rPr>
              <a:t>A live research workflow that tracks fundamental momentum, preserves the evidence and opens a deeper company review.</a:t>
            </a:r>
          </a:p>
        </p:txBody>
      </p:sp>
      <p:sp>
        <p:nvSpPr>
          <p:cNvPr id="7" name="">
            <a:extLst xmlns:a="http://schemas.openxmlformats.org/drawingml/2006/main">
              <a:ext uri="{FF2B5EF4-FFF2-40B4-BE49-F238E27FC236}">
                <a16:creationId xmlns:a16="http://schemas.microsoft.com/office/drawing/2014/main" id="{AA9B952E-BFB7-4E83-9708-BC3E8B68B7CF}"/>
              </a:ext>
            </a:extLst>
          </p:cNvPr>
          <p:cNvSpPr>
            <a:spLocks xmlns:a="http://schemas.openxmlformats.org/drawingml/2006/main" noGrp="1"/>
          </p:cNvSpPr>
          <p:nvPr/>
        </p:nvSpPr>
        <p:spPr>
          <a:xfrm xmlns:a="http://schemas.openxmlformats.org/drawingml/2006/main">
            <a:off x="552450" y="6267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WHAT IT DOES</a:t>
            </a:r>
          </a:p>
        </p:txBody>
      </p:sp>
      <p:sp>
        <p:nvSpPr>
          <p:cNvPr id="8" name="">
            <a:extLst xmlns:a="http://schemas.openxmlformats.org/drawingml/2006/main">
              <a:ext uri="{FF2B5EF4-FFF2-40B4-BE49-F238E27FC236}">
                <a16:creationId xmlns:a16="http://schemas.microsoft.com/office/drawing/2014/main" id="{C1B01FB9-06A5-49D8-9791-6BEEEB02D348}"/>
              </a:ext>
            </a:extLst>
          </p:cNvPr>
          <p:cNvSpPr>
            <a:spLocks xmlns:a="http://schemas.openxmlformats.org/drawingml/2006/main" noGrp="1"/>
          </p:cNvSpPr>
          <p:nvPr/>
        </p:nvSpPr>
        <p:spPr>
          <a:xfrm xmlns:a="http://schemas.openxmlformats.org/drawingml/2006/main">
            <a:off x="552450" y="659130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7F9FC"/>
                </a:solidFill>
                <a:latin typeface="Aptos"/>
                <a:ea typeface="Aptos"/>
                <a:cs typeface="Aptos"/>
              </a:defRPr>
            </a:pPr>
            <a:r>
              <a:rPr sz="1425" b="1">
                <a:solidFill>
                  <a:srgbClr val="F7F9FC"/>
                </a:solidFill>
                <a:latin typeface="Aptos"/>
                <a:ea typeface="Aptos"/>
                <a:cs typeface="Aptos"/>
              </a:rPr>
              <a:t>Prioritises where further research may be worthwhile.</a:t>
            </a:r>
          </a:p>
        </p:txBody>
      </p:sp>
      <p:sp>
        <p:nvSpPr>
          <p:cNvPr id="9" name="">
            <a:extLst xmlns:a="http://schemas.openxmlformats.org/drawingml/2006/main">
              <a:ext uri="{FF2B5EF4-FFF2-40B4-BE49-F238E27FC236}">
                <a16:creationId xmlns:a16="http://schemas.microsoft.com/office/drawing/2014/main" id="{9B9B54AA-10B5-4036-A62B-C8286AF11A60}"/>
              </a:ext>
            </a:extLst>
          </p:cNvPr>
          <p:cNvSpPr>
            <a:spLocks xmlns:a="http://schemas.openxmlformats.org/drawingml/2006/main" noGrp="1"/>
          </p:cNvSpPr>
          <p:nvPr/>
        </p:nvSpPr>
        <p:spPr>
          <a:xfrm xmlns:a="http://schemas.openxmlformats.org/drawingml/2006/main">
            <a:off x="552450" y="77152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E3B341"/>
                </a:solidFill>
                <a:latin typeface="Aptos"/>
                <a:ea typeface="Aptos"/>
                <a:cs typeface="Aptos"/>
              </a:defRPr>
            </a:pPr>
            <a:r>
              <a:rPr sz="1050" b="1">
                <a:solidFill>
                  <a:srgbClr val="E3B341"/>
                </a:solidFill>
                <a:latin typeface="Aptos"/>
                <a:ea typeface="Aptos"/>
                <a:cs typeface="Aptos"/>
              </a:rPr>
              <a:t>WHAT IT DOES NOT CLAIM</a:t>
            </a:r>
          </a:p>
        </p:txBody>
      </p:sp>
      <p:sp>
        <p:nvSpPr>
          <p:cNvPr id="10" name="">
            <a:extLst xmlns:a="http://schemas.openxmlformats.org/drawingml/2006/main">
              <a:ext uri="{FF2B5EF4-FFF2-40B4-BE49-F238E27FC236}">
                <a16:creationId xmlns:a16="http://schemas.microsoft.com/office/drawing/2014/main" id="{23E66653-4DD8-4EDA-820E-8ECBC0494928}"/>
              </a:ext>
            </a:extLst>
          </p:cNvPr>
          <p:cNvSpPr>
            <a:spLocks xmlns:a="http://schemas.openxmlformats.org/drawingml/2006/main" noGrp="1"/>
          </p:cNvSpPr>
          <p:nvPr/>
        </p:nvSpPr>
        <p:spPr>
          <a:xfrm xmlns:a="http://schemas.openxmlformats.org/drawingml/2006/main">
            <a:off x="552450" y="8039100"/>
            <a:ext cx="3524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BD5E1"/>
                </a:solidFill>
                <a:latin typeface="Aptos"/>
                <a:ea typeface="Aptos"/>
                <a:cs typeface="Aptos"/>
              </a:defRPr>
            </a:pPr>
            <a:r>
              <a:rPr sz="1350" b="0">
                <a:solidFill>
                  <a:srgbClr val="CBD5E1"/>
                </a:solidFill>
                <a:latin typeface="Aptos"/>
                <a:ea typeface="Aptos"/>
                <a:cs typeface="Aptos"/>
              </a:rPr>
              <a:t>It does not predict multibaggers, replace due diligence or recommend trades.</a:t>
            </a:r>
          </a:p>
        </p:txBody>
      </p:sp>
    </p:spTree>
    <p:extLst>
      <p:ext uri="{BB962C8B-B14F-4D97-AF65-F5344CB8AC3E}">
        <p14:creationId xmlns:p14="http://schemas.microsoft.com/office/powerpoint/2010/main" val="1513922157"/>
      </p:ext>
    </p:extLst>
  </p:cSld>
</p:sld>
</file>

<file path=ppt/slides/slide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F1D9B42-9090-4A60-8D6A-CCEDF474A862}"/>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6A0DFF-FC37-4E19-B5A1-17712B8790AE}"/>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C98501E8-298B-4888-9130-1512524C1ED5}"/>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Start with a monitored signal universe</a:t>
            </a:r>
          </a:p>
        </p:txBody>
      </p:sp>
      <p:sp>
        <p:nvSpPr>
          <p:cNvPr id="4" name="">
            <a:extLst xmlns:a="http://schemas.openxmlformats.org/drawingml/2006/main">
              <a:ext uri="{FF2B5EF4-FFF2-40B4-BE49-F238E27FC236}">
                <a16:creationId xmlns:a16="http://schemas.microsoft.com/office/drawing/2014/main" id="{4F253FB0-6C2E-402C-9ED2-FBCB719825B0}"/>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34A9F436-8EFB-4E6F-9E69-6CA8B86DEFAC}"/>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CF0F8832-A734-4E5E-9A2C-447730A2BB93}"/>
              </a:ext>
            </a:extLst>
          </p:cNvPr>
          <p:cNvSpPr>
            <a:spLocks xmlns:a="http://schemas.openxmlformats.org/drawingml/2006/main" noGrp="1"/>
          </p:cNvSpPr>
          <p:nvPr/>
        </p:nvSpPr>
        <p:spPr>
          <a:xfrm xmlns:a="http://schemas.openxmlformats.org/drawingml/2006/main">
            <a:off x="533400" y="1952625"/>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BD5E1"/>
                </a:solidFill>
                <a:latin typeface="Aptos"/>
                <a:ea typeface="Aptos"/>
                <a:cs typeface="Aptos"/>
              </a:defRPr>
            </a:pPr>
            <a:r>
              <a:rPr sz="1575" b="0">
                <a:solidFill>
                  <a:srgbClr val="CBD5E1"/>
                </a:solidFill>
                <a:latin typeface="Aptos"/>
                <a:ea typeface="Aptos"/>
                <a:cs typeface="Aptos"/>
              </a:rPr>
              <a:t>The tracker turns 477 company histories into a compact research queue.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0829ee1963e4f93"/>
          <a:srcRect xmlns:a="http://schemas.openxmlformats.org/drawingml/2006/main" l="0" t="12612" r="0" b="12612"/>
          <a:stretch xmlns:a="http://schemas.openxmlformats.org/drawingml/2006/main">
            <a:fillRect l="0" t="0" r="0" b="0"/>
          </a:stretch>
        </p:blipFill>
        <p:spPr>
          <a:xfrm xmlns:a="http://schemas.openxmlformats.org/drawingml/2006/main">
            <a:off x="533400" y="2647950"/>
            <a:ext cx="9220200" cy="5486400"/>
          </a:xfrm>
          <a:prstGeom xmlns:a="http://schemas.openxmlformats.org/drawingml/2006/main" prst="roundRect">
            <a:avLst>
              <a:gd name="adj" fmla="val 2083"/>
            </a:avLst>
          </a:prstGeom>
        </p:spPr>
      </p:pic>
      <p:sp>
        <p:nvSpPr>
          <p:cNvPr id="8" name="">
            <a:extLst xmlns:a="http://schemas.openxmlformats.org/drawingml/2006/main">
              <a:ext uri="{FF2B5EF4-FFF2-40B4-BE49-F238E27FC236}">
                <a16:creationId xmlns:a16="http://schemas.microsoft.com/office/drawing/2014/main" id="{CB5F4620-D9CF-4CF3-AB11-95D77120ABDD}"/>
              </a:ext>
            </a:extLst>
          </p:cNvPr>
          <p:cNvSpPr>
            <a:spLocks xmlns:a="http://schemas.openxmlformats.org/drawingml/2006/main" noGrp="1"/>
          </p:cNvSpPr>
          <p:nvPr/>
        </p:nvSpPr>
        <p:spPr>
          <a:xfrm xmlns:a="http://schemas.openxmlformats.org/drawingml/2006/main">
            <a:off x="533400" y="8324850"/>
            <a:ext cx="2857500" cy="1238250"/>
          </a:xfrm>
          <a:prstGeom xmlns:a="http://schemas.openxmlformats.org/drawingml/2006/main" prst="roundRect">
            <a:avLst>
              <a:gd name="adj" fmla="val 10769"/>
            </a:avLst>
          </a:prstGeom>
          <a:solidFill xmlns:a="http://schemas.openxmlformats.org/drawingml/2006/main">
            <a:srgbClr val="121E31"/>
          </a:solidFill>
          <a:ln xmlns:a="http://schemas.openxmlformats.org/drawingml/2006/main" w="9525">
            <a:solidFill>
              <a:srgbClr val="2A3952"/>
            </a:solidFill>
          </a:ln>
        </p:spPr>
      </p:sp>
      <p:sp>
        <p:nvSpPr>
          <p:cNvPr id="9" name="">
            <a:extLst xmlns:a="http://schemas.openxmlformats.org/drawingml/2006/main">
              <a:ext uri="{FF2B5EF4-FFF2-40B4-BE49-F238E27FC236}">
                <a16:creationId xmlns:a16="http://schemas.microsoft.com/office/drawing/2014/main" id="{0AF2A830-C049-43F9-A49D-9A0C0DD930A2}"/>
              </a:ext>
            </a:extLst>
          </p:cNvPr>
          <p:cNvSpPr>
            <a:spLocks xmlns:a="http://schemas.openxmlformats.org/drawingml/2006/main" noGrp="1"/>
          </p:cNvSpPr>
          <p:nvPr/>
        </p:nvSpPr>
        <p:spPr>
          <a:xfrm xmlns:a="http://schemas.openxmlformats.org/drawingml/2006/main">
            <a:off x="704850" y="8515350"/>
            <a:ext cx="400050" cy="400050"/>
          </a:xfrm>
          <a:prstGeom xmlns:a="http://schemas.openxmlformats.org/drawingml/2006/main" prst="ellipse">
            <a:avLst/>
          </a:prstGeom>
          <a:solidFill xmlns:a="http://schemas.openxmlformats.org/drawingml/2006/main">
            <a:srgbClr val="E3B34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A8B0F55-CDA0-4E81-A537-A1EAEDBECB83}"/>
              </a:ext>
            </a:extLst>
          </p:cNvPr>
          <p:cNvSpPr>
            <a:spLocks xmlns:a="http://schemas.openxmlformats.org/drawingml/2006/main" noGrp="1"/>
          </p:cNvSpPr>
          <p:nvPr/>
        </p:nvSpPr>
        <p:spPr>
          <a:xfrm xmlns:a="http://schemas.openxmlformats.org/drawingml/2006/main">
            <a:off x="704850" y="85629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0D18"/>
                </a:solidFill>
                <a:latin typeface="Aptos"/>
                <a:ea typeface="Aptos"/>
                <a:cs typeface="Aptos"/>
              </a:defRPr>
            </a:pPr>
            <a:r>
              <a:rPr sz="1125" b="1">
                <a:solidFill>
                  <a:srgbClr val="080D18"/>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B78FF73B-3901-4EC0-B4AE-C8FCDC4C14DD}"/>
              </a:ext>
            </a:extLst>
          </p:cNvPr>
          <p:cNvSpPr>
            <a:spLocks xmlns:a="http://schemas.openxmlformats.org/drawingml/2006/main" noGrp="1"/>
          </p:cNvSpPr>
          <p:nvPr/>
        </p:nvSpPr>
        <p:spPr>
          <a:xfrm xmlns:a="http://schemas.openxmlformats.org/drawingml/2006/main">
            <a:off x="1257300" y="8486775"/>
            <a:ext cx="1962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Choose a lifecycle</a:t>
            </a:r>
          </a:p>
        </p:txBody>
      </p:sp>
      <p:sp>
        <p:nvSpPr>
          <p:cNvPr id="12" name="">
            <a:extLst xmlns:a="http://schemas.openxmlformats.org/drawingml/2006/main">
              <a:ext uri="{FF2B5EF4-FFF2-40B4-BE49-F238E27FC236}">
                <a16:creationId xmlns:a16="http://schemas.microsoft.com/office/drawing/2014/main" id="{111A23F9-471B-439B-895E-EAF8273B1BC2}"/>
              </a:ext>
            </a:extLst>
          </p:cNvPr>
          <p:cNvSpPr>
            <a:spLocks xmlns:a="http://schemas.openxmlformats.org/drawingml/2006/main" noGrp="1"/>
          </p:cNvSpPr>
          <p:nvPr/>
        </p:nvSpPr>
        <p:spPr>
          <a:xfrm xmlns:a="http://schemas.openxmlformats.org/drawingml/2006/main">
            <a:off x="1257300" y="8839200"/>
            <a:ext cx="1962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Watch, Emerging, Building, Established or Fading.</a:t>
            </a:r>
          </a:p>
        </p:txBody>
      </p:sp>
      <p:sp>
        <p:nvSpPr>
          <p:cNvPr id="13" name="">
            <a:extLst xmlns:a="http://schemas.openxmlformats.org/drawingml/2006/main">
              <a:ext uri="{FF2B5EF4-FFF2-40B4-BE49-F238E27FC236}">
                <a16:creationId xmlns:a16="http://schemas.microsoft.com/office/drawing/2014/main" id="{45B8021F-2357-4FE6-80EB-83BE8E2E7ED5}"/>
              </a:ext>
            </a:extLst>
          </p:cNvPr>
          <p:cNvSpPr>
            <a:spLocks xmlns:a="http://schemas.openxmlformats.org/drawingml/2006/main" noGrp="1"/>
          </p:cNvSpPr>
          <p:nvPr/>
        </p:nvSpPr>
        <p:spPr>
          <a:xfrm xmlns:a="http://schemas.openxmlformats.org/drawingml/2006/main">
            <a:off x="3600450" y="8324850"/>
            <a:ext cx="3143250" cy="1238250"/>
          </a:xfrm>
          <a:prstGeom xmlns:a="http://schemas.openxmlformats.org/drawingml/2006/main" prst="roundRect">
            <a:avLst>
              <a:gd name="adj" fmla="val 10769"/>
            </a:avLst>
          </a:prstGeom>
          <a:solidFill xmlns:a="http://schemas.openxmlformats.org/drawingml/2006/main">
            <a:srgbClr val="121E31"/>
          </a:solidFill>
          <a:ln xmlns:a="http://schemas.openxmlformats.org/drawingml/2006/main" w="9525">
            <a:solidFill>
              <a:srgbClr val="2A3952"/>
            </a:solidFill>
          </a:ln>
        </p:spPr>
      </p:sp>
      <p:sp>
        <p:nvSpPr>
          <p:cNvPr id="14" name="">
            <a:extLst xmlns:a="http://schemas.openxmlformats.org/drawingml/2006/main">
              <a:ext uri="{FF2B5EF4-FFF2-40B4-BE49-F238E27FC236}">
                <a16:creationId xmlns:a16="http://schemas.microsoft.com/office/drawing/2014/main" id="{6CE823B7-A414-4C87-85B9-AD8EF351D0C5}"/>
              </a:ext>
            </a:extLst>
          </p:cNvPr>
          <p:cNvSpPr>
            <a:spLocks xmlns:a="http://schemas.openxmlformats.org/drawingml/2006/main" noGrp="1"/>
          </p:cNvSpPr>
          <p:nvPr/>
        </p:nvSpPr>
        <p:spPr>
          <a:xfrm xmlns:a="http://schemas.openxmlformats.org/drawingml/2006/main">
            <a:off x="3771900" y="8515350"/>
            <a:ext cx="400050" cy="400050"/>
          </a:xfrm>
          <a:prstGeom xmlns:a="http://schemas.openxmlformats.org/drawingml/2006/main" prst="ellipse">
            <a:avLst/>
          </a:prstGeom>
          <a:solidFill xmlns:a="http://schemas.openxmlformats.org/drawingml/2006/main">
            <a:srgbClr val="E3B34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51F26F7-ED3A-483A-AE3D-C5040F67489F}"/>
              </a:ext>
            </a:extLst>
          </p:cNvPr>
          <p:cNvSpPr>
            <a:spLocks xmlns:a="http://schemas.openxmlformats.org/drawingml/2006/main" noGrp="1"/>
          </p:cNvSpPr>
          <p:nvPr/>
        </p:nvSpPr>
        <p:spPr>
          <a:xfrm xmlns:a="http://schemas.openxmlformats.org/drawingml/2006/main">
            <a:off x="3771900" y="85629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0D18"/>
                </a:solidFill>
                <a:latin typeface="Aptos"/>
                <a:ea typeface="Aptos"/>
                <a:cs typeface="Aptos"/>
              </a:defRPr>
            </a:pPr>
            <a:r>
              <a:rPr sz="1125" b="1">
                <a:solidFill>
                  <a:srgbClr val="080D18"/>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7E34486A-1682-4926-BDD7-7079B25E48E5}"/>
              </a:ext>
            </a:extLst>
          </p:cNvPr>
          <p:cNvSpPr>
            <a:spLocks xmlns:a="http://schemas.openxmlformats.org/drawingml/2006/main" noGrp="1"/>
          </p:cNvSpPr>
          <p:nvPr/>
        </p:nvSpPr>
        <p:spPr>
          <a:xfrm xmlns:a="http://schemas.openxmlformats.org/drawingml/2006/main">
            <a:off x="4324350" y="8486775"/>
            <a:ext cx="224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Inspect the signal</a:t>
            </a:r>
          </a:p>
        </p:txBody>
      </p:sp>
      <p:sp>
        <p:nvSpPr>
          <p:cNvPr id="17" name="">
            <a:extLst xmlns:a="http://schemas.openxmlformats.org/drawingml/2006/main">
              <a:ext uri="{FF2B5EF4-FFF2-40B4-BE49-F238E27FC236}">
                <a16:creationId xmlns:a16="http://schemas.microsoft.com/office/drawing/2014/main" id="{3F9D15FC-DA19-4F6A-9723-18DFCCF550B0}"/>
              </a:ext>
            </a:extLst>
          </p:cNvPr>
          <p:cNvSpPr>
            <a:spLocks xmlns:a="http://schemas.openxmlformats.org/drawingml/2006/main" noGrp="1"/>
          </p:cNvSpPr>
          <p:nvPr/>
        </p:nvSpPr>
        <p:spPr>
          <a:xfrm xmlns:a="http://schemas.openxmlformats.org/drawingml/2006/main">
            <a:off x="4324350" y="8839200"/>
            <a:ext cx="2247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Read the score, direction, evidence maturity and market context.</a:t>
            </a:r>
          </a:p>
        </p:txBody>
      </p:sp>
      <p:sp>
        <p:nvSpPr>
          <p:cNvPr id="18" name="">
            <a:extLst xmlns:a="http://schemas.openxmlformats.org/drawingml/2006/main">
              <a:ext uri="{FF2B5EF4-FFF2-40B4-BE49-F238E27FC236}">
                <a16:creationId xmlns:a16="http://schemas.microsoft.com/office/drawing/2014/main" id="{1F0BF69E-84C4-4EAC-B4C9-0427CCA7999E}"/>
              </a:ext>
            </a:extLst>
          </p:cNvPr>
          <p:cNvSpPr>
            <a:spLocks xmlns:a="http://schemas.openxmlformats.org/drawingml/2006/main" noGrp="1"/>
          </p:cNvSpPr>
          <p:nvPr/>
        </p:nvSpPr>
        <p:spPr>
          <a:xfrm xmlns:a="http://schemas.openxmlformats.org/drawingml/2006/main">
            <a:off x="6953250" y="8324850"/>
            <a:ext cx="2800350" cy="1238250"/>
          </a:xfrm>
          <a:prstGeom xmlns:a="http://schemas.openxmlformats.org/drawingml/2006/main" prst="roundRect">
            <a:avLst>
              <a:gd name="adj" fmla="val 10769"/>
            </a:avLst>
          </a:prstGeom>
          <a:solidFill xmlns:a="http://schemas.openxmlformats.org/drawingml/2006/main">
            <a:srgbClr val="121E31"/>
          </a:solidFill>
          <a:ln xmlns:a="http://schemas.openxmlformats.org/drawingml/2006/main" w="9525">
            <a:solidFill>
              <a:srgbClr val="2A3952"/>
            </a:solidFill>
          </a:ln>
        </p:spPr>
      </p:sp>
      <p:sp>
        <p:nvSpPr>
          <p:cNvPr id="19" name="">
            <a:extLst xmlns:a="http://schemas.openxmlformats.org/drawingml/2006/main">
              <a:ext uri="{FF2B5EF4-FFF2-40B4-BE49-F238E27FC236}">
                <a16:creationId xmlns:a16="http://schemas.microsoft.com/office/drawing/2014/main" id="{372E8428-A20B-42B5-B1AD-A47D1C4A231F}"/>
              </a:ext>
            </a:extLst>
          </p:cNvPr>
          <p:cNvSpPr>
            <a:spLocks xmlns:a="http://schemas.openxmlformats.org/drawingml/2006/main" noGrp="1"/>
          </p:cNvSpPr>
          <p:nvPr/>
        </p:nvSpPr>
        <p:spPr>
          <a:xfrm xmlns:a="http://schemas.openxmlformats.org/drawingml/2006/main">
            <a:off x="7124700" y="8515350"/>
            <a:ext cx="400050" cy="400050"/>
          </a:xfrm>
          <a:prstGeom xmlns:a="http://schemas.openxmlformats.org/drawingml/2006/main" prst="ellipse">
            <a:avLst/>
          </a:prstGeom>
          <a:solidFill xmlns:a="http://schemas.openxmlformats.org/drawingml/2006/main">
            <a:srgbClr val="E3B3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68E7672-F83C-4DD4-B9EA-C058F121B37C}"/>
              </a:ext>
            </a:extLst>
          </p:cNvPr>
          <p:cNvSpPr>
            <a:spLocks xmlns:a="http://schemas.openxmlformats.org/drawingml/2006/main" noGrp="1"/>
          </p:cNvSpPr>
          <p:nvPr/>
        </p:nvSpPr>
        <p:spPr>
          <a:xfrm xmlns:a="http://schemas.openxmlformats.org/drawingml/2006/main">
            <a:off x="7124700" y="85629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0D18"/>
                </a:solidFill>
                <a:latin typeface="Aptos"/>
                <a:ea typeface="Aptos"/>
                <a:cs typeface="Aptos"/>
              </a:defRPr>
            </a:pPr>
            <a:r>
              <a:rPr sz="1125" b="1">
                <a:solidFill>
                  <a:srgbClr val="080D18"/>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DE968E65-51F9-42B1-8CC1-F452B7701DD1}"/>
              </a:ext>
            </a:extLst>
          </p:cNvPr>
          <p:cNvSpPr>
            <a:spLocks xmlns:a="http://schemas.openxmlformats.org/drawingml/2006/main" noGrp="1"/>
          </p:cNvSpPr>
          <p:nvPr/>
        </p:nvSpPr>
        <p:spPr>
          <a:xfrm xmlns:a="http://schemas.openxmlformats.org/drawingml/2006/main">
            <a:off x="7677150" y="84867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Choose the next action</a:t>
            </a:r>
          </a:p>
        </p:txBody>
      </p:sp>
      <p:sp>
        <p:nvSpPr>
          <p:cNvPr id="22" name="">
            <a:extLst xmlns:a="http://schemas.openxmlformats.org/drawingml/2006/main">
              <a:ext uri="{FF2B5EF4-FFF2-40B4-BE49-F238E27FC236}">
                <a16:creationId xmlns:a16="http://schemas.microsoft.com/office/drawing/2014/main" id="{E6A54FC7-62D2-4914-B130-49A3D39438BA}"/>
              </a:ext>
            </a:extLst>
          </p:cNvPr>
          <p:cNvSpPr>
            <a:spLocks xmlns:a="http://schemas.openxmlformats.org/drawingml/2006/main" noGrp="1"/>
          </p:cNvSpPr>
          <p:nvPr/>
        </p:nvSpPr>
        <p:spPr>
          <a:xfrm xmlns:a="http://schemas.openxmlformats.org/drawingml/2006/main">
            <a:off x="7677150" y="8839200"/>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Open the evidence report or move into Deep Dive.</a:t>
            </a:r>
          </a:p>
        </p:txBody>
      </p:sp>
    </p:spTree>
    <p:extLst>
      <p:ext uri="{BB962C8B-B14F-4D97-AF65-F5344CB8AC3E}">
        <p14:creationId xmlns:p14="http://schemas.microsoft.com/office/powerpoint/2010/main" val="676169242"/>
      </p:ext>
    </p:extLst>
  </p:cSld>
</p:sld>
</file>

<file path=ppt/slides/slide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A56F4FC-D9F8-488B-8A40-87AA47048E44}"/>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A33CBD-2C09-40D2-B14A-F922576CFC8D}"/>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35D2D42A-933D-4A43-9FD4-1C9BFF1FCF91}"/>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Lifecycle adds time to the score</a:t>
            </a:r>
          </a:p>
        </p:txBody>
      </p:sp>
      <p:sp>
        <p:nvSpPr>
          <p:cNvPr id="4" name="">
            <a:extLst xmlns:a="http://schemas.openxmlformats.org/drawingml/2006/main">
              <a:ext uri="{FF2B5EF4-FFF2-40B4-BE49-F238E27FC236}">
                <a16:creationId xmlns:a16="http://schemas.microsoft.com/office/drawing/2014/main" id="{826887D0-2749-4606-8A6F-45A9810552DE}"/>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D92D2743-F5D4-4E32-8C2A-21E4691AE06E}"/>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30233785-FA9D-4661-BFD3-8EEE52B692A2}"/>
              </a:ext>
            </a:extLst>
          </p:cNvPr>
          <p:cNvSpPr>
            <a:spLocks xmlns:a="http://schemas.openxmlformats.org/drawingml/2006/main" noGrp="1"/>
          </p:cNvSpPr>
          <p:nvPr/>
        </p:nvSpPr>
        <p:spPr>
          <a:xfrm xmlns:a="http://schemas.openxmlformats.org/drawingml/2006/main">
            <a:off x="533400" y="2047875"/>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BD5E1"/>
                </a:solidFill>
                <a:latin typeface="Aptos"/>
                <a:ea typeface="Aptos"/>
                <a:cs typeface="Aptos"/>
              </a:defRPr>
            </a:pPr>
            <a:r>
              <a:rPr sz="1650" b="0">
                <a:solidFill>
                  <a:srgbClr val="CBD5E1"/>
                </a:solidFill>
                <a:latin typeface="Aptos"/>
                <a:ea typeface="Aptos"/>
                <a:cs typeface="Aptos"/>
              </a:rPr>
              <a:t>One quarter can create a signal. Repeated evidence determines whether it broadens, persists or fades.</a:t>
            </a:r>
          </a:p>
        </p:txBody>
      </p:sp>
      <p:sp>
        <p:nvSpPr>
          <p:cNvPr id="7" name="">
            <a:extLst xmlns:a="http://schemas.openxmlformats.org/drawingml/2006/main">
              <a:ext uri="{FF2B5EF4-FFF2-40B4-BE49-F238E27FC236}">
                <a16:creationId xmlns:a16="http://schemas.microsoft.com/office/drawing/2014/main" id="{193460D4-733D-4D9E-B319-B34722FD5416}"/>
              </a:ext>
            </a:extLst>
          </p:cNvPr>
          <p:cNvSpPr>
            <a:spLocks xmlns:a="http://schemas.openxmlformats.org/drawingml/2006/main" noGrp="1"/>
          </p:cNvSpPr>
          <p:nvPr/>
        </p:nvSpPr>
        <p:spPr>
          <a:xfrm xmlns:a="http://schemas.openxmlformats.org/drawingml/2006/main">
            <a:off x="628650" y="3095625"/>
            <a:ext cx="8858250" cy="838200"/>
          </a:xfrm>
          <a:prstGeom xmlns:a="http://schemas.openxmlformats.org/drawingml/2006/main" prst="roundRect">
            <a:avLst>
              <a:gd name="adj" fmla="val 15909"/>
            </a:avLst>
          </a:prstGeom>
          <a:solidFill xmlns:a="http://schemas.openxmlformats.org/drawingml/2006/main">
            <a:srgbClr val="121E31"/>
          </a:solidFill>
          <a:ln xmlns:a="http://schemas.openxmlformats.org/drawingml/2006/main" w="9525">
            <a:solidFill>
              <a:srgbClr val="2A3952"/>
            </a:solidFill>
          </a:ln>
        </p:spPr>
      </p:sp>
      <p:sp>
        <p:nvSpPr>
          <p:cNvPr id="8" name="">
            <a:extLst xmlns:a="http://schemas.openxmlformats.org/drawingml/2006/main">
              <a:ext uri="{FF2B5EF4-FFF2-40B4-BE49-F238E27FC236}">
                <a16:creationId xmlns:a16="http://schemas.microsoft.com/office/drawing/2014/main" id="{931EA2E7-B50C-4A93-A9FD-8F70DE041889}"/>
              </a:ext>
            </a:extLst>
          </p:cNvPr>
          <p:cNvSpPr>
            <a:spLocks xmlns:a="http://schemas.openxmlformats.org/drawingml/2006/main" noGrp="1"/>
          </p:cNvSpPr>
          <p:nvPr/>
        </p:nvSpPr>
        <p:spPr>
          <a:xfrm xmlns:a="http://schemas.openxmlformats.org/drawingml/2006/main">
            <a:off x="838200" y="33242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2D3C5"/>
                </a:solidFill>
                <a:latin typeface="Aptos"/>
                <a:ea typeface="Aptos"/>
                <a:cs typeface="Aptos"/>
              </a:defRPr>
            </a:pPr>
            <a:r>
              <a:rPr sz="1200" b="1">
                <a:solidFill>
                  <a:srgbClr val="22D3C5"/>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F98D422C-E5D6-4DB5-9A8F-495E8AE69C16}"/>
              </a:ext>
            </a:extLst>
          </p:cNvPr>
          <p:cNvSpPr>
            <a:spLocks xmlns:a="http://schemas.openxmlformats.org/drawingml/2006/main" noGrp="1"/>
          </p:cNvSpPr>
          <p:nvPr/>
        </p:nvSpPr>
        <p:spPr>
          <a:xfrm xmlns:a="http://schemas.openxmlformats.org/drawingml/2006/main">
            <a:off x="1619250" y="32766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7F9FC"/>
                </a:solidFill>
                <a:latin typeface="Aptos"/>
                <a:ea typeface="Aptos"/>
                <a:cs typeface="Aptos"/>
              </a:defRPr>
            </a:pPr>
            <a:r>
              <a:rPr sz="1950" b="1">
                <a:solidFill>
                  <a:srgbClr val="F7F9FC"/>
                </a:solidFill>
                <a:latin typeface="Aptos"/>
                <a:ea typeface="Aptos"/>
                <a:cs typeface="Aptos"/>
              </a:rPr>
              <a:t>WATCH</a:t>
            </a:r>
          </a:p>
        </p:txBody>
      </p:sp>
      <p:sp>
        <p:nvSpPr>
          <p:cNvPr id="10" name="">
            <a:extLst xmlns:a="http://schemas.openxmlformats.org/drawingml/2006/main">
              <a:ext uri="{FF2B5EF4-FFF2-40B4-BE49-F238E27FC236}">
                <a16:creationId xmlns:a16="http://schemas.microsoft.com/office/drawing/2014/main" id="{F9312FE4-1250-4BF8-B4DC-4FEF6A24FC22}"/>
              </a:ext>
            </a:extLst>
          </p:cNvPr>
          <p:cNvSpPr>
            <a:spLocks xmlns:a="http://schemas.openxmlformats.org/drawingml/2006/main" noGrp="1"/>
          </p:cNvSpPr>
          <p:nvPr/>
        </p:nvSpPr>
        <p:spPr>
          <a:xfrm xmlns:a="http://schemas.openxmlformats.org/drawingml/2006/main">
            <a:off x="4362450" y="33147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BD5E1"/>
                </a:solidFill>
                <a:latin typeface="Aptos"/>
                <a:ea typeface="Aptos"/>
                <a:cs typeface="Aptos"/>
              </a:defRPr>
            </a:pPr>
            <a:r>
              <a:rPr sz="1425" b="0">
                <a:solidFill>
                  <a:srgbClr val="CBD5E1"/>
                </a:solidFill>
                <a:latin typeface="Aptos"/>
                <a:ea typeface="Aptos"/>
                <a:cs typeface="Aptos"/>
              </a:rPr>
              <a:t>First evidence; gather a baseline</a:t>
            </a:r>
          </a:p>
        </p:txBody>
      </p:sp>
      <p:sp>
        <p:nvSpPr>
          <p:cNvPr id="11" name="">
            <a:extLst xmlns:a="http://schemas.openxmlformats.org/drawingml/2006/main">
              <a:ext uri="{FF2B5EF4-FFF2-40B4-BE49-F238E27FC236}">
                <a16:creationId xmlns:a16="http://schemas.microsoft.com/office/drawing/2014/main" id="{F09C801B-6E89-4851-8AD6-A64DC3DDD390}"/>
              </a:ext>
            </a:extLst>
          </p:cNvPr>
          <p:cNvSpPr>
            <a:spLocks xmlns:a="http://schemas.openxmlformats.org/drawingml/2006/main" noGrp="1"/>
          </p:cNvSpPr>
          <p:nvPr/>
        </p:nvSpPr>
        <p:spPr>
          <a:xfrm xmlns:a="http://schemas.openxmlformats.org/drawingml/2006/main">
            <a:off x="628650" y="4219575"/>
            <a:ext cx="8858250" cy="838200"/>
          </a:xfrm>
          <a:prstGeom xmlns:a="http://schemas.openxmlformats.org/drawingml/2006/main" prst="roundRect">
            <a:avLst>
              <a:gd name="adj" fmla="val 15909"/>
            </a:avLst>
          </a:prstGeom>
          <a:solidFill xmlns:a="http://schemas.openxmlformats.org/drawingml/2006/main">
            <a:srgbClr val="121E31"/>
          </a:solidFill>
          <a:ln xmlns:a="http://schemas.openxmlformats.org/drawingml/2006/main" w="9525">
            <a:solidFill>
              <a:srgbClr val="2A3952"/>
            </a:solidFill>
          </a:ln>
        </p:spPr>
      </p:sp>
      <p:sp>
        <p:nvSpPr>
          <p:cNvPr id="12" name="">
            <a:extLst xmlns:a="http://schemas.openxmlformats.org/drawingml/2006/main">
              <a:ext uri="{FF2B5EF4-FFF2-40B4-BE49-F238E27FC236}">
                <a16:creationId xmlns:a16="http://schemas.microsoft.com/office/drawing/2014/main" id="{DD8C88E5-6294-4C56-B3F5-7E99EC3FAC03}"/>
              </a:ext>
            </a:extLst>
          </p:cNvPr>
          <p:cNvSpPr>
            <a:spLocks xmlns:a="http://schemas.openxmlformats.org/drawingml/2006/main" noGrp="1"/>
          </p:cNvSpPr>
          <p:nvPr/>
        </p:nvSpPr>
        <p:spPr>
          <a:xfrm xmlns:a="http://schemas.openxmlformats.org/drawingml/2006/main">
            <a:off x="838200" y="444817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2D3C5"/>
                </a:solidFill>
                <a:latin typeface="Aptos"/>
                <a:ea typeface="Aptos"/>
                <a:cs typeface="Aptos"/>
              </a:defRPr>
            </a:pPr>
            <a:r>
              <a:rPr sz="1200" b="1">
                <a:solidFill>
                  <a:srgbClr val="22D3C5"/>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663645E3-07F6-4A5C-AD84-173F548EB14D}"/>
              </a:ext>
            </a:extLst>
          </p:cNvPr>
          <p:cNvSpPr>
            <a:spLocks xmlns:a="http://schemas.openxmlformats.org/drawingml/2006/main" noGrp="1"/>
          </p:cNvSpPr>
          <p:nvPr/>
        </p:nvSpPr>
        <p:spPr>
          <a:xfrm xmlns:a="http://schemas.openxmlformats.org/drawingml/2006/main">
            <a:off x="1619250" y="44005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7F9FC"/>
                </a:solidFill>
                <a:latin typeface="Aptos"/>
                <a:ea typeface="Aptos"/>
                <a:cs typeface="Aptos"/>
              </a:defRPr>
            </a:pPr>
            <a:r>
              <a:rPr sz="1950" b="1">
                <a:solidFill>
                  <a:srgbClr val="F7F9FC"/>
                </a:solidFill>
                <a:latin typeface="Aptos"/>
                <a:ea typeface="Aptos"/>
                <a:cs typeface="Aptos"/>
              </a:rPr>
              <a:t>EMERGING</a:t>
            </a:r>
          </a:p>
        </p:txBody>
      </p:sp>
      <p:sp>
        <p:nvSpPr>
          <p:cNvPr id="14" name="">
            <a:extLst xmlns:a="http://schemas.openxmlformats.org/drawingml/2006/main">
              <a:ext uri="{FF2B5EF4-FFF2-40B4-BE49-F238E27FC236}">
                <a16:creationId xmlns:a16="http://schemas.microsoft.com/office/drawing/2014/main" id="{EC453D91-B407-4AAB-9ACC-609090718E3D}"/>
              </a:ext>
            </a:extLst>
          </p:cNvPr>
          <p:cNvSpPr>
            <a:spLocks xmlns:a="http://schemas.openxmlformats.org/drawingml/2006/main" noGrp="1"/>
          </p:cNvSpPr>
          <p:nvPr/>
        </p:nvSpPr>
        <p:spPr>
          <a:xfrm xmlns:a="http://schemas.openxmlformats.org/drawingml/2006/main">
            <a:off x="4362450" y="44386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BD5E1"/>
                </a:solidFill>
                <a:latin typeface="Aptos"/>
                <a:ea typeface="Aptos"/>
                <a:cs typeface="Aptos"/>
              </a:defRPr>
            </a:pPr>
            <a:r>
              <a:rPr sz="1425" b="0">
                <a:solidFill>
                  <a:srgbClr val="CBD5E1"/>
                </a:solidFill>
                <a:latin typeface="Aptos"/>
                <a:ea typeface="Aptos"/>
                <a:cs typeface="Aptos"/>
              </a:rPr>
              <a:t>A new positive inflection appears</a:t>
            </a:r>
          </a:p>
        </p:txBody>
      </p:sp>
      <p:sp>
        <p:nvSpPr>
          <p:cNvPr id="15" name="">
            <a:extLst xmlns:a="http://schemas.openxmlformats.org/drawingml/2006/main">
              <a:ext uri="{FF2B5EF4-FFF2-40B4-BE49-F238E27FC236}">
                <a16:creationId xmlns:a16="http://schemas.microsoft.com/office/drawing/2014/main" id="{E56F65D8-F8BB-48B8-8067-AABF1A51FF90}"/>
              </a:ext>
            </a:extLst>
          </p:cNvPr>
          <p:cNvSpPr>
            <a:spLocks xmlns:a="http://schemas.openxmlformats.org/drawingml/2006/main" noGrp="1"/>
          </p:cNvSpPr>
          <p:nvPr/>
        </p:nvSpPr>
        <p:spPr>
          <a:xfrm xmlns:a="http://schemas.openxmlformats.org/drawingml/2006/main">
            <a:off x="628650" y="5343525"/>
            <a:ext cx="8858250" cy="838200"/>
          </a:xfrm>
          <a:prstGeom xmlns:a="http://schemas.openxmlformats.org/drawingml/2006/main" prst="roundRect">
            <a:avLst>
              <a:gd name="adj" fmla="val 15909"/>
            </a:avLst>
          </a:prstGeom>
          <a:solidFill xmlns:a="http://schemas.openxmlformats.org/drawingml/2006/main">
            <a:srgbClr val="121E31"/>
          </a:solidFill>
          <a:ln xmlns:a="http://schemas.openxmlformats.org/drawingml/2006/main" w="9525">
            <a:solidFill>
              <a:srgbClr val="2A3952"/>
            </a:solidFill>
          </a:ln>
        </p:spPr>
      </p:sp>
      <p:sp>
        <p:nvSpPr>
          <p:cNvPr id="16" name="">
            <a:extLst xmlns:a="http://schemas.openxmlformats.org/drawingml/2006/main">
              <a:ext uri="{FF2B5EF4-FFF2-40B4-BE49-F238E27FC236}">
                <a16:creationId xmlns:a16="http://schemas.microsoft.com/office/drawing/2014/main" id="{D846178C-F138-4246-BD8D-7F522956E7C1}"/>
              </a:ext>
            </a:extLst>
          </p:cNvPr>
          <p:cNvSpPr>
            <a:spLocks xmlns:a="http://schemas.openxmlformats.org/drawingml/2006/main" noGrp="1"/>
          </p:cNvSpPr>
          <p:nvPr/>
        </p:nvSpPr>
        <p:spPr>
          <a:xfrm xmlns:a="http://schemas.openxmlformats.org/drawingml/2006/main">
            <a:off x="838200" y="55721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2D3C5"/>
                </a:solidFill>
                <a:latin typeface="Aptos"/>
                <a:ea typeface="Aptos"/>
                <a:cs typeface="Aptos"/>
              </a:defRPr>
            </a:pPr>
            <a:r>
              <a:rPr sz="1200" b="1">
                <a:solidFill>
                  <a:srgbClr val="22D3C5"/>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C72756BD-5F7D-47B3-B634-713B5BEB98BD}"/>
              </a:ext>
            </a:extLst>
          </p:cNvPr>
          <p:cNvSpPr>
            <a:spLocks xmlns:a="http://schemas.openxmlformats.org/drawingml/2006/main" noGrp="1"/>
          </p:cNvSpPr>
          <p:nvPr/>
        </p:nvSpPr>
        <p:spPr>
          <a:xfrm xmlns:a="http://schemas.openxmlformats.org/drawingml/2006/main">
            <a:off x="1619250" y="55245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7F9FC"/>
                </a:solidFill>
                <a:latin typeface="Aptos"/>
                <a:ea typeface="Aptos"/>
                <a:cs typeface="Aptos"/>
              </a:defRPr>
            </a:pPr>
            <a:r>
              <a:rPr sz="1950" b="1">
                <a:solidFill>
                  <a:srgbClr val="F7F9FC"/>
                </a:solidFill>
                <a:latin typeface="Aptos"/>
                <a:ea typeface="Aptos"/>
                <a:cs typeface="Aptos"/>
              </a:rPr>
              <a:t>BUILDING</a:t>
            </a:r>
          </a:p>
        </p:txBody>
      </p:sp>
      <p:sp>
        <p:nvSpPr>
          <p:cNvPr id="18" name="">
            <a:extLst xmlns:a="http://schemas.openxmlformats.org/drawingml/2006/main">
              <a:ext uri="{FF2B5EF4-FFF2-40B4-BE49-F238E27FC236}">
                <a16:creationId xmlns:a16="http://schemas.microsoft.com/office/drawing/2014/main" id="{2B63E52D-CCE2-49EE-86FE-3DC3740D2F24}"/>
              </a:ext>
            </a:extLst>
          </p:cNvPr>
          <p:cNvSpPr>
            <a:spLocks xmlns:a="http://schemas.openxmlformats.org/drawingml/2006/main" noGrp="1"/>
          </p:cNvSpPr>
          <p:nvPr/>
        </p:nvSpPr>
        <p:spPr>
          <a:xfrm xmlns:a="http://schemas.openxmlformats.org/drawingml/2006/main">
            <a:off x="4362450" y="55626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BD5E1"/>
                </a:solidFill>
                <a:latin typeface="Aptos"/>
                <a:ea typeface="Aptos"/>
                <a:cs typeface="Aptos"/>
              </a:defRPr>
            </a:pPr>
            <a:r>
              <a:rPr sz="1425" b="0">
                <a:solidFill>
                  <a:srgbClr val="CBD5E1"/>
                </a:solidFill>
                <a:latin typeface="Aptos"/>
                <a:ea typeface="Aptos"/>
                <a:cs typeface="Aptos"/>
              </a:rPr>
              <a:t>More factors and periods confirm it</a:t>
            </a:r>
          </a:p>
        </p:txBody>
      </p:sp>
      <p:sp>
        <p:nvSpPr>
          <p:cNvPr id="19" name="">
            <a:extLst xmlns:a="http://schemas.openxmlformats.org/drawingml/2006/main">
              <a:ext uri="{FF2B5EF4-FFF2-40B4-BE49-F238E27FC236}">
                <a16:creationId xmlns:a16="http://schemas.microsoft.com/office/drawing/2014/main" id="{CC748A70-9528-48C4-BFA5-41374B115342}"/>
              </a:ext>
            </a:extLst>
          </p:cNvPr>
          <p:cNvSpPr>
            <a:spLocks xmlns:a="http://schemas.openxmlformats.org/drawingml/2006/main" noGrp="1"/>
          </p:cNvSpPr>
          <p:nvPr/>
        </p:nvSpPr>
        <p:spPr>
          <a:xfrm xmlns:a="http://schemas.openxmlformats.org/drawingml/2006/main">
            <a:off x="628650" y="6467475"/>
            <a:ext cx="8858250" cy="838200"/>
          </a:xfrm>
          <a:prstGeom xmlns:a="http://schemas.openxmlformats.org/drawingml/2006/main" prst="roundRect">
            <a:avLst>
              <a:gd name="adj" fmla="val 15909"/>
            </a:avLst>
          </a:prstGeom>
          <a:solidFill xmlns:a="http://schemas.openxmlformats.org/drawingml/2006/main">
            <a:srgbClr val="121E31"/>
          </a:solidFill>
          <a:ln xmlns:a="http://schemas.openxmlformats.org/drawingml/2006/main" w="9525">
            <a:solidFill>
              <a:srgbClr val="2A3952"/>
            </a:solidFill>
          </a:ln>
        </p:spPr>
      </p:sp>
      <p:sp>
        <p:nvSpPr>
          <p:cNvPr id="20" name="">
            <a:extLst xmlns:a="http://schemas.openxmlformats.org/drawingml/2006/main">
              <a:ext uri="{FF2B5EF4-FFF2-40B4-BE49-F238E27FC236}">
                <a16:creationId xmlns:a16="http://schemas.microsoft.com/office/drawing/2014/main" id="{3DB12F21-DB5E-426D-8E52-CB101E1E990B}"/>
              </a:ext>
            </a:extLst>
          </p:cNvPr>
          <p:cNvSpPr>
            <a:spLocks xmlns:a="http://schemas.openxmlformats.org/drawingml/2006/main" noGrp="1"/>
          </p:cNvSpPr>
          <p:nvPr/>
        </p:nvSpPr>
        <p:spPr>
          <a:xfrm xmlns:a="http://schemas.openxmlformats.org/drawingml/2006/main">
            <a:off x="838200" y="669607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2D3C5"/>
                </a:solidFill>
                <a:latin typeface="Aptos"/>
                <a:ea typeface="Aptos"/>
                <a:cs typeface="Aptos"/>
              </a:defRPr>
            </a:pPr>
            <a:r>
              <a:rPr sz="1200" b="1">
                <a:solidFill>
                  <a:srgbClr val="22D3C5"/>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F056DB85-2B0D-4F59-8AA9-9F5F238DFF2F}"/>
              </a:ext>
            </a:extLst>
          </p:cNvPr>
          <p:cNvSpPr>
            <a:spLocks xmlns:a="http://schemas.openxmlformats.org/drawingml/2006/main" noGrp="1"/>
          </p:cNvSpPr>
          <p:nvPr/>
        </p:nvSpPr>
        <p:spPr>
          <a:xfrm xmlns:a="http://schemas.openxmlformats.org/drawingml/2006/main">
            <a:off x="1619250" y="66484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7F9FC"/>
                </a:solidFill>
                <a:latin typeface="Aptos"/>
                <a:ea typeface="Aptos"/>
                <a:cs typeface="Aptos"/>
              </a:defRPr>
            </a:pPr>
            <a:r>
              <a:rPr sz="1950" b="1">
                <a:solidFill>
                  <a:srgbClr val="F7F9FC"/>
                </a:solidFill>
                <a:latin typeface="Aptos"/>
                <a:ea typeface="Aptos"/>
                <a:cs typeface="Aptos"/>
              </a:rPr>
              <a:t>ESTABLISHED</a:t>
            </a:r>
          </a:p>
        </p:txBody>
      </p:sp>
      <p:sp>
        <p:nvSpPr>
          <p:cNvPr id="22" name="">
            <a:extLst xmlns:a="http://schemas.openxmlformats.org/drawingml/2006/main">
              <a:ext uri="{FF2B5EF4-FFF2-40B4-BE49-F238E27FC236}">
                <a16:creationId xmlns:a16="http://schemas.microsoft.com/office/drawing/2014/main" id="{E0B864E9-3CCD-44E4-969E-65A0638FFB08}"/>
              </a:ext>
            </a:extLst>
          </p:cNvPr>
          <p:cNvSpPr>
            <a:spLocks xmlns:a="http://schemas.openxmlformats.org/drawingml/2006/main" noGrp="1"/>
          </p:cNvSpPr>
          <p:nvPr/>
        </p:nvSpPr>
        <p:spPr>
          <a:xfrm xmlns:a="http://schemas.openxmlformats.org/drawingml/2006/main">
            <a:off x="4362450" y="66865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BD5E1"/>
                </a:solidFill>
                <a:latin typeface="Aptos"/>
                <a:ea typeface="Aptos"/>
                <a:cs typeface="Aptos"/>
              </a:defRPr>
            </a:pPr>
            <a:r>
              <a:rPr sz="1425" b="0">
                <a:solidFill>
                  <a:srgbClr val="CBD5E1"/>
                </a:solidFill>
                <a:latin typeface="Aptos"/>
                <a:ea typeface="Aptos"/>
                <a:cs typeface="Aptos"/>
              </a:rPr>
              <a:t>Improvement persists across results</a:t>
            </a:r>
          </a:p>
        </p:txBody>
      </p:sp>
      <p:sp>
        <p:nvSpPr>
          <p:cNvPr id="23" name="">
            <a:extLst xmlns:a="http://schemas.openxmlformats.org/drawingml/2006/main">
              <a:ext uri="{FF2B5EF4-FFF2-40B4-BE49-F238E27FC236}">
                <a16:creationId xmlns:a16="http://schemas.microsoft.com/office/drawing/2014/main" id="{3C47802B-D61A-4E5F-ADC5-351EC2B2131A}"/>
              </a:ext>
            </a:extLst>
          </p:cNvPr>
          <p:cNvSpPr>
            <a:spLocks xmlns:a="http://schemas.openxmlformats.org/drawingml/2006/main" noGrp="1"/>
          </p:cNvSpPr>
          <p:nvPr/>
        </p:nvSpPr>
        <p:spPr>
          <a:xfrm xmlns:a="http://schemas.openxmlformats.org/drawingml/2006/main">
            <a:off x="628650" y="7591425"/>
            <a:ext cx="8858250" cy="838200"/>
          </a:xfrm>
          <a:prstGeom xmlns:a="http://schemas.openxmlformats.org/drawingml/2006/main" prst="roundRect">
            <a:avLst>
              <a:gd name="adj" fmla="val 15909"/>
            </a:avLst>
          </a:prstGeom>
          <a:solidFill xmlns:a="http://schemas.openxmlformats.org/drawingml/2006/main">
            <a:srgbClr val="241A20"/>
          </a:solidFill>
          <a:ln xmlns:a="http://schemas.openxmlformats.org/drawingml/2006/main" w="9525">
            <a:solidFill>
              <a:srgbClr val="F87171"/>
            </a:solidFill>
          </a:ln>
        </p:spPr>
      </p:sp>
      <p:sp>
        <p:nvSpPr>
          <p:cNvPr id="24" name="">
            <a:extLst xmlns:a="http://schemas.openxmlformats.org/drawingml/2006/main">
              <a:ext uri="{FF2B5EF4-FFF2-40B4-BE49-F238E27FC236}">
                <a16:creationId xmlns:a16="http://schemas.microsoft.com/office/drawing/2014/main" id="{B84A14AC-6FE1-4B81-8579-F1606DA71BBA}"/>
              </a:ext>
            </a:extLst>
          </p:cNvPr>
          <p:cNvSpPr>
            <a:spLocks xmlns:a="http://schemas.openxmlformats.org/drawingml/2006/main" noGrp="1"/>
          </p:cNvSpPr>
          <p:nvPr/>
        </p:nvSpPr>
        <p:spPr>
          <a:xfrm xmlns:a="http://schemas.openxmlformats.org/drawingml/2006/main">
            <a:off x="838200" y="782002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87171"/>
                </a:solidFill>
                <a:latin typeface="Aptos"/>
                <a:ea typeface="Aptos"/>
                <a:cs typeface="Aptos"/>
              </a:defRPr>
            </a:pPr>
            <a:r>
              <a:rPr sz="1200" b="1">
                <a:solidFill>
                  <a:srgbClr val="F87171"/>
                </a:solidFill>
                <a:latin typeface="Aptos"/>
                <a:ea typeface="Aptos"/>
                <a:cs typeface="Aptos"/>
              </a:rPr>
              <a:t>05</a:t>
            </a:r>
          </a:p>
        </p:txBody>
      </p:sp>
      <p:sp>
        <p:nvSpPr>
          <p:cNvPr id="25" name="">
            <a:extLst xmlns:a="http://schemas.openxmlformats.org/drawingml/2006/main">
              <a:ext uri="{FF2B5EF4-FFF2-40B4-BE49-F238E27FC236}">
                <a16:creationId xmlns:a16="http://schemas.microsoft.com/office/drawing/2014/main" id="{A3DDBFA9-C3E3-4A13-A0AD-CF3ED90637D4}"/>
              </a:ext>
            </a:extLst>
          </p:cNvPr>
          <p:cNvSpPr>
            <a:spLocks xmlns:a="http://schemas.openxmlformats.org/drawingml/2006/main" noGrp="1"/>
          </p:cNvSpPr>
          <p:nvPr/>
        </p:nvSpPr>
        <p:spPr>
          <a:xfrm xmlns:a="http://schemas.openxmlformats.org/drawingml/2006/main">
            <a:off x="1619250" y="77724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7F9FC"/>
                </a:solidFill>
                <a:latin typeface="Aptos"/>
                <a:ea typeface="Aptos"/>
                <a:cs typeface="Aptos"/>
              </a:defRPr>
            </a:pPr>
            <a:r>
              <a:rPr sz="1950" b="1">
                <a:solidFill>
                  <a:srgbClr val="F7F9FC"/>
                </a:solidFill>
                <a:latin typeface="Aptos"/>
                <a:ea typeface="Aptos"/>
                <a:cs typeface="Aptos"/>
              </a:rPr>
              <a:t>FADING</a:t>
            </a:r>
          </a:p>
        </p:txBody>
      </p:sp>
      <p:sp>
        <p:nvSpPr>
          <p:cNvPr id="26" name="">
            <a:extLst xmlns:a="http://schemas.openxmlformats.org/drawingml/2006/main">
              <a:ext uri="{FF2B5EF4-FFF2-40B4-BE49-F238E27FC236}">
                <a16:creationId xmlns:a16="http://schemas.microsoft.com/office/drawing/2014/main" id="{BC35B5E1-E836-4FD0-AE09-B4CF95D2B5E6}"/>
              </a:ext>
            </a:extLst>
          </p:cNvPr>
          <p:cNvSpPr>
            <a:spLocks xmlns:a="http://schemas.openxmlformats.org/drawingml/2006/main" noGrp="1"/>
          </p:cNvSpPr>
          <p:nvPr/>
        </p:nvSpPr>
        <p:spPr>
          <a:xfrm xmlns:a="http://schemas.openxmlformats.org/drawingml/2006/main">
            <a:off x="4362450" y="78105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BD5E1"/>
                </a:solidFill>
                <a:latin typeface="Aptos"/>
                <a:ea typeface="Aptos"/>
                <a:cs typeface="Aptos"/>
              </a:defRPr>
            </a:pPr>
            <a:r>
              <a:rPr sz="1425" b="0">
                <a:solidFill>
                  <a:srgbClr val="CBD5E1"/>
                </a:solidFill>
                <a:latin typeface="Aptos"/>
                <a:ea typeface="Aptos"/>
                <a:cs typeface="Aptos"/>
              </a:rPr>
              <a:t>The earlier momentum is weakening</a:t>
            </a:r>
          </a:p>
        </p:txBody>
      </p:sp>
      <p:sp>
        <p:nvSpPr>
          <p:cNvPr id="27" name="">
            <a:extLst xmlns:a="http://schemas.openxmlformats.org/drawingml/2006/main">
              <a:ext uri="{FF2B5EF4-FFF2-40B4-BE49-F238E27FC236}">
                <a16:creationId xmlns:a16="http://schemas.microsoft.com/office/drawing/2014/main" id="{DA4C4183-F55F-4BB0-9051-2B0EF55B0EDF}"/>
              </a:ext>
            </a:extLst>
          </p:cNvPr>
          <p:cNvSpPr>
            <a:spLocks xmlns:a="http://schemas.openxmlformats.org/drawingml/2006/main" noGrp="1"/>
          </p:cNvSpPr>
          <p:nvPr/>
        </p:nvSpPr>
        <p:spPr>
          <a:xfrm xmlns:a="http://schemas.openxmlformats.org/drawingml/2006/main">
            <a:off x="628650" y="897255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3B341"/>
                </a:solidFill>
                <a:latin typeface="Aptos"/>
                <a:ea typeface="Aptos"/>
                <a:cs typeface="Aptos"/>
              </a:defRPr>
            </a:pPr>
            <a:r>
              <a:rPr sz="1350" b="1">
                <a:solidFill>
                  <a:srgbClr val="E3B341"/>
                </a:solidFill>
                <a:latin typeface="Aptos"/>
                <a:ea typeface="Aptos"/>
                <a:cs typeface="Aptos"/>
              </a:rPr>
              <a:t>Lifecycle describes business-momentum history — not company quality, valuation or a buy/sell view.</a:t>
            </a:r>
          </a:p>
        </p:txBody>
      </p:sp>
    </p:spTree>
    <p:extLst>
      <p:ext uri="{BB962C8B-B14F-4D97-AF65-F5344CB8AC3E}">
        <p14:creationId xmlns:p14="http://schemas.microsoft.com/office/powerpoint/2010/main" val="546363301"/>
      </p:ext>
    </p:extLst>
  </p:cSld>
</p:sld>
</file>

<file path=ppt/slides/slide4.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B261097-37FD-46A5-9753-D1472098410E}"/>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EBB760-D718-4873-BBC6-214618076ECE}"/>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C82CA891-7FE2-4DC0-A557-BA234D21B99D}"/>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Open ‘Why this signal?’ for the evidence trail</a:t>
            </a:r>
          </a:p>
        </p:txBody>
      </p:sp>
      <p:sp>
        <p:nvSpPr>
          <p:cNvPr id="4" name="">
            <a:extLst xmlns:a="http://schemas.openxmlformats.org/drawingml/2006/main">
              <a:ext uri="{FF2B5EF4-FFF2-40B4-BE49-F238E27FC236}">
                <a16:creationId xmlns:a16="http://schemas.microsoft.com/office/drawing/2014/main" id="{A867528E-5935-4D59-91D9-149A4E0C889D}"/>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A5B3962C-0C1B-4E4A-8ABF-800089799B1C}"/>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555D4E37-2250-42B5-AC7E-C6F086A6259A}"/>
              </a:ext>
            </a:extLst>
          </p:cNvPr>
          <p:cNvSpPr>
            <a:spLocks xmlns:a="http://schemas.openxmlformats.org/drawingml/2006/main" noGrp="1"/>
          </p:cNvSpPr>
          <p:nvPr/>
        </p:nvSpPr>
        <p:spPr>
          <a:xfrm xmlns:a="http://schemas.openxmlformats.org/drawingml/2006/main">
            <a:off x="533400" y="2019300"/>
            <a:ext cx="881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BD5E1"/>
                </a:solidFill>
                <a:latin typeface="Aptos"/>
                <a:ea typeface="Aptos"/>
                <a:cs typeface="Aptos"/>
              </a:defRPr>
            </a:pPr>
            <a:r>
              <a:rPr sz="1575" b="0">
                <a:solidFill>
                  <a:srgbClr val="CBD5E1"/>
                </a:solidFill>
                <a:latin typeface="Aptos"/>
                <a:ea typeface="Aptos"/>
                <a:cs typeface="Aptos"/>
              </a:rPr>
              <a:t>The main tracker stays concise. The evidence layer explains what the score means and what remains uncertain.</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dc9b53ed5964c99"/>
          <a:stretch xmlns:a="http://schemas.openxmlformats.org/drawingml/2006/main"/>
        </p:blipFill>
        <p:spPr>
          <a:xfrm xmlns:a="http://schemas.openxmlformats.org/drawingml/2006/main">
            <a:off x="678536" y="2905125"/>
            <a:ext cx="4310303" cy="6096000"/>
          </a:xfrm>
          <a:prstGeom xmlns:a="http://schemas.openxmlformats.org/drawingml/2006/main" prst="roundRect">
            <a:avLst>
              <a:gd name="adj" fmla="val 2637"/>
            </a:avLst>
          </a:prstGeom>
        </p:spPr>
      </p:pic>
      <p:sp>
        <p:nvSpPr>
          <p:cNvPr id="8" name="">
            <a:extLst xmlns:a="http://schemas.openxmlformats.org/drawingml/2006/main">
              <a:ext uri="{FF2B5EF4-FFF2-40B4-BE49-F238E27FC236}">
                <a16:creationId xmlns:a16="http://schemas.microsoft.com/office/drawing/2014/main" id="{B431CDAC-8546-4404-B8C1-C37ABB44D081}"/>
              </a:ext>
            </a:extLst>
          </p:cNvPr>
          <p:cNvSpPr>
            <a:spLocks xmlns:a="http://schemas.openxmlformats.org/drawingml/2006/main" noGrp="1"/>
          </p:cNvSpPr>
          <p:nvPr/>
        </p:nvSpPr>
        <p:spPr>
          <a:xfrm xmlns:a="http://schemas.openxmlformats.org/drawingml/2006/main">
            <a:off x="5619750" y="31432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E3B341"/>
                </a:solidFill>
                <a:latin typeface="Aptos"/>
                <a:ea typeface="Aptos"/>
                <a:cs typeface="Aptos"/>
              </a:defRPr>
            </a:pPr>
            <a:r>
              <a:rPr sz="1125" b="1">
                <a:solidFill>
                  <a:srgbClr val="E3B341"/>
                </a:solidFill>
                <a:latin typeface="Aptos"/>
                <a:ea typeface="Aptos"/>
                <a:cs typeface="Aptos"/>
              </a:rPr>
              <a:t>THE USER CAN SEE</a:t>
            </a:r>
          </a:p>
        </p:txBody>
      </p:sp>
      <p:sp>
        <p:nvSpPr>
          <p:cNvPr id="9" name="">
            <a:extLst xmlns:a="http://schemas.openxmlformats.org/drawingml/2006/main">
              <a:ext uri="{FF2B5EF4-FFF2-40B4-BE49-F238E27FC236}">
                <a16:creationId xmlns:a16="http://schemas.microsoft.com/office/drawing/2014/main" id="{63BAADB4-2A46-4276-96A6-F8F83066FDB8}"/>
              </a:ext>
            </a:extLst>
          </p:cNvPr>
          <p:cNvSpPr>
            <a:spLocks xmlns:a="http://schemas.openxmlformats.org/drawingml/2006/main" noGrp="1"/>
          </p:cNvSpPr>
          <p:nvPr/>
        </p:nvSpPr>
        <p:spPr>
          <a:xfrm xmlns:a="http://schemas.openxmlformats.org/drawingml/2006/main">
            <a:off x="5619750" y="3667125"/>
            <a:ext cx="66675" cy="87630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ABC5A5-4E29-47A1-B0AA-3D4AFDBEA766}"/>
              </a:ext>
            </a:extLst>
          </p:cNvPr>
          <p:cNvSpPr>
            <a:spLocks xmlns:a="http://schemas.openxmlformats.org/drawingml/2006/main" noGrp="1"/>
          </p:cNvSpPr>
          <p:nvPr/>
        </p:nvSpPr>
        <p:spPr>
          <a:xfrm xmlns:a="http://schemas.openxmlformats.org/drawingml/2006/main">
            <a:off x="5905500" y="36671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Recorded lifecycle</a:t>
            </a:r>
          </a:p>
        </p:txBody>
      </p:sp>
      <p:sp>
        <p:nvSpPr>
          <p:cNvPr id="11" name="">
            <a:extLst xmlns:a="http://schemas.openxmlformats.org/drawingml/2006/main">
              <a:ext uri="{FF2B5EF4-FFF2-40B4-BE49-F238E27FC236}">
                <a16:creationId xmlns:a16="http://schemas.microsoft.com/office/drawing/2014/main" id="{E2A2ED9A-8423-422B-B9F2-F231C6108889}"/>
              </a:ext>
            </a:extLst>
          </p:cNvPr>
          <p:cNvSpPr>
            <a:spLocks xmlns:a="http://schemas.openxmlformats.org/drawingml/2006/main" noGrp="1"/>
          </p:cNvSpPr>
          <p:nvPr/>
        </p:nvSpPr>
        <p:spPr>
          <a:xfrm xmlns:a="http://schemas.openxmlformats.org/drawingml/2006/main">
            <a:off x="5905500" y="403860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The original BMS V1 state is preserved as history.</a:t>
            </a:r>
          </a:p>
        </p:txBody>
      </p:sp>
      <p:sp>
        <p:nvSpPr>
          <p:cNvPr id="12" name="">
            <a:extLst xmlns:a="http://schemas.openxmlformats.org/drawingml/2006/main">
              <a:ext uri="{FF2B5EF4-FFF2-40B4-BE49-F238E27FC236}">
                <a16:creationId xmlns:a16="http://schemas.microsoft.com/office/drawing/2014/main" id="{9EFF1690-9A31-458C-9BD7-63A3C4AFF14B}"/>
              </a:ext>
            </a:extLst>
          </p:cNvPr>
          <p:cNvSpPr>
            <a:spLocks xmlns:a="http://schemas.openxmlformats.org/drawingml/2006/main" noGrp="1"/>
          </p:cNvSpPr>
          <p:nvPr/>
        </p:nvSpPr>
        <p:spPr>
          <a:xfrm xmlns:a="http://schemas.openxmlformats.org/drawingml/2006/main">
            <a:off x="5619750" y="4905375"/>
            <a:ext cx="66675" cy="87630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F21300D-7FF0-409C-AED5-23319D3EBEA5}"/>
              </a:ext>
            </a:extLst>
          </p:cNvPr>
          <p:cNvSpPr>
            <a:spLocks xmlns:a="http://schemas.openxmlformats.org/drawingml/2006/main" noGrp="1"/>
          </p:cNvSpPr>
          <p:nvPr/>
        </p:nvSpPr>
        <p:spPr>
          <a:xfrm xmlns:a="http://schemas.openxmlformats.org/drawingml/2006/main">
            <a:off x="5905500" y="490537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Evidence coverage</a:t>
            </a:r>
          </a:p>
        </p:txBody>
      </p:sp>
      <p:sp>
        <p:nvSpPr>
          <p:cNvPr id="14" name="">
            <a:extLst xmlns:a="http://schemas.openxmlformats.org/drawingml/2006/main">
              <a:ext uri="{FF2B5EF4-FFF2-40B4-BE49-F238E27FC236}">
                <a16:creationId xmlns:a16="http://schemas.microsoft.com/office/drawing/2014/main" id="{34819357-13CC-4D73-B9DA-B708592EDDE8}"/>
              </a:ext>
            </a:extLst>
          </p:cNvPr>
          <p:cNvSpPr>
            <a:spLocks xmlns:a="http://schemas.openxmlformats.org/drawingml/2006/main" noGrp="1"/>
          </p:cNvSpPr>
          <p:nvPr/>
        </p:nvSpPr>
        <p:spPr>
          <a:xfrm xmlns:a="http://schemas.openxmlformats.org/drawingml/2006/main">
            <a:off x="5905500" y="52768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Official sources and supported claims are counted.</a:t>
            </a:r>
          </a:p>
        </p:txBody>
      </p:sp>
      <p:sp>
        <p:nvSpPr>
          <p:cNvPr id="15" name="">
            <a:extLst xmlns:a="http://schemas.openxmlformats.org/drawingml/2006/main">
              <a:ext uri="{FF2B5EF4-FFF2-40B4-BE49-F238E27FC236}">
                <a16:creationId xmlns:a16="http://schemas.microsoft.com/office/drawing/2014/main" id="{2029BD93-98D5-450B-BD9E-877CBB8CB2F7}"/>
              </a:ext>
            </a:extLst>
          </p:cNvPr>
          <p:cNvSpPr>
            <a:spLocks xmlns:a="http://schemas.openxmlformats.org/drawingml/2006/main" noGrp="1"/>
          </p:cNvSpPr>
          <p:nvPr/>
        </p:nvSpPr>
        <p:spPr>
          <a:xfrm xmlns:a="http://schemas.openxmlformats.org/drawingml/2006/main">
            <a:off x="5619750" y="6143625"/>
            <a:ext cx="66675" cy="876300"/>
          </a:xfrm>
          <a:prstGeom xmlns:a="http://schemas.openxmlformats.org/drawingml/2006/main" prst="rect">
            <a:avLst/>
          </a:prstGeom>
          <a:solidFill xmlns:a="http://schemas.openxmlformats.org/drawingml/2006/main">
            <a:srgbClr val="E3B34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8A1D9BF-246A-4B14-A0D4-99890A368B68}"/>
              </a:ext>
            </a:extLst>
          </p:cNvPr>
          <p:cNvSpPr>
            <a:spLocks xmlns:a="http://schemas.openxmlformats.org/drawingml/2006/main" noGrp="1"/>
          </p:cNvSpPr>
          <p:nvPr/>
        </p:nvSpPr>
        <p:spPr>
          <a:xfrm xmlns:a="http://schemas.openxmlformats.org/drawingml/2006/main">
            <a:off x="5905500" y="61436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Principal watch item</a:t>
            </a:r>
          </a:p>
        </p:txBody>
      </p:sp>
      <p:sp>
        <p:nvSpPr>
          <p:cNvPr id="17" name="">
            <a:extLst xmlns:a="http://schemas.openxmlformats.org/drawingml/2006/main">
              <a:ext uri="{FF2B5EF4-FFF2-40B4-BE49-F238E27FC236}">
                <a16:creationId xmlns:a16="http://schemas.microsoft.com/office/drawing/2014/main" id="{00A95560-6C12-4154-831F-CC4C17B928B7}"/>
              </a:ext>
            </a:extLst>
          </p:cNvPr>
          <p:cNvSpPr>
            <a:spLocks xmlns:a="http://schemas.openxmlformats.org/drawingml/2006/main" noGrp="1"/>
          </p:cNvSpPr>
          <p:nvPr/>
        </p:nvSpPr>
        <p:spPr>
          <a:xfrm xmlns:a="http://schemas.openxmlformats.org/drawingml/2006/main">
            <a:off x="5905500" y="651510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The report surfaces uncertainty rather than hiding it.</a:t>
            </a:r>
          </a:p>
        </p:txBody>
      </p:sp>
      <p:sp>
        <p:nvSpPr>
          <p:cNvPr id="18" name="">
            <a:extLst xmlns:a="http://schemas.openxmlformats.org/drawingml/2006/main">
              <a:ext uri="{FF2B5EF4-FFF2-40B4-BE49-F238E27FC236}">
                <a16:creationId xmlns:a16="http://schemas.microsoft.com/office/drawing/2014/main" id="{6AF72A8A-85B3-4942-B76D-8E95B2904924}"/>
              </a:ext>
            </a:extLst>
          </p:cNvPr>
          <p:cNvSpPr>
            <a:spLocks xmlns:a="http://schemas.openxmlformats.org/drawingml/2006/main" noGrp="1"/>
          </p:cNvSpPr>
          <p:nvPr/>
        </p:nvSpPr>
        <p:spPr>
          <a:xfrm xmlns:a="http://schemas.openxmlformats.org/drawingml/2006/main">
            <a:off x="5619750" y="7381875"/>
            <a:ext cx="66675" cy="87630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8604B37-EA1A-4196-981D-8C73F00B6DC4}"/>
              </a:ext>
            </a:extLst>
          </p:cNvPr>
          <p:cNvSpPr>
            <a:spLocks xmlns:a="http://schemas.openxmlformats.org/drawingml/2006/main" noGrp="1"/>
          </p:cNvSpPr>
          <p:nvPr/>
        </p:nvSpPr>
        <p:spPr>
          <a:xfrm xmlns:a="http://schemas.openxmlformats.org/drawingml/2006/main">
            <a:off x="5905500" y="738187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Research readiness</a:t>
            </a:r>
          </a:p>
        </p:txBody>
      </p:sp>
      <p:sp>
        <p:nvSpPr>
          <p:cNvPr id="20" name="">
            <a:extLst xmlns:a="http://schemas.openxmlformats.org/drawingml/2006/main">
              <a:ext uri="{FF2B5EF4-FFF2-40B4-BE49-F238E27FC236}">
                <a16:creationId xmlns:a16="http://schemas.microsoft.com/office/drawing/2014/main" id="{241E5872-64EE-4AC1-9A5A-41863B8DE17D}"/>
              </a:ext>
            </a:extLst>
          </p:cNvPr>
          <p:cNvSpPr>
            <a:spLocks xmlns:a="http://schemas.openxmlformats.org/drawingml/2006/main" noGrp="1"/>
          </p:cNvSpPr>
          <p:nvPr/>
        </p:nvSpPr>
        <p:spPr>
          <a:xfrm xmlns:a="http://schemas.openxmlformats.org/drawingml/2006/main">
            <a:off x="5905500" y="77533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The on-screen layer can remain useful even when a PDF is withheld.</a:t>
            </a:r>
          </a:p>
        </p:txBody>
      </p:sp>
    </p:spTree>
    <p:extLst>
      <p:ext uri="{BB962C8B-B14F-4D97-AF65-F5344CB8AC3E}">
        <p14:creationId xmlns:p14="http://schemas.microsoft.com/office/powerpoint/2010/main" val="2013429728"/>
      </p:ext>
    </p:extLst>
  </p:cSld>
</p:sld>
</file>

<file path=ppt/slides/slide5.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6787A0C-E42C-4BF9-9A56-1F63646F993E}"/>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776130-5BC6-4B9D-BA18-3EB71FFA8B10}"/>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DD10E1D3-9454-4FE9-9520-1E5F39325386}"/>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See how the score was formed — and how confident it is</a:t>
            </a:r>
          </a:p>
        </p:txBody>
      </p:sp>
      <p:sp>
        <p:nvSpPr>
          <p:cNvPr id="4" name="">
            <a:extLst xmlns:a="http://schemas.openxmlformats.org/drawingml/2006/main">
              <a:ext uri="{FF2B5EF4-FFF2-40B4-BE49-F238E27FC236}">
                <a16:creationId xmlns:a16="http://schemas.microsoft.com/office/drawing/2014/main" id="{22F89FAB-FB7E-45D3-A046-2DE012292047}"/>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C6DE07A7-88AD-4C22-AB58-519BA91C3F6F}"/>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6722ACA3-F94B-4198-A691-3720257760F4}"/>
              </a:ext>
            </a:extLst>
          </p:cNvPr>
          <p:cNvSpPr>
            <a:spLocks xmlns:a="http://schemas.openxmlformats.org/drawingml/2006/main" noGrp="1"/>
          </p:cNvSpPr>
          <p:nvPr/>
        </p:nvSpPr>
        <p:spPr>
          <a:xfrm xmlns:a="http://schemas.openxmlformats.org/drawingml/2006/main">
            <a:off x="533400" y="2000250"/>
            <a:ext cx="885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BD5E1"/>
                </a:solidFill>
                <a:latin typeface="Aptos"/>
                <a:ea typeface="Aptos"/>
                <a:cs typeface="Aptos"/>
              </a:defRPr>
            </a:pPr>
            <a:r>
              <a:rPr sz="1575" b="0">
                <a:solidFill>
                  <a:srgbClr val="CBD5E1"/>
                </a:solidFill>
                <a:latin typeface="Aptos"/>
                <a:ea typeface="Aptos"/>
                <a:cs typeface="Aptos"/>
              </a:rPr>
              <a:t>Score describes the measured direction. Confidence describes evidence completeness. They answer different questions.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d91e2062b5b4db2"/>
          <a:stretch xmlns:a="http://schemas.openxmlformats.org/drawingml/2006/main"/>
        </p:blipFill>
        <p:spPr>
          <a:xfrm xmlns:a="http://schemas.openxmlformats.org/drawingml/2006/main">
            <a:off x="1421149" y="2800350"/>
            <a:ext cx="4377652" cy="6191250"/>
          </a:xfrm>
          <a:prstGeom xmlns:a="http://schemas.openxmlformats.org/drawingml/2006/main" prst="roundRect">
            <a:avLst>
              <a:gd name="adj" fmla="val 1852"/>
            </a:avLst>
          </a:prstGeom>
        </p:spPr>
      </p:pic>
      <p:sp>
        <p:nvSpPr>
          <p:cNvPr id="8" name="">
            <a:extLst xmlns:a="http://schemas.openxmlformats.org/drawingml/2006/main">
              <a:ext uri="{FF2B5EF4-FFF2-40B4-BE49-F238E27FC236}">
                <a16:creationId xmlns:a16="http://schemas.microsoft.com/office/drawing/2014/main" id="{96C04537-4A3B-4F8A-B571-0AB3DBECA323}"/>
              </a:ext>
            </a:extLst>
          </p:cNvPr>
          <p:cNvSpPr>
            <a:spLocks xmlns:a="http://schemas.openxmlformats.org/drawingml/2006/main" noGrp="1"/>
          </p:cNvSpPr>
          <p:nvPr/>
        </p:nvSpPr>
        <p:spPr>
          <a:xfrm xmlns:a="http://schemas.openxmlformats.org/drawingml/2006/main">
            <a:off x="7096125" y="3143250"/>
            <a:ext cx="2667000" cy="400050"/>
          </a:xfrm>
          <a:prstGeom xmlns:a="http://schemas.openxmlformats.org/drawingml/2006/main" prst="roundRect">
            <a:avLst>
              <a:gd name="adj" fmla="val 28571"/>
            </a:avLst>
          </a:prstGeom>
          <a:solidFill xmlns:a="http://schemas.openxmlformats.org/drawingml/2006/main">
            <a:srgbClr val="121E31"/>
          </a:solidFill>
          <a:ln xmlns:a="http://schemas.openxmlformats.org/drawingml/2006/main" w="9525">
            <a:solidFill>
              <a:srgbClr val="E3B341"/>
            </a:solidFill>
          </a:ln>
        </p:spPr>
      </p:sp>
      <p:sp>
        <p:nvSpPr>
          <p:cNvPr id="9" name="">
            <a:extLst xmlns:a="http://schemas.openxmlformats.org/drawingml/2006/main">
              <a:ext uri="{FF2B5EF4-FFF2-40B4-BE49-F238E27FC236}">
                <a16:creationId xmlns:a16="http://schemas.microsoft.com/office/drawing/2014/main" id="{ABC6DB4C-F3C8-41F5-AB18-5CA509E4A612}"/>
              </a:ext>
            </a:extLst>
          </p:cNvPr>
          <p:cNvSpPr>
            <a:spLocks xmlns:a="http://schemas.openxmlformats.org/drawingml/2006/main" noGrp="1"/>
          </p:cNvSpPr>
          <p:nvPr/>
        </p:nvSpPr>
        <p:spPr>
          <a:xfrm xmlns:a="http://schemas.openxmlformats.org/drawingml/2006/main">
            <a:off x="7210425" y="3209925"/>
            <a:ext cx="243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E3B341"/>
                </a:solidFill>
                <a:latin typeface="Aptos"/>
                <a:ea typeface="Aptos"/>
                <a:cs typeface="Aptos"/>
              </a:defRPr>
            </a:pPr>
            <a:r>
              <a:rPr sz="1050" b="1">
                <a:solidFill>
                  <a:srgbClr val="E3B341"/>
                </a:solidFill>
                <a:latin typeface="Aptos"/>
                <a:ea typeface="Aptos"/>
                <a:cs typeface="Aptos"/>
              </a:rPr>
              <a:t>SCORE ≠ CONFIDENCE</a:t>
            </a:r>
          </a:p>
        </p:txBody>
      </p:sp>
      <p:sp>
        <p:nvSpPr>
          <p:cNvPr id="10" name="">
            <a:extLst xmlns:a="http://schemas.openxmlformats.org/drawingml/2006/main">
              <a:ext uri="{FF2B5EF4-FFF2-40B4-BE49-F238E27FC236}">
                <a16:creationId xmlns:a16="http://schemas.microsoft.com/office/drawing/2014/main" id="{E9BE21D7-DEC4-448F-86FE-F4B2747C276F}"/>
              </a:ext>
            </a:extLst>
          </p:cNvPr>
          <p:cNvSpPr>
            <a:spLocks xmlns:a="http://schemas.openxmlformats.org/drawingml/2006/main" noGrp="1"/>
          </p:cNvSpPr>
          <p:nvPr/>
        </p:nvSpPr>
        <p:spPr>
          <a:xfrm xmlns:a="http://schemas.openxmlformats.org/drawingml/2006/main">
            <a:off x="7096125" y="3886200"/>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2D3C5"/>
                </a:solidFill>
                <a:latin typeface="Aptos"/>
                <a:ea typeface="Aptos"/>
                <a:cs typeface="Aptos"/>
              </a:defRPr>
            </a:pPr>
            <a:r>
              <a:rPr sz="3600" b="1">
                <a:solidFill>
                  <a:srgbClr val="22D3C5"/>
                </a:solidFill>
                <a:latin typeface="Aptos"/>
                <a:ea typeface="Aptos"/>
                <a:cs typeface="Aptos"/>
              </a:rPr>
              <a:t>100</a:t>
            </a:r>
          </a:p>
        </p:txBody>
      </p:sp>
      <p:sp>
        <p:nvSpPr>
          <p:cNvPr id="11" name="">
            <a:extLst xmlns:a="http://schemas.openxmlformats.org/drawingml/2006/main">
              <a:ext uri="{FF2B5EF4-FFF2-40B4-BE49-F238E27FC236}">
                <a16:creationId xmlns:a16="http://schemas.microsoft.com/office/drawing/2014/main" id="{AF11A662-7DCC-41FD-AA16-F82FF9EA0224}"/>
              </a:ext>
            </a:extLst>
          </p:cNvPr>
          <p:cNvSpPr>
            <a:spLocks xmlns:a="http://schemas.openxmlformats.org/drawingml/2006/main" noGrp="1"/>
          </p:cNvSpPr>
          <p:nvPr/>
        </p:nvSpPr>
        <p:spPr>
          <a:xfrm xmlns:a="http://schemas.openxmlformats.org/drawingml/2006/main">
            <a:off x="7096125" y="45148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Momentum score</a:t>
            </a:r>
          </a:p>
        </p:txBody>
      </p:sp>
      <p:sp>
        <p:nvSpPr>
          <p:cNvPr id="12" name="">
            <a:extLst xmlns:a="http://schemas.openxmlformats.org/drawingml/2006/main">
              <a:ext uri="{FF2B5EF4-FFF2-40B4-BE49-F238E27FC236}">
                <a16:creationId xmlns:a16="http://schemas.microsoft.com/office/drawing/2014/main" id="{E439CC12-98B2-4D66-9A16-3199C759DC1D}"/>
              </a:ext>
            </a:extLst>
          </p:cNvPr>
          <p:cNvSpPr>
            <a:spLocks xmlns:a="http://schemas.openxmlformats.org/drawingml/2006/main" noGrp="1"/>
          </p:cNvSpPr>
          <p:nvPr/>
        </p:nvSpPr>
        <p:spPr>
          <a:xfrm xmlns:a="http://schemas.openxmlformats.org/drawingml/2006/main">
            <a:off x="7096125" y="48577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BD5E1"/>
                </a:solidFill>
                <a:latin typeface="Aptos"/>
                <a:ea typeface="Aptos"/>
                <a:cs typeface="Aptos"/>
              </a:defRPr>
            </a:pPr>
            <a:r>
              <a:rPr sz="1350" b="0">
                <a:solidFill>
                  <a:srgbClr val="CBD5E1"/>
                </a:solidFill>
                <a:latin typeface="Aptos"/>
                <a:ea typeface="Aptos"/>
                <a:cs typeface="Aptos"/>
              </a:rPr>
              <a:t>A strong change reading in the available comparison.</a:t>
            </a:r>
          </a:p>
        </p:txBody>
      </p:sp>
      <p:sp>
        <p:nvSpPr>
          <p:cNvPr id="13" name="">
            <a:extLst xmlns:a="http://schemas.openxmlformats.org/drawingml/2006/main">
              <a:ext uri="{FF2B5EF4-FFF2-40B4-BE49-F238E27FC236}">
                <a16:creationId xmlns:a16="http://schemas.microsoft.com/office/drawing/2014/main" id="{0CBD3C4F-C162-4318-B6CF-3B46AFD1D578}"/>
              </a:ext>
            </a:extLst>
          </p:cNvPr>
          <p:cNvSpPr>
            <a:spLocks xmlns:a="http://schemas.openxmlformats.org/drawingml/2006/main" noGrp="1"/>
          </p:cNvSpPr>
          <p:nvPr/>
        </p:nvSpPr>
        <p:spPr>
          <a:xfrm xmlns:a="http://schemas.openxmlformats.org/drawingml/2006/main">
            <a:off x="7096125" y="6048375"/>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3B341"/>
                </a:solidFill>
                <a:latin typeface="Aptos"/>
                <a:ea typeface="Aptos"/>
                <a:cs typeface="Aptos"/>
              </a:defRPr>
            </a:pPr>
            <a:r>
              <a:rPr sz="2550" b="1">
                <a:solidFill>
                  <a:srgbClr val="E3B341"/>
                </a:solidFill>
                <a:latin typeface="Aptos"/>
                <a:ea typeface="Aptos"/>
                <a:cs typeface="Aptos"/>
              </a:rPr>
              <a:t>MEDIUM</a:t>
            </a:r>
          </a:p>
        </p:txBody>
      </p:sp>
      <p:sp>
        <p:nvSpPr>
          <p:cNvPr id="14" name="">
            <a:extLst xmlns:a="http://schemas.openxmlformats.org/drawingml/2006/main">
              <a:ext uri="{FF2B5EF4-FFF2-40B4-BE49-F238E27FC236}">
                <a16:creationId xmlns:a16="http://schemas.microsoft.com/office/drawing/2014/main" id="{A813A469-4A94-4A50-A243-A4B73CB62F53}"/>
              </a:ext>
            </a:extLst>
          </p:cNvPr>
          <p:cNvSpPr>
            <a:spLocks xmlns:a="http://schemas.openxmlformats.org/drawingml/2006/main" noGrp="1"/>
          </p:cNvSpPr>
          <p:nvPr/>
        </p:nvSpPr>
        <p:spPr>
          <a:xfrm xmlns:a="http://schemas.openxmlformats.org/drawingml/2006/main">
            <a:off x="7096125" y="65913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Evidence confidence</a:t>
            </a:r>
          </a:p>
        </p:txBody>
      </p:sp>
      <p:sp>
        <p:nvSpPr>
          <p:cNvPr id="15" name="">
            <a:extLst xmlns:a="http://schemas.openxmlformats.org/drawingml/2006/main">
              <a:ext uri="{FF2B5EF4-FFF2-40B4-BE49-F238E27FC236}">
                <a16:creationId xmlns:a16="http://schemas.microsoft.com/office/drawing/2014/main" id="{D198F705-8DC8-4AAA-ABEB-1765125DEEFC}"/>
              </a:ext>
            </a:extLst>
          </p:cNvPr>
          <p:cNvSpPr>
            <a:spLocks xmlns:a="http://schemas.openxmlformats.org/drawingml/2006/main" noGrp="1"/>
          </p:cNvSpPr>
          <p:nvPr/>
        </p:nvSpPr>
        <p:spPr>
          <a:xfrm xmlns:a="http://schemas.openxmlformats.org/drawingml/2006/main">
            <a:off x="7096125" y="6934200"/>
            <a:ext cx="257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BD5E1"/>
                </a:solidFill>
                <a:latin typeface="Aptos"/>
                <a:ea typeface="Aptos"/>
                <a:cs typeface="Aptos"/>
              </a:defRPr>
            </a:pPr>
            <a:r>
              <a:rPr sz="1350" b="0">
                <a:solidFill>
                  <a:srgbClr val="CBD5E1"/>
                </a:solidFill>
                <a:latin typeface="Aptos"/>
                <a:ea typeface="Aptos"/>
                <a:cs typeface="Aptos"/>
              </a:rPr>
              <a:t>Some required factors are not yet comparable. N/A is not treated as zero or neutral.</a:t>
            </a:r>
          </a:p>
        </p:txBody>
      </p:sp>
      <p:sp>
        <p:nvSpPr>
          <p:cNvPr id="16" name="">
            <a:extLst xmlns:a="http://schemas.openxmlformats.org/drawingml/2006/main">
              <a:ext uri="{FF2B5EF4-FFF2-40B4-BE49-F238E27FC236}">
                <a16:creationId xmlns:a16="http://schemas.microsoft.com/office/drawing/2014/main" id="{318A2C1E-0C2E-4E2C-9158-F9B8D1A4DAE6}"/>
              </a:ext>
            </a:extLst>
          </p:cNvPr>
          <p:cNvSpPr>
            <a:spLocks xmlns:a="http://schemas.openxmlformats.org/drawingml/2006/main" noGrp="1"/>
          </p:cNvSpPr>
          <p:nvPr/>
        </p:nvSpPr>
        <p:spPr>
          <a:xfrm xmlns:a="http://schemas.openxmlformats.org/drawingml/2006/main">
            <a:off x="7096125" y="8401050"/>
            <a:ext cx="2619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2D3C5"/>
                </a:solidFill>
                <a:latin typeface="Aptos"/>
                <a:ea typeface="Aptos"/>
                <a:cs typeface="Aptos"/>
              </a:defRPr>
            </a:pPr>
            <a:r>
              <a:rPr sz="1275" b="1">
                <a:solidFill>
                  <a:srgbClr val="22D3C5"/>
                </a:solidFill>
                <a:latin typeface="Aptos"/>
                <a:ea typeface="Aptos"/>
                <a:cs typeface="Aptos"/>
              </a:rPr>
              <a:t>Units stay explicit: ₹ crore, %, EPS and score /100.</a:t>
            </a:r>
          </a:p>
        </p:txBody>
      </p:sp>
    </p:spTree>
    <p:extLst>
      <p:ext uri="{BB962C8B-B14F-4D97-AF65-F5344CB8AC3E}">
        <p14:creationId xmlns:p14="http://schemas.microsoft.com/office/powerpoint/2010/main" val="617690104"/>
      </p:ext>
    </p:extLst>
  </p:cSld>
</p:sld>
</file>

<file path=ppt/slides/slide6.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FCC8DD4-AAB8-4457-99B8-2C19867A3977}"/>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41298A-9951-4D88-8E34-6CB57FC23666}"/>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15BA814F-2ED0-48B6-B9CC-BAFAB49C7734}"/>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Later results test whether the earlier lifecycle still holds</a:t>
            </a:r>
          </a:p>
        </p:txBody>
      </p:sp>
      <p:sp>
        <p:nvSpPr>
          <p:cNvPr id="4" name="">
            <a:extLst xmlns:a="http://schemas.openxmlformats.org/drawingml/2006/main">
              <a:ext uri="{FF2B5EF4-FFF2-40B4-BE49-F238E27FC236}">
                <a16:creationId xmlns:a16="http://schemas.microsoft.com/office/drawing/2014/main" id="{69EA8898-3EE0-4706-BC51-F018941CF7E5}"/>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818ECC18-1AFA-459F-8817-64A5D702E5D6}"/>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B9001FE1-8819-40C9-9EB5-0DA82D761A87}"/>
              </a:ext>
            </a:extLst>
          </p:cNvPr>
          <p:cNvSpPr>
            <a:spLocks xmlns:a="http://schemas.openxmlformats.org/drawingml/2006/main" noGrp="1"/>
          </p:cNvSpPr>
          <p:nvPr/>
        </p:nvSpPr>
        <p:spPr>
          <a:xfrm xmlns:a="http://schemas.openxmlformats.org/drawingml/2006/main">
            <a:off x="533400" y="2000250"/>
            <a:ext cx="885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BD5E1"/>
                </a:solidFill>
                <a:latin typeface="Aptos"/>
                <a:ea typeface="Aptos"/>
                <a:cs typeface="Aptos"/>
              </a:defRPr>
            </a:pPr>
            <a:r>
              <a:rPr sz="1575" b="0">
                <a:solidFill>
                  <a:srgbClr val="CBD5E1"/>
                </a:solidFill>
                <a:latin typeface="Aptos"/>
                <a:ea typeface="Aptos"/>
                <a:cs typeface="Aptos"/>
              </a:rPr>
              <a:t>The historical lifecycle is preserved. New results change today’s research priority, not yesterday’s record.</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591b80397b7445d"/>
          <a:stretch xmlns:a="http://schemas.openxmlformats.org/drawingml/2006/main"/>
        </p:blipFill>
        <p:spPr>
          <a:xfrm xmlns:a="http://schemas.openxmlformats.org/drawingml/2006/main">
            <a:off x="1187450" y="2800350"/>
            <a:ext cx="4445000" cy="6286500"/>
          </a:xfrm>
          <a:prstGeom xmlns:a="http://schemas.openxmlformats.org/drawingml/2006/main" prst="roundRect">
            <a:avLst>
              <a:gd name="adj" fmla="val 2000"/>
            </a:avLst>
          </a:prstGeom>
        </p:spPr>
      </p:pic>
      <p:sp>
        <p:nvSpPr>
          <p:cNvPr id="8" name="">
            <a:extLst xmlns:a="http://schemas.openxmlformats.org/drawingml/2006/main">
              <a:ext uri="{FF2B5EF4-FFF2-40B4-BE49-F238E27FC236}">
                <a16:creationId xmlns:a16="http://schemas.microsoft.com/office/drawing/2014/main" id="{21A0AEC0-1F53-4BD3-BB66-9988562075F0}"/>
              </a:ext>
            </a:extLst>
          </p:cNvPr>
          <p:cNvSpPr>
            <a:spLocks xmlns:a="http://schemas.openxmlformats.org/drawingml/2006/main" noGrp="1"/>
          </p:cNvSpPr>
          <p:nvPr/>
        </p:nvSpPr>
        <p:spPr>
          <a:xfrm xmlns:a="http://schemas.openxmlformats.org/drawingml/2006/main">
            <a:off x="6629400" y="3048000"/>
            <a:ext cx="3124200" cy="1238250"/>
          </a:xfrm>
          <a:prstGeom xmlns:a="http://schemas.openxmlformats.org/drawingml/2006/main" prst="roundRect">
            <a:avLst>
              <a:gd name="adj" fmla="val 10769"/>
            </a:avLst>
          </a:prstGeom>
          <a:solidFill xmlns:a="http://schemas.openxmlformats.org/drawingml/2006/main">
            <a:srgbClr val="121E31"/>
          </a:solidFill>
          <a:ln xmlns:a="http://schemas.openxmlformats.org/drawingml/2006/main" w="9525">
            <a:solidFill>
              <a:srgbClr val="2A3952"/>
            </a:solidFill>
          </a:ln>
        </p:spPr>
      </p:sp>
      <p:sp>
        <p:nvSpPr>
          <p:cNvPr id="9" name="">
            <a:extLst xmlns:a="http://schemas.openxmlformats.org/drawingml/2006/main">
              <a:ext uri="{FF2B5EF4-FFF2-40B4-BE49-F238E27FC236}">
                <a16:creationId xmlns:a16="http://schemas.microsoft.com/office/drawing/2014/main" id="{E979C1EE-CDC4-4117-AC7D-2DE8CD753C9A}"/>
              </a:ext>
            </a:extLst>
          </p:cNvPr>
          <p:cNvSpPr>
            <a:spLocks xmlns:a="http://schemas.openxmlformats.org/drawingml/2006/main" noGrp="1"/>
          </p:cNvSpPr>
          <p:nvPr/>
        </p:nvSpPr>
        <p:spPr>
          <a:xfrm xmlns:a="http://schemas.openxmlformats.org/drawingml/2006/main">
            <a:off x="6800850" y="3238500"/>
            <a:ext cx="400050" cy="400050"/>
          </a:xfrm>
          <a:prstGeom xmlns:a="http://schemas.openxmlformats.org/drawingml/2006/main" prst="ellipse">
            <a:avLst/>
          </a:prstGeom>
          <a:solidFill xmlns:a="http://schemas.openxmlformats.org/drawingml/2006/main">
            <a:srgbClr val="E3B34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6E38000-14AE-4BAF-8E4C-32727CA39B55}"/>
              </a:ext>
            </a:extLst>
          </p:cNvPr>
          <p:cNvSpPr>
            <a:spLocks xmlns:a="http://schemas.openxmlformats.org/drawingml/2006/main" noGrp="1"/>
          </p:cNvSpPr>
          <p:nvPr/>
        </p:nvSpPr>
        <p:spPr>
          <a:xfrm xmlns:a="http://schemas.openxmlformats.org/drawingml/2006/main">
            <a:off x="6800850" y="3286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0D18"/>
                </a:solidFill>
                <a:latin typeface="Aptos"/>
                <a:ea typeface="Aptos"/>
                <a:cs typeface="Aptos"/>
              </a:defRPr>
            </a:pPr>
            <a:r>
              <a:rPr sz="1125" b="1">
                <a:solidFill>
                  <a:srgbClr val="080D18"/>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2F40EB99-2A9E-4E6C-9E88-8BC106F390E7}"/>
              </a:ext>
            </a:extLst>
          </p:cNvPr>
          <p:cNvSpPr>
            <a:spLocks xmlns:a="http://schemas.openxmlformats.org/drawingml/2006/main" noGrp="1"/>
          </p:cNvSpPr>
          <p:nvPr/>
        </p:nvSpPr>
        <p:spPr>
          <a:xfrm xmlns:a="http://schemas.openxmlformats.org/drawingml/2006/main">
            <a:off x="7353300" y="3209925"/>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Compare delivery</a:t>
            </a:r>
          </a:p>
        </p:txBody>
      </p:sp>
      <p:sp>
        <p:nvSpPr>
          <p:cNvPr id="12" name="">
            <a:extLst xmlns:a="http://schemas.openxmlformats.org/drawingml/2006/main">
              <a:ext uri="{FF2B5EF4-FFF2-40B4-BE49-F238E27FC236}">
                <a16:creationId xmlns:a16="http://schemas.microsoft.com/office/drawing/2014/main" id="{2247CDE3-44DD-4F88-B978-AD0F4EFDC762}"/>
              </a:ext>
            </a:extLst>
          </p:cNvPr>
          <p:cNvSpPr>
            <a:spLocks xmlns:a="http://schemas.openxmlformats.org/drawingml/2006/main" noGrp="1"/>
          </p:cNvSpPr>
          <p:nvPr/>
        </p:nvSpPr>
        <p:spPr>
          <a:xfrm xmlns:a="http://schemas.openxmlformats.org/drawingml/2006/main">
            <a:off x="7353300" y="3562350"/>
            <a:ext cx="2228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Previous reading versus the next published result.</a:t>
            </a:r>
          </a:p>
        </p:txBody>
      </p:sp>
      <p:sp>
        <p:nvSpPr>
          <p:cNvPr id="13" name="">
            <a:extLst xmlns:a="http://schemas.openxmlformats.org/drawingml/2006/main">
              <a:ext uri="{FF2B5EF4-FFF2-40B4-BE49-F238E27FC236}">
                <a16:creationId xmlns:a16="http://schemas.microsoft.com/office/drawing/2014/main" id="{23CDB601-243E-4C96-98FE-C7FCF0BF1075}"/>
              </a:ext>
            </a:extLst>
          </p:cNvPr>
          <p:cNvSpPr>
            <a:spLocks xmlns:a="http://schemas.openxmlformats.org/drawingml/2006/main" noGrp="1"/>
          </p:cNvSpPr>
          <p:nvPr/>
        </p:nvSpPr>
        <p:spPr>
          <a:xfrm xmlns:a="http://schemas.openxmlformats.org/drawingml/2006/main">
            <a:off x="6629400" y="4524375"/>
            <a:ext cx="3124200" cy="1238250"/>
          </a:xfrm>
          <a:prstGeom xmlns:a="http://schemas.openxmlformats.org/drawingml/2006/main" prst="roundRect">
            <a:avLst>
              <a:gd name="adj" fmla="val 10769"/>
            </a:avLst>
          </a:prstGeom>
          <a:solidFill xmlns:a="http://schemas.openxmlformats.org/drawingml/2006/main">
            <a:srgbClr val="121E31"/>
          </a:solidFill>
          <a:ln xmlns:a="http://schemas.openxmlformats.org/drawingml/2006/main" w="9525">
            <a:solidFill>
              <a:srgbClr val="2A3952"/>
            </a:solidFill>
          </a:ln>
        </p:spPr>
      </p:sp>
      <p:sp>
        <p:nvSpPr>
          <p:cNvPr id="14" name="">
            <a:extLst xmlns:a="http://schemas.openxmlformats.org/drawingml/2006/main">
              <a:ext uri="{FF2B5EF4-FFF2-40B4-BE49-F238E27FC236}">
                <a16:creationId xmlns:a16="http://schemas.microsoft.com/office/drawing/2014/main" id="{966C1D1B-71A6-478D-BF2C-81E981C7A0EF}"/>
              </a:ext>
            </a:extLst>
          </p:cNvPr>
          <p:cNvSpPr>
            <a:spLocks xmlns:a="http://schemas.openxmlformats.org/drawingml/2006/main" noGrp="1"/>
          </p:cNvSpPr>
          <p:nvPr/>
        </p:nvSpPr>
        <p:spPr>
          <a:xfrm xmlns:a="http://schemas.openxmlformats.org/drawingml/2006/main">
            <a:off x="6800850" y="4714875"/>
            <a:ext cx="400050" cy="400050"/>
          </a:xfrm>
          <a:prstGeom xmlns:a="http://schemas.openxmlformats.org/drawingml/2006/main" prst="ellipse">
            <a:avLst/>
          </a:prstGeom>
          <a:solidFill xmlns:a="http://schemas.openxmlformats.org/drawingml/2006/main">
            <a:srgbClr val="E3B34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6DE7243-D439-460A-B7EC-1BBD480CF8B3}"/>
              </a:ext>
            </a:extLst>
          </p:cNvPr>
          <p:cNvSpPr>
            <a:spLocks xmlns:a="http://schemas.openxmlformats.org/drawingml/2006/main" noGrp="1"/>
          </p:cNvSpPr>
          <p:nvPr/>
        </p:nvSpPr>
        <p:spPr>
          <a:xfrm xmlns:a="http://schemas.openxmlformats.org/drawingml/2006/main">
            <a:off x="6800850" y="47625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0D18"/>
                </a:solidFill>
                <a:latin typeface="Aptos"/>
                <a:ea typeface="Aptos"/>
                <a:cs typeface="Aptos"/>
              </a:defRPr>
            </a:pPr>
            <a:r>
              <a:rPr sz="1125" b="1">
                <a:solidFill>
                  <a:srgbClr val="080D18"/>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B439D095-E262-45D2-B94D-59A18EEE354D}"/>
              </a:ext>
            </a:extLst>
          </p:cNvPr>
          <p:cNvSpPr>
            <a:spLocks xmlns:a="http://schemas.openxmlformats.org/drawingml/2006/main" noGrp="1"/>
          </p:cNvSpPr>
          <p:nvPr/>
        </p:nvSpPr>
        <p:spPr>
          <a:xfrm xmlns:a="http://schemas.openxmlformats.org/drawingml/2006/main">
            <a:off x="7353300" y="468630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Check business quality</a:t>
            </a:r>
          </a:p>
        </p:txBody>
      </p:sp>
      <p:sp>
        <p:nvSpPr>
          <p:cNvPr id="17" name="">
            <a:extLst xmlns:a="http://schemas.openxmlformats.org/drawingml/2006/main">
              <a:ext uri="{FF2B5EF4-FFF2-40B4-BE49-F238E27FC236}">
                <a16:creationId xmlns:a16="http://schemas.microsoft.com/office/drawing/2014/main" id="{1E2C4807-853B-439B-9F89-771297D84956}"/>
              </a:ext>
            </a:extLst>
          </p:cNvPr>
          <p:cNvSpPr>
            <a:spLocks xmlns:a="http://schemas.openxmlformats.org/drawingml/2006/main" noGrp="1"/>
          </p:cNvSpPr>
          <p:nvPr/>
        </p:nvSpPr>
        <p:spPr>
          <a:xfrm xmlns:a="http://schemas.openxmlformats.org/drawingml/2006/main">
            <a:off x="7353300" y="5038725"/>
            <a:ext cx="2228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Financial resilience, governance, operating discipline and allocation.</a:t>
            </a:r>
          </a:p>
        </p:txBody>
      </p:sp>
      <p:sp>
        <p:nvSpPr>
          <p:cNvPr id="18" name="">
            <a:extLst xmlns:a="http://schemas.openxmlformats.org/drawingml/2006/main">
              <a:ext uri="{FF2B5EF4-FFF2-40B4-BE49-F238E27FC236}">
                <a16:creationId xmlns:a16="http://schemas.microsoft.com/office/drawing/2014/main" id="{CE8E9F5B-049B-4A3E-87AA-C0D36E4E4E14}"/>
              </a:ext>
            </a:extLst>
          </p:cNvPr>
          <p:cNvSpPr>
            <a:spLocks xmlns:a="http://schemas.openxmlformats.org/drawingml/2006/main" noGrp="1"/>
          </p:cNvSpPr>
          <p:nvPr/>
        </p:nvSpPr>
        <p:spPr>
          <a:xfrm xmlns:a="http://schemas.openxmlformats.org/drawingml/2006/main">
            <a:off x="6629400" y="6000750"/>
            <a:ext cx="3124200" cy="1238250"/>
          </a:xfrm>
          <a:prstGeom xmlns:a="http://schemas.openxmlformats.org/drawingml/2006/main" prst="roundRect">
            <a:avLst>
              <a:gd name="adj" fmla="val 10769"/>
            </a:avLst>
          </a:prstGeom>
          <a:solidFill xmlns:a="http://schemas.openxmlformats.org/drawingml/2006/main">
            <a:srgbClr val="121E31"/>
          </a:solidFill>
          <a:ln xmlns:a="http://schemas.openxmlformats.org/drawingml/2006/main" w="9525">
            <a:solidFill>
              <a:srgbClr val="2A3952"/>
            </a:solidFill>
          </a:ln>
        </p:spPr>
      </p:sp>
      <p:sp>
        <p:nvSpPr>
          <p:cNvPr id="19" name="">
            <a:extLst xmlns:a="http://schemas.openxmlformats.org/drawingml/2006/main">
              <a:ext uri="{FF2B5EF4-FFF2-40B4-BE49-F238E27FC236}">
                <a16:creationId xmlns:a16="http://schemas.microsoft.com/office/drawing/2014/main" id="{58B11E03-94FD-4D7D-B988-100AE6ECF238}"/>
              </a:ext>
            </a:extLst>
          </p:cNvPr>
          <p:cNvSpPr>
            <a:spLocks xmlns:a="http://schemas.openxmlformats.org/drawingml/2006/main" noGrp="1"/>
          </p:cNvSpPr>
          <p:nvPr/>
        </p:nvSpPr>
        <p:spPr>
          <a:xfrm xmlns:a="http://schemas.openxmlformats.org/drawingml/2006/main">
            <a:off x="6800850" y="6191250"/>
            <a:ext cx="400050" cy="400050"/>
          </a:xfrm>
          <a:prstGeom xmlns:a="http://schemas.openxmlformats.org/drawingml/2006/main" prst="ellipse">
            <a:avLst/>
          </a:prstGeom>
          <a:solidFill xmlns:a="http://schemas.openxmlformats.org/drawingml/2006/main">
            <a:srgbClr val="E3B3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98F3870-894E-4A81-A0B4-AA504C173824}"/>
              </a:ext>
            </a:extLst>
          </p:cNvPr>
          <p:cNvSpPr>
            <a:spLocks xmlns:a="http://schemas.openxmlformats.org/drawingml/2006/main" noGrp="1"/>
          </p:cNvSpPr>
          <p:nvPr/>
        </p:nvSpPr>
        <p:spPr>
          <a:xfrm xmlns:a="http://schemas.openxmlformats.org/drawingml/2006/main">
            <a:off x="6800850" y="62388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0D18"/>
                </a:solidFill>
                <a:latin typeface="Aptos"/>
                <a:ea typeface="Aptos"/>
                <a:cs typeface="Aptos"/>
              </a:defRPr>
            </a:pPr>
            <a:r>
              <a:rPr sz="1125" b="1">
                <a:solidFill>
                  <a:srgbClr val="080D18"/>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141A6AEE-5B12-46F5-AE67-08ECBD3E1A1D}"/>
              </a:ext>
            </a:extLst>
          </p:cNvPr>
          <p:cNvSpPr>
            <a:spLocks xmlns:a="http://schemas.openxmlformats.org/drawingml/2006/main" noGrp="1"/>
          </p:cNvSpPr>
          <p:nvPr/>
        </p:nvSpPr>
        <p:spPr>
          <a:xfrm xmlns:a="http://schemas.openxmlformats.org/drawingml/2006/main">
            <a:off x="7353300" y="6162675"/>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Set research priority</a:t>
            </a:r>
          </a:p>
        </p:txBody>
      </p:sp>
      <p:sp>
        <p:nvSpPr>
          <p:cNvPr id="22" name="">
            <a:extLst xmlns:a="http://schemas.openxmlformats.org/drawingml/2006/main">
              <a:ext uri="{FF2B5EF4-FFF2-40B4-BE49-F238E27FC236}">
                <a16:creationId xmlns:a16="http://schemas.microsoft.com/office/drawing/2014/main" id="{27F27287-9D2F-4DA7-96A1-9EBA421DC35C}"/>
              </a:ext>
            </a:extLst>
          </p:cNvPr>
          <p:cNvSpPr>
            <a:spLocks xmlns:a="http://schemas.openxmlformats.org/drawingml/2006/main" noGrp="1"/>
          </p:cNvSpPr>
          <p:nvPr/>
        </p:nvSpPr>
        <p:spPr>
          <a:xfrm xmlns:a="http://schemas.openxmlformats.org/drawingml/2006/main">
            <a:off x="7353300" y="6515100"/>
            <a:ext cx="2228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Qualified, caution, not qualified or more evidence needed.</a:t>
            </a:r>
          </a:p>
        </p:txBody>
      </p:sp>
      <p:sp>
        <p:nvSpPr>
          <p:cNvPr id="23" name="">
            <a:extLst xmlns:a="http://schemas.openxmlformats.org/drawingml/2006/main">
              <a:ext uri="{FF2B5EF4-FFF2-40B4-BE49-F238E27FC236}">
                <a16:creationId xmlns:a16="http://schemas.microsoft.com/office/drawing/2014/main" id="{85CDBDB8-2402-4497-A0F4-F6A34124DB7B}"/>
              </a:ext>
            </a:extLst>
          </p:cNvPr>
          <p:cNvSpPr>
            <a:spLocks xmlns:a="http://schemas.openxmlformats.org/drawingml/2006/main" noGrp="1"/>
          </p:cNvSpPr>
          <p:nvPr/>
        </p:nvSpPr>
        <p:spPr>
          <a:xfrm xmlns:a="http://schemas.openxmlformats.org/drawingml/2006/main">
            <a:off x="6629400" y="78105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3B341"/>
                </a:solidFill>
                <a:latin typeface="Aptos"/>
                <a:ea typeface="Aptos"/>
                <a:cs typeface="Aptos"/>
              </a:defRPr>
            </a:pPr>
            <a:r>
              <a:rPr sz="1500" b="1">
                <a:solidFill>
                  <a:srgbClr val="E3B341"/>
                </a:solidFill>
                <a:latin typeface="Aptos"/>
                <a:ea typeface="Aptos"/>
                <a:cs typeface="Aptos"/>
              </a:rPr>
              <a:t>This is confirmation — not retrospective rewriting.</a:t>
            </a:r>
          </a:p>
        </p:txBody>
      </p:sp>
    </p:spTree>
    <p:extLst>
      <p:ext uri="{BB962C8B-B14F-4D97-AF65-F5344CB8AC3E}">
        <p14:creationId xmlns:p14="http://schemas.microsoft.com/office/powerpoint/2010/main" val="32221114"/>
      </p:ext>
    </p:extLst>
  </p:cSld>
</p:sld>
</file>

<file path=ppt/slides/slide7.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E2D4B64-F342-40FC-85F5-D224626267E8}"/>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8FC81C-87AD-4929-8764-1DB06D5637FB}"/>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FC918583-1AE1-4D85-A82E-2EA09A12DBA3}"/>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Management commentary becomes evidence only when remembered</a:t>
            </a:r>
          </a:p>
        </p:txBody>
      </p:sp>
      <p:sp>
        <p:nvSpPr>
          <p:cNvPr id="4" name="">
            <a:extLst xmlns:a="http://schemas.openxmlformats.org/drawingml/2006/main">
              <a:ext uri="{FF2B5EF4-FFF2-40B4-BE49-F238E27FC236}">
                <a16:creationId xmlns:a16="http://schemas.microsoft.com/office/drawing/2014/main" id="{15E38983-AE09-41E3-93C9-9C7575455B34}"/>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F2436A89-8691-4199-815F-FAE546B2C851}"/>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3C483F70-48E3-4F36-940A-3D206D33525E}"/>
              </a:ext>
            </a:extLst>
          </p:cNvPr>
          <p:cNvSpPr>
            <a:spLocks xmlns:a="http://schemas.openxmlformats.org/drawingml/2006/main" noGrp="1"/>
          </p:cNvSpPr>
          <p:nvPr/>
        </p:nvSpPr>
        <p:spPr>
          <a:xfrm xmlns:a="http://schemas.openxmlformats.org/drawingml/2006/main">
            <a:off x="533400" y="198120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BD5E1"/>
                </a:solidFill>
                <a:latin typeface="Aptos"/>
                <a:ea typeface="Aptos"/>
                <a:cs typeface="Aptos"/>
              </a:defRPr>
            </a:pPr>
            <a:r>
              <a:rPr sz="1575" b="0">
                <a:solidFill>
                  <a:srgbClr val="CBD5E1"/>
                </a:solidFill>
                <a:latin typeface="Aptos"/>
                <a:ea typeface="Aptos"/>
                <a:cs typeface="Aptos"/>
              </a:rPr>
              <a:t>AlphaSynth separates what management says now from whether earlier measurable commitments were delivered.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23e20f1dd174ed5"/>
          <a:stretch xmlns:a="http://schemas.openxmlformats.org/drawingml/2006/main"/>
        </p:blipFill>
        <p:spPr>
          <a:xfrm xmlns:a="http://schemas.openxmlformats.org/drawingml/2006/main">
            <a:off x="1011574" y="2800350"/>
            <a:ext cx="4377652" cy="6191250"/>
          </a:xfrm>
          <a:prstGeom xmlns:a="http://schemas.openxmlformats.org/drawingml/2006/main" prst="roundRect">
            <a:avLst>
              <a:gd name="adj" fmla="val 2143"/>
            </a:avLst>
          </a:prstGeom>
        </p:spPr>
      </p:pic>
      <p:sp>
        <p:nvSpPr>
          <p:cNvPr id="8" name="">
            <a:extLst xmlns:a="http://schemas.openxmlformats.org/drawingml/2006/main">
              <a:ext uri="{FF2B5EF4-FFF2-40B4-BE49-F238E27FC236}">
                <a16:creationId xmlns:a16="http://schemas.microsoft.com/office/drawing/2014/main" id="{31280767-1870-4A9E-9FA7-E20A17A2E921}"/>
              </a:ext>
            </a:extLst>
          </p:cNvPr>
          <p:cNvSpPr>
            <a:spLocks xmlns:a="http://schemas.openxmlformats.org/drawingml/2006/main" noGrp="1"/>
          </p:cNvSpPr>
          <p:nvPr/>
        </p:nvSpPr>
        <p:spPr>
          <a:xfrm xmlns:a="http://schemas.openxmlformats.org/drawingml/2006/main">
            <a:off x="6334125" y="3000375"/>
            <a:ext cx="457200" cy="4572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D6D4DE6-101F-4CC9-BB18-5CE677094B94}"/>
              </a:ext>
            </a:extLst>
          </p:cNvPr>
          <p:cNvSpPr>
            <a:spLocks xmlns:a="http://schemas.openxmlformats.org/drawingml/2006/main" noGrp="1"/>
          </p:cNvSpPr>
          <p:nvPr/>
        </p:nvSpPr>
        <p:spPr>
          <a:xfrm xmlns:a="http://schemas.openxmlformats.org/drawingml/2006/main">
            <a:off x="6334125" y="3067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0D18"/>
                </a:solidFill>
                <a:latin typeface="Aptos"/>
                <a:ea typeface="Aptos"/>
                <a:cs typeface="Aptos"/>
              </a:defRPr>
            </a:pPr>
            <a:r>
              <a:rPr sz="1200" b="1">
                <a:solidFill>
                  <a:srgbClr val="080D18"/>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9A364325-5D43-4196-8522-901B6B141689}"/>
              </a:ext>
            </a:extLst>
          </p:cNvPr>
          <p:cNvSpPr>
            <a:spLocks xmlns:a="http://schemas.openxmlformats.org/drawingml/2006/main" noGrp="1"/>
          </p:cNvSpPr>
          <p:nvPr/>
        </p:nvSpPr>
        <p:spPr>
          <a:xfrm xmlns:a="http://schemas.openxmlformats.org/drawingml/2006/main">
            <a:off x="7000875" y="29908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Record</a:t>
            </a:r>
          </a:p>
        </p:txBody>
      </p:sp>
      <p:sp>
        <p:nvSpPr>
          <p:cNvPr id="11" name="">
            <a:extLst xmlns:a="http://schemas.openxmlformats.org/drawingml/2006/main">
              <a:ext uri="{FF2B5EF4-FFF2-40B4-BE49-F238E27FC236}">
                <a16:creationId xmlns:a16="http://schemas.microsoft.com/office/drawing/2014/main" id="{4232C173-DC40-4C77-9FB3-70B2637CD77A}"/>
              </a:ext>
            </a:extLst>
          </p:cNvPr>
          <p:cNvSpPr>
            <a:spLocks xmlns:a="http://schemas.openxmlformats.org/drawingml/2006/main" noGrp="1"/>
          </p:cNvSpPr>
          <p:nvPr/>
        </p:nvSpPr>
        <p:spPr>
          <a:xfrm xmlns:a="http://schemas.openxmlformats.org/drawingml/2006/main">
            <a:off x="7000875" y="3343275"/>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Capture a dated, measurable commitment.</a:t>
            </a:r>
          </a:p>
        </p:txBody>
      </p:sp>
      <p:sp>
        <p:nvSpPr>
          <p:cNvPr id="12" name="">
            <a:extLst xmlns:a="http://schemas.openxmlformats.org/drawingml/2006/main">
              <a:ext uri="{FF2B5EF4-FFF2-40B4-BE49-F238E27FC236}">
                <a16:creationId xmlns:a16="http://schemas.microsoft.com/office/drawing/2014/main" id="{14915C80-3C75-4966-BF38-F185C114A4CD}"/>
              </a:ext>
            </a:extLst>
          </p:cNvPr>
          <p:cNvSpPr>
            <a:spLocks xmlns:a="http://schemas.openxmlformats.org/drawingml/2006/main" noGrp="1"/>
          </p:cNvSpPr>
          <p:nvPr/>
        </p:nvSpPr>
        <p:spPr>
          <a:xfrm xmlns:a="http://schemas.openxmlformats.org/drawingml/2006/main">
            <a:off x="6334125" y="4352925"/>
            <a:ext cx="457200" cy="4572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7EC436F-94FF-4060-9B1D-EFAE63645BD4}"/>
              </a:ext>
            </a:extLst>
          </p:cNvPr>
          <p:cNvSpPr>
            <a:spLocks xmlns:a="http://schemas.openxmlformats.org/drawingml/2006/main" noGrp="1"/>
          </p:cNvSpPr>
          <p:nvPr/>
        </p:nvSpPr>
        <p:spPr>
          <a:xfrm xmlns:a="http://schemas.openxmlformats.org/drawingml/2006/main">
            <a:off x="6334125" y="44196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0D18"/>
                </a:solidFill>
                <a:latin typeface="Aptos"/>
                <a:ea typeface="Aptos"/>
                <a:cs typeface="Aptos"/>
              </a:defRPr>
            </a:pPr>
            <a:r>
              <a:rPr sz="1200" b="1">
                <a:solidFill>
                  <a:srgbClr val="080D18"/>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A04D0D51-4609-4CF9-AF8D-E5A38527D9BB}"/>
              </a:ext>
            </a:extLst>
          </p:cNvPr>
          <p:cNvSpPr>
            <a:spLocks xmlns:a="http://schemas.openxmlformats.org/drawingml/2006/main" noGrp="1"/>
          </p:cNvSpPr>
          <p:nvPr/>
        </p:nvSpPr>
        <p:spPr>
          <a:xfrm xmlns:a="http://schemas.openxmlformats.org/drawingml/2006/main">
            <a:off x="7000875" y="43434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Wait</a:t>
            </a:r>
          </a:p>
        </p:txBody>
      </p:sp>
      <p:sp>
        <p:nvSpPr>
          <p:cNvPr id="15" name="">
            <a:extLst xmlns:a="http://schemas.openxmlformats.org/drawingml/2006/main">
              <a:ext uri="{FF2B5EF4-FFF2-40B4-BE49-F238E27FC236}">
                <a16:creationId xmlns:a16="http://schemas.microsoft.com/office/drawing/2014/main" id="{C9AE294D-6EBA-408C-80EE-5F2C3A7D5948}"/>
              </a:ext>
            </a:extLst>
          </p:cNvPr>
          <p:cNvSpPr>
            <a:spLocks xmlns:a="http://schemas.openxmlformats.org/drawingml/2006/main" noGrp="1"/>
          </p:cNvSpPr>
          <p:nvPr/>
        </p:nvSpPr>
        <p:spPr>
          <a:xfrm xmlns:a="http://schemas.openxmlformats.org/drawingml/2006/main">
            <a:off x="7000875" y="4695825"/>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Keep it pending until its target date.</a:t>
            </a:r>
          </a:p>
        </p:txBody>
      </p:sp>
      <p:sp>
        <p:nvSpPr>
          <p:cNvPr id="16" name="">
            <a:extLst xmlns:a="http://schemas.openxmlformats.org/drawingml/2006/main">
              <a:ext uri="{FF2B5EF4-FFF2-40B4-BE49-F238E27FC236}">
                <a16:creationId xmlns:a16="http://schemas.microsoft.com/office/drawing/2014/main" id="{92D6C2CA-105E-4B12-B1E9-46353CAF1929}"/>
              </a:ext>
            </a:extLst>
          </p:cNvPr>
          <p:cNvSpPr>
            <a:spLocks xmlns:a="http://schemas.openxmlformats.org/drawingml/2006/main" noGrp="1"/>
          </p:cNvSpPr>
          <p:nvPr/>
        </p:nvSpPr>
        <p:spPr>
          <a:xfrm xmlns:a="http://schemas.openxmlformats.org/drawingml/2006/main">
            <a:off x="6334125" y="5705475"/>
            <a:ext cx="457200" cy="4572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16C9F8-980D-4CC9-B884-F4978D18AEA0}"/>
              </a:ext>
            </a:extLst>
          </p:cNvPr>
          <p:cNvSpPr>
            <a:spLocks xmlns:a="http://schemas.openxmlformats.org/drawingml/2006/main" noGrp="1"/>
          </p:cNvSpPr>
          <p:nvPr/>
        </p:nvSpPr>
        <p:spPr>
          <a:xfrm xmlns:a="http://schemas.openxmlformats.org/drawingml/2006/main">
            <a:off x="6334125" y="57721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0D18"/>
                </a:solidFill>
                <a:latin typeface="Aptos"/>
                <a:ea typeface="Aptos"/>
                <a:cs typeface="Aptos"/>
              </a:defRPr>
            </a:pPr>
            <a:r>
              <a:rPr sz="1200" b="1">
                <a:solidFill>
                  <a:srgbClr val="080D18"/>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49F612CC-EB76-48BD-80C2-4E97FB55F27A}"/>
              </a:ext>
            </a:extLst>
          </p:cNvPr>
          <p:cNvSpPr>
            <a:spLocks xmlns:a="http://schemas.openxmlformats.org/drawingml/2006/main" noGrp="1"/>
          </p:cNvSpPr>
          <p:nvPr/>
        </p:nvSpPr>
        <p:spPr>
          <a:xfrm xmlns:a="http://schemas.openxmlformats.org/drawingml/2006/main">
            <a:off x="7000875" y="5695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Verify</a:t>
            </a:r>
          </a:p>
        </p:txBody>
      </p:sp>
      <p:sp>
        <p:nvSpPr>
          <p:cNvPr id="19" name="">
            <a:extLst xmlns:a="http://schemas.openxmlformats.org/drawingml/2006/main">
              <a:ext uri="{FF2B5EF4-FFF2-40B4-BE49-F238E27FC236}">
                <a16:creationId xmlns:a16="http://schemas.microsoft.com/office/drawing/2014/main" id="{9A069BB9-B079-40B9-AEF8-DDDDC0636450}"/>
              </a:ext>
            </a:extLst>
          </p:cNvPr>
          <p:cNvSpPr>
            <a:spLocks xmlns:a="http://schemas.openxmlformats.org/drawingml/2006/main" noGrp="1"/>
          </p:cNvSpPr>
          <p:nvPr/>
        </p:nvSpPr>
        <p:spPr>
          <a:xfrm xmlns:a="http://schemas.openxmlformats.org/drawingml/2006/main">
            <a:off x="7000875" y="6048375"/>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Compare the reported outcome and any revisions.</a:t>
            </a:r>
          </a:p>
        </p:txBody>
      </p:sp>
      <p:sp>
        <p:nvSpPr>
          <p:cNvPr id="20" name="">
            <a:extLst xmlns:a="http://schemas.openxmlformats.org/drawingml/2006/main">
              <a:ext uri="{FF2B5EF4-FFF2-40B4-BE49-F238E27FC236}">
                <a16:creationId xmlns:a16="http://schemas.microsoft.com/office/drawing/2014/main" id="{F29FD673-0828-497E-A4A6-2BBD2681C70E}"/>
              </a:ext>
            </a:extLst>
          </p:cNvPr>
          <p:cNvSpPr>
            <a:spLocks xmlns:a="http://schemas.openxmlformats.org/drawingml/2006/main" noGrp="1"/>
          </p:cNvSpPr>
          <p:nvPr/>
        </p:nvSpPr>
        <p:spPr>
          <a:xfrm xmlns:a="http://schemas.openxmlformats.org/drawingml/2006/main">
            <a:off x="6334125" y="7058025"/>
            <a:ext cx="457200" cy="457200"/>
          </a:xfrm>
          <a:prstGeom xmlns:a="http://schemas.openxmlformats.org/drawingml/2006/main" prst="ellipse">
            <a:avLst/>
          </a:prstGeom>
          <a:solidFill xmlns:a="http://schemas.openxmlformats.org/drawingml/2006/main">
            <a:srgbClr val="E3B34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FD13511-4269-4872-9913-847B42F22FD6}"/>
              </a:ext>
            </a:extLst>
          </p:cNvPr>
          <p:cNvSpPr>
            <a:spLocks xmlns:a="http://schemas.openxmlformats.org/drawingml/2006/main" noGrp="1"/>
          </p:cNvSpPr>
          <p:nvPr/>
        </p:nvSpPr>
        <p:spPr>
          <a:xfrm xmlns:a="http://schemas.openxmlformats.org/drawingml/2006/main">
            <a:off x="6334125" y="7124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0D18"/>
                </a:solidFill>
                <a:latin typeface="Aptos"/>
                <a:ea typeface="Aptos"/>
                <a:cs typeface="Aptos"/>
              </a:defRPr>
            </a:pPr>
            <a:r>
              <a:rPr sz="1200" b="1">
                <a:solidFill>
                  <a:srgbClr val="080D18"/>
                </a:solidFill>
                <a:latin typeface="Aptos"/>
                <a:ea typeface="Aptos"/>
                <a:cs typeface="Aptos"/>
              </a:rPr>
              <a:t>4</a:t>
            </a:r>
          </a:p>
        </p:txBody>
      </p:sp>
      <p:sp>
        <p:nvSpPr>
          <p:cNvPr id="22" name="">
            <a:extLst xmlns:a="http://schemas.openxmlformats.org/drawingml/2006/main">
              <a:ext uri="{FF2B5EF4-FFF2-40B4-BE49-F238E27FC236}">
                <a16:creationId xmlns:a16="http://schemas.microsoft.com/office/drawing/2014/main" id="{449174BF-800F-4889-B325-C402D7128517}"/>
              </a:ext>
            </a:extLst>
          </p:cNvPr>
          <p:cNvSpPr>
            <a:spLocks xmlns:a="http://schemas.openxmlformats.org/drawingml/2006/main" noGrp="1"/>
          </p:cNvSpPr>
          <p:nvPr/>
        </p:nvSpPr>
        <p:spPr>
          <a:xfrm xmlns:a="http://schemas.openxmlformats.org/drawingml/2006/main">
            <a:off x="7000875" y="70485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Score</a:t>
            </a:r>
          </a:p>
        </p:txBody>
      </p:sp>
      <p:sp>
        <p:nvSpPr>
          <p:cNvPr id="23" name="">
            <a:extLst xmlns:a="http://schemas.openxmlformats.org/drawingml/2006/main">
              <a:ext uri="{FF2B5EF4-FFF2-40B4-BE49-F238E27FC236}">
                <a16:creationId xmlns:a16="http://schemas.microsoft.com/office/drawing/2014/main" id="{F3F3A97D-4F4A-4ABA-A388-43837B242EF0}"/>
              </a:ext>
            </a:extLst>
          </p:cNvPr>
          <p:cNvSpPr>
            <a:spLocks xmlns:a="http://schemas.openxmlformats.org/drawingml/2006/main" noGrp="1"/>
          </p:cNvSpPr>
          <p:nvPr/>
        </p:nvSpPr>
        <p:spPr>
          <a:xfrm xmlns:a="http://schemas.openxmlformats.org/drawingml/2006/main">
            <a:off x="7000875" y="7400925"/>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Create a reliability band only after enough commitments mature.</a:t>
            </a:r>
          </a:p>
        </p:txBody>
      </p:sp>
      <p:sp>
        <p:nvSpPr>
          <p:cNvPr id="24" name="">
            <a:extLst xmlns:a="http://schemas.openxmlformats.org/drawingml/2006/main">
              <a:ext uri="{FF2B5EF4-FFF2-40B4-BE49-F238E27FC236}">
                <a16:creationId xmlns:a16="http://schemas.microsoft.com/office/drawing/2014/main" id="{26371FF3-3317-445E-91C0-C0396882F9C3}"/>
              </a:ext>
            </a:extLst>
          </p:cNvPr>
          <p:cNvSpPr>
            <a:spLocks xmlns:a="http://schemas.openxmlformats.org/drawingml/2006/main" noGrp="1"/>
          </p:cNvSpPr>
          <p:nvPr/>
        </p:nvSpPr>
        <p:spPr>
          <a:xfrm xmlns:a="http://schemas.openxmlformats.org/drawingml/2006/main">
            <a:off x="6334125" y="85248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3B341"/>
                </a:solidFill>
                <a:latin typeface="Aptos"/>
                <a:ea typeface="Aptos"/>
                <a:cs typeface="Aptos"/>
              </a:defRPr>
            </a:pPr>
            <a:r>
              <a:rPr sz="1350" b="1">
                <a:solidFill>
                  <a:srgbClr val="E3B341"/>
                </a:solidFill>
                <a:latin typeface="Aptos"/>
                <a:ea typeface="Aptos"/>
                <a:cs typeface="Aptos"/>
              </a:rPr>
              <a:t>‘Insufficient history’ is a valid outcome. Unknown never becomes a pass.</a:t>
            </a:r>
          </a:p>
        </p:txBody>
      </p:sp>
    </p:spTree>
    <p:extLst>
      <p:ext uri="{BB962C8B-B14F-4D97-AF65-F5344CB8AC3E}">
        <p14:creationId xmlns:p14="http://schemas.microsoft.com/office/powerpoint/2010/main" val="1554823154"/>
      </p:ext>
    </p:extLst>
  </p:cSld>
</p:sld>
</file>

<file path=ppt/slides/slide8.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CB66CB6-EF45-4FD4-8635-F32C72EAD99F}"/>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6F51E1-A5C2-411B-BE81-DBC8775D5A99}"/>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3E7159BD-D64C-4B0E-A428-9A9CD2C31ADC}"/>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Move from a signal to a full company Deep Dive</a:t>
            </a:r>
          </a:p>
        </p:txBody>
      </p:sp>
      <p:sp>
        <p:nvSpPr>
          <p:cNvPr id="4" name="">
            <a:extLst xmlns:a="http://schemas.openxmlformats.org/drawingml/2006/main">
              <a:ext uri="{FF2B5EF4-FFF2-40B4-BE49-F238E27FC236}">
                <a16:creationId xmlns:a16="http://schemas.microsoft.com/office/drawing/2014/main" id="{7985AD91-969B-487F-893E-3FEA4EEA03E9}"/>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49A576F1-562A-410F-B375-7BBA5021FE83}"/>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0F2A7B18-2CE4-482B-971F-46FDAB4FD3F9}"/>
              </a:ext>
            </a:extLst>
          </p:cNvPr>
          <p:cNvSpPr>
            <a:spLocks xmlns:a="http://schemas.openxmlformats.org/drawingml/2006/main" noGrp="1"/>
          </p:cNvSpPr>
          <p:nvPr/>
        </p:nvSpPr>
        <p:spPr>
          <a:xfrm xmlns:a="http://schemas.openxmlformats.org/drawingml/2006/main">
            <a:off x="533400" y="1971675"/>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BD5E1"/>
                </a:solidFill>
                <a:latin typeface="Aptos"/>
                <a:ea typeface="Aptos"/>
                <a:cs typeface="Aptos"/>
              </a:defRPr>
            </a:pPr>
            <a:r>
              <a:rPr sz="1575" b="0">
                <a:solidFill>
                  <a:srgbClr val="CBD5E1"/>
                </a:solidFill>
                <a:latin typeface="Aptos"/>
                <a:ea typeface="Aptos"/>
                <a:cs typeface="Aptos"/>
              </a:rPr>
              <a:t>The Signal Tracker finds where to look. Deep Dive investigates valuation, sector, earnings, ownership and risks.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46981da2a234fe3"/>
          <a:srcRect xmlns:a="http://schemas.openxmlformats.org/drawingml/2006/main" l="12759" t="0" r="12759" b="0"/>
          <a:stretch xmlns:a="http://schemas.openxmlformats.org/drawingml/2006/main">
            <a:fillRect l="0" t="0" r="0" b="0"/>
          </a:stretch>
        </p:blipFill>
        <p:spPr>
          <a:xfrm xmlns:a="http://schemas.openxmlformats.org/drawingml/2006/main">
            <a:off x="533400" y="2800350"/>
            <a:ext cx="4457700" cy="4762500"/>
          </a:xfrm>
          <a:prstGeom xmlns:a="http://schemas.openxmlformats.org/drawingml/2006/main" prst="roundRect">
            <a:avLst>
              <a:gd name="adj" fmla="val 2564"/>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0fb8dede45a40cd"/>
          <a:srcRect xmlns:a="http://schemas.openxmlformats.org/drawingml/2006/main" l="12759" t="0" r="12759" b="0"/>
          <a:stretch xmlns:a="http://schemas.openxmlformats.org/drawingml/2006/main">
            <a:fillRect l="0" t="0" r="0" b="0"/>
          </a:stretch>
        </p:blipFill>
        <p:spPr>
          <a:xfrm xmlns:a="http://schemas.openxmlformats.org/drawingml/2006/main">
            <a:off x="5295900" y="2800350"/>
            <a:ext cx="4457700" cy="4762500"/>
          </a:xfrm>
          <a:prstGeom xmlns:a="http://schemas.openxmlformats.org/drawingml/2006/main" prst="roundRect">
            <a:avLst>
              <a:gd name="adj" fmla="val 2564"/>
            </a:avLst>
          </a:prstGeom>
        </p:spPr>
      </p:pic>
      <p:sp>
        <p:nvSpPr>
          <p:cNvPr id="9" name="">
            <a:extLst xmlns:a="http://schemas.openxmlformats.org/drawingml/2006/main">
              <a:ext uri="{FF2B5EF4-FFF2-40B4-BE49-F238E27FC236}">
                <a16:creationId xmlns:a16="http://schemas.microsoft.com/office/drawing/2014/main" id="{BE2B0805-538B-4454-BD96-7DC20CE44B43}"/>
              </a:ext>
            </a:extLst>
          </p:cNvPr>
          <p:cNvSpPr>
            <a:spLocks xmlns:a="http://schemas.openxmlformats.org/drawingml/2006/main" noGrp="1"/>
          </p:cNvSpPr>
          <p:nvPr/>
        </p:nvSpPr>
        <p:spPr>
          <a:xfrm xmlns:a="http://schemas.openxmlformats.org/drawingml/2006/main">
            <a:off x="685800" y="78105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E3B341"/>
                </a:solidFill>
                <a:latin typeface="Aptos"/>
                <a:ea typeface="Aptos"/>
                <a:cs typeface="Aptos"/>
              </a:defRPr>
            </a:pPr>
            <a:r>
              <a:rPr sz="1125" b="1">
                <a:solidFill>
                  <a:srgbClr val="E3B341"/>
                </a:solidFill>
                <a:latin typeface="Aptos"/>
                <a:ea typeface="Aptos"/>
                <a:cs typeface="Aptos"/>
              </a:rPr>
              <a:t>1  HANDOFF</a:t>
            </a:r>
          </a:p>
        </p:txBody>
      </p:sp>
      <p:sp>
        <p:nvSpPr>
          <p:cNvPr id="10" name="">
            <a:extLst xmlns:a="http://schemas.openxmlformats.org/drawingml/2006/main">
              <a:ext uri="{FF2B5EF4-FFF2-40B4-BE49-F238E27FC236}">
                <a16:creationId xmlns:a16="http://schemas.microsoft.com/office/drawing/2014/main" id="{CCE416F5-8574-4C52-A706-9B98D79883C9}"/>
              </a:ext>
            </a:extLst>
          </p:cNvPr>
          <p:cNvSpPr>
            <a:spLocks xmlns:a="http://schemas.openxmlformats.org/drawingml/2006/main" noGrp="1"/>
          </p:cNvSpPr>
          <p:nvPr/>
        </p:nvSpPr>
        <p:spPr>
          <a:xfrm xmlns:a="http://schemas.openxmlformats.org/drawingml/2006/main">
            <a:off x="685800" y="8153400"/>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The selected company carries into the research workflow.</a:t>
            </a:r>
          </a:p>
        </p:txBody>
      </p:sp>
      <p:sp>
        <p:nvSpPr>
          <p:cNvPr id="11" name="">
            <a:extLst xmlns:a="http://schemas.openxmlformats.org/drawingml/2006/main">
              <a:ext uri="{FF2B5EF4-FFF2-40B4-BE49-F238E27FC236}">
                <a16:creationId xmlns:a16="http://schemas.microsoft.com/office/drawing/2014/main" id="{E0721883-4315-459D-86FC-78A93FFBDC96}"/>
              </a:ext>
            </a:extLst>
          </p:cNvPr>
          <p:cNvSpPr>
            <a:spLocks xmlns:a="http://schemas.openxmlformats.org/drawingml/2006/main" noGrp="1"/>
          </p:cNvSpPr>
          <p:nvPr/>
        </p:nvSpPr>
        <p:spPr>
          <a:xfrm xmlns:a="http://schemas.openxmlformats.org/drawingml/2006/main">
            <a:off x="5448300" y="78105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2  RESEARCH OUTPUT</a:t>
            </a:r>
          </a:p>
        </p:txBody>
      </p:sp>
      <p:sp>
        <p:nvSpPr>
          <p:cNvPr id="12" name="">
            <a:extLst xmlns:a="http://schemas.openxmlformats.org/drawingml/2006/main">
              <a:ext uri="{FF2B5EF4-FFF2-40B4-BE49-F238E27FC236}">
                <a16:creationId xmlns:a16="http://schemas.microsoft.com/office/drawing/2014/main" id="{6201385A-6E61-489B-B275-8AE633FB3C75}"/>
              </a:ext>
            </a:extLst>
          </p:cNvPr>
          <p:cNvSpPr>
            <a:spLocks xmlns:a="http://schemas.openxmlformats.org/drawingml/2006/main" noGrp="1"/>
          </p:cNvSpPr>
          <p:nvPr/>
        </p:nvSpPr>
        <p:spPr>
          <a:xfrm xmlns:a="http://schemas.openxmlformats.org/drawingml/2006/main">
            <a:off x="5448300" y="81534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A fuller report adds bull and bear cases, valuation context and supporting tables.</a:t>
            </a:r>
          </a:p>
        </p:txBody>
      </p:sp>
      <p:sp>
        <p:nvSpPr>
          <p:cNvPr id="13" name="">
            <a:extLst xmlns:a="http://schemas.openxmlformats.org/drawingml/2006/main">
              <a:ext uri="{FF2B5EF4-FFF2-40B4-BE49-F238E27FC236}">
                <a16:creationId xmlns:a16="http://schemas.microsoft.com/office/drawing/2014/main" id="{5116607A-E73B-41D8-BF13-3E33647F6E51}"/>
              </a:ext>
            </a:extLst>
          </p:cNvPr>
          <p:cNvSpPr>
            <a:spLocks xmlns:a="http://schemas.openxmlformats.org/drawingml/2006/main" noGrp="1"/>
          </p:cNvSpPr>
          <p:nvPr/>
        </p:nvSpPr>
        <p:spPr>
          <a:xfrm xmlns:a="http://schemas.openxmlformats.org/drawingml/2006/main">
            <a:off x="533400" y="9086850"/>
            <a:ext cx="9220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Deep Dive supports a broader on-demand universe, including additional small and mid caps — subject to data availability. Coverage does not imply a BMS lifecycle.</a:t>
            </a:r>
          </a:p>
        </p:txBody>
      </p:sp>
    </p:spTree>
    <p:extLst>
      <p:ext uri="{BB962C8B-B14F-4D97-AF65-F5344CB8AC3E}">
        <p14:creationId xmlns:p14="http://schemas.microsoft.com/office/powerpoint/2010/main" val="371262358"/>
      </p:ext>
    </p:extLst>
  </p:cSld>
</p:sld>
</file>

<file path=ppt/slides/slide9.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2D0B453-07AA-46F8-8BC7-A021B15D3296}"/>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538586-651F-4867-91AC-0D97A4BD96D3}"/>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9C5B2532-5D96-46B7-9FAE-9033602D3C36}"/>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The full report is selective by design</a:t>
            </a:r>
          </a:p>
        </p:txBody>
      </p:sp>
      <p:sp>
        <p:nvSpPr>
          <p:cNvPr id="4" name="">
            <a:extLst xmlns:a="http://schemas.openxmlformats.org/drawingml/2006/main">
              <a:ext uri="{FF2B5EF4-FFF2-40B4-BE49-F238E27FC236}">
                <a16:creationId xmlns:a16="http://schemas.microsoft.com/office/drawing/2014/main" id="{2DA61A7D-DB57-4ACA-BCDF-CCBF1EA2914D}"/>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DEC3D84B-73BF-4CD6-8080-8AA08CA0AFAD}"/>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597C6C2C-52A7-45CC-BECF-A0E129CC7A5D}"/>
              </a:ext>
            </a:extLst>
          </p:cNvPr>
          <p:cNvSpPr>
            <a:spLocks xmlns:a="http://schemas.openxmlformats.org/drawingml/2006/main" noGrp="1"/>
          </p:cNvSpPr>
          <p:nvPr/>
        </p:nvSpPr>
        <p:spPr>
          <a:xfrm xmlns:a="http://schemas.openxmlformats.org/drawingml/2006/main">
            <a:off x="533400" y="198120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BD5E1"/>
                </a:solidFill>
                <a:latin typeface="Aptos"/>
                <a:ea typeface="Aptos"/>
                <a:cs typeface="Aptos"/>
              </a:defRPr>
            </a:pPr>
            <a:r>
              <a:rPr sz="1575" b="0">
                <a:solidFill>
                  <a:srgbClr val="CBD5E1"/>
                </a:solidFill>
                <a:latin typeface="Aptos"/>
                <a:ea typeface="Aptos"/>
                <a:cs typeface="Aptos"/>
              </a:rPr>
              <a:t>On-screen evidence remains available. A downloadable PDF appears only when stricter report-readiness checks pass.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9db5a19f51d4ea6"/>
          <a:stretch xmlns:a="http://schemas.openxmlformats.org/drawingml/2006/main"/>
        </p:blipFill>
        <p:spPr>
          <a:xfrm xmlns:a="http://schemas.openxmlformats.org/drawingml/2006/main">
            <a:off x="530129" y="2914650"/>
            <a:ext cx="2559242" cy="3619500"/>
          </a:xfrm>
          <a:prstGeom xmlns:a="http://schemas.openxmlformats.org/drawingml/2006/main" prst="roundRect">
            <a:avLst>
              <a:gd name="adj" fmla="val 4444"/>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d641fc0752c431b"/>
          <a:stretch xmlns:a="http://schemas.openxmlformats.org/drawingml/2006/main"/>
        </p:blipFill>
        <p:spPr>
          <a:xfrm xmlns:a="http://schemas.openxmlformats.org/drawingml/2006/main">
            <a:off x="3359054" y="2914650"/>
            <a:ext cx="2559242" cy="3619500"/>
          </a:xfrm>
          <a:prstGeom xmlns:a="http://schemas.openxmlformats.org/drawingml/2006/main" prst="roundRect">
            <a:avLst>
              <a:gd name="adj" fmla="val 4444"/>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ec0030c87d44b59"/>
          <a:stretch xmlns:a="http://schemas.openxmlformats.org/drawingml/2006/main"/>
        </p:blipFill>
        <p:spPr>
          <a:xfrm xmlns:a="http://schemas.openxmlformats.org/drawingml/2006/main">
            <a:off x="6187979" y="2914650"/>
            <a:ext cx="2559242" cy="3619500"/>
          </a:xfrm>
          <a:prstGeom xmlns:a="http://schemas.openxmlformats.org/drawingml/2006/main" prst="roundRect">
            <a:avLst>
              <a:gd name="adj" fmla="val 4444"/>
            </a:avLst>
          </a:prstGeom>
        </p:spPr>
      </p:pic>
      <p:sp>
        <p:nvSpPr>
          <p:cNvPr id="10" name="">
            <a:extLst xmlns:a="http://schemas.openxmlformats.org/drawingml/2006/main">
              <a:ext uri="{FF2B5EF4-FFF2-40B4-BE49-F238E27FC236}">
                <a16:creationId xmlns:a16="http://schemas.microsoft.com/office/drawing/2014/main" id="{B9EF0AB1-92EE-40A9-8F14-9B5EA5E198A6}"/>
              </a:ext>
            </a:extLst>
          </p:cNvPr>
          <p:cNvSpPr>
            <a:spLocks xmlns:a="http://schemas.openxmlformats.org/drawingml/2006/main" noGrp="1"/>
          </p:cNvSpPr>
          <p:nvPr/>
        </p:nvSpPr>
        <p:spPr>
          <a:xfrm xmlns:a="http://schemas.openxmlformats.org/drawingml/2006/main">
            <a:off x="523875" y="66675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Company view</a:t>
            </a:r>
          </a:p>
        </p:txBody>
      </p:sp>
      <p:sp>
        <p:nvSpPr>
          <p:cNvPr id="11" name="">
            <a:extLst xmlns:a="http://schemas.openxmlformats.org/drawingml/2006/main">
              <a:ext uri="{FF2B5EF4-FFF2-40B4-BE49-F238E27FC236}">
                <a16:creationId xmlns:a16="http://schemas.microsoft.com/office/drawing/2014/main" id="{17105FAD-99D1-473C-B240-402152F55980}"/>
              </a:ext>
            </a:extLst>
          </p:cNvPr>
          <p:cNvSpPr>
            <a:spLocks xmlns:a="http://schemas.openxmlformats.org/drawingml/2006/main" noGrp="1"/>
          </p:cNvSpPr>
          <p:nvPr/>
        </p:nvSpPr>
        <p:spPr>
          <a:xfrm xmlns:a="http://schemas.openxmlformats.org/drawingml/2006/main">
            <a:off x="3352800" y="66675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Financial evidence</a:t>
            </a:r>
          </a:p>
        </p:txBody>
      </p:sp>
      <p:sp>
        <p:nvSpPr>
          <p:cNvPr id="12" name="">
            <a:extLst xmlns:a="http://schemas.openxmlformats.org/drawingml/2006/main">
              <a:ext uri="{FF2B5EF4-FFF2-40B4-BE49-F238E27FC236}">
                <a16:creationId xmlns:a16="http://schemas.microsoft.com/office/drawing/2014/main" id="{1824DE56-8F34-422A-8F78-C2311D35DD3B}"/>
              </a:ext>
            </a:extLst>
          </p:cNvPr>
          <p:cNvSpPr>
            <a:spLocks xmlns:a="http://schemas.openxmlformats.org/drawingml/2006/main" noGrp="1"/>
          </p:cNvSpPr>
          <p:nvPr/>
        </p:nvSpPr>
        <p:spPr>
          <a:xfrm xmlns:a="http://schemas.openxmlformats.org/drawingml/2006/main">
            <a:off x="6181725" y="66675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Source register</a:t>
            </a:r>
          </a:p>
        </p:txBody>
      </p:sp>
      <p:sp>
        <p:nvSpPr>
          <p:cNvPr id="13" name="">
            <a:extLst xmlns:a="http://schemas.openxmlformats.org/drawingml/2006/main">
              <a:ext uri="{FF2B5EF4-FFF2-40B4-BE49-F238E27FC236}">
                <a16:creationId xmlns:a16="http://schemas.microsoft.com/office/drawing/2014/main" id="{D649FAE3-9E23-4E71-B2E6-1733D1598F8D}"/>
              </a:ext>
            </a:extLst>
          </p:cNvPr>
          <p:cNvSpPr>
            <a:spLocks xmlns:a="http://schemas.openxmlformats.org/drawingml/2006/main" noGrp="1"/>
          </p:cNvSpPr>
          <p:nvPr/>
        </p:nvSpPr>
        <p:spPr>
          <a:xfrm xmlns:a="http://schemas.openxmlformats.org/drawingml/2006/main">
            <a:off x="523875" y="7334250"/>
            <a:ext cx="4048125" cy="1428750"/>
          </a:xfrm>
          <a:prstGeom xmlns:a="http://schemas.openxmlformats.org/drawingml/2006/main" prst="roundRect">
            <a:avLst>
              <a:gd name="adj" fmla="val 9333"/>
            </a:avLst>
          </a:prstGeom>
          <a:solidFill xmlns:a="http://schemas.openxmlformats.org/drawingml/2006/main">
            <a:srgbClr val="121E31"/>
          </a:solidFill>
          <a:ln xmlns:a="http://schemas.openxmlformats.org/drawingml/2006/main" w="9525">
            <a:solidFill>
              <a:srgbClr val="2A3952"/>
            </a:solidFill>
          </a:ln>
        </p:spPr>
      </p:sp>
      <p:sp>
        <p:nvSpPr>
          <p:cNvPr id="14" name="">
            <a:extLst xmlns:a="http://schemas.openxmlformats.org/drawingml/2006/main">
              <a:ext uri="{FF2B5EF4-FFF2-40B4-BE49-F238E27FC236}">
                <a16:creationId xmlns:a16="http://schemas.microsoft.com/office/drawing/2014/main" id="{569B62D6-28C3-4538-8186-AE1BA3704EBB}"/>
              </a:ext>
            </a:extLst>
          </p:cNvPr>
          <p:cNvSpPr>
            <a:spLocks xmlns:a="http://schemas.openxmlformats.org/drawingml/2006/main" noGrp="1"/>
          </p:cNvSpPr>
          <p:nvPr/>
        </p:nvSpPr>
        <p:spPr>
          <a:xfrm xmlns:a="http://schemas.openxmlformats.org/drawingml/2006/main">
            <a:off x="790575" y="75628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2D3C5"/>
                </a:solidFill>
                <a:latin typeface="Aptos"/>
                <a:ea typeface="Aptos"/>
                <a:cs typeface="Aptos"/>
              </a:defRPr>
            </a:pPr>
            <a:r>
              <a:rPr sz="2700" b="1">
                <a:solidFill>
                  <a:srgbClr val="22D3C5"/>
                </a:solidFill>
                <a:latin typeface="Aptos"/>
                <a:ea typeface="Aptos"/>
                <a:cs typeface="Aptos"/>
              </a:rPr>
              <a:t>24 of 25</a:t>
            </a:r>
          </a:p>
        </p:txBody>
      </p:sp>
      <p:sp>
        <p:nvSpPr>
          <p:cNvPr id="15" name="">
            <a:extLst xmlns:a="http://schemas.openxmlformats.org/drawingml/2006/main">
              <a:ext uri="{FF2B5EF4-FFF2-40B4-BE49-F238E27FC236}">
                <a16:creationId xmlns:a16="http://schemas.microsoft.com/office/drawing/2014/main" id="{7E6F390F-F2D2-4162-BC15-46ABBA523098}"/>
              </a:ext>
            </a:extLst>
          </p:cNvPr>
          <p:cNvSpPr>
            <a:spLocks xmlns:a="http://schemas.openxmlformats.org/drawingml/2006/main" noGrp="1"/>
          </p:cNvSpPr>
          <p:nvPr/>
        </p:nvSpPr>
        <p:spPr>
          <a:xfrm xmlns:a="http://schemas.openxmlformats.org/drawingml/2006/main">
            <a:off x="790575" y="8096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Evidence workflows completed in the bounded test.</a:t>
            </a:r>
          </a:p>
        </p:txBody>
      </p:sp>
      <p:sp>
        <p:nvSpPr>
          <p:cNvPr id="16" name="">
            <a:extLst xmlns:a="http://schemas.openxmlformats.org/drawingml/2006/main">
              <a:ext uri="{FF2B5EF4-FFF2-40B4-BE49-F238E27FC236}">
                <a16:creationId xmlns:a16="http://schemas.microsoft.com/office/drawing/2014/main" id="{334A8ADE-27F1-4809-A063-F355A13324B2}"/>
              </a:ext>
            </a:extLst>
          </p:cNvPr>
          <p:cNvSpPr>
            <a:spLocks xmlns:a="http://schemas.openxmlformats.org/drawingml/2006/main" noGrp="1"/>
          </p:cNvSpPr>
          <p:nvPr/>
        </p:nvSpPr>
        <p:spPr>
          <a:xfrm xmlns:a="http://schemas.openxmlformats.org/drawingml/2006/main">
            <a:off x="4933950" y="7334250"/>
            <a:ext cx="4048125" cy="1428750"/>
          </a:xfrm>
          <a:prstGeom xmlns:a="http://schemas.openxmlformats.org/drawingml/2006/main" prst="roundRect">
            <a:avLst>
              <a:gd name="adj" fmla="val 9333"/>
            </a:avLst>
          </a:prstGeom>
          <a:solidFill xmlns:a="http://schemas.openxmlformats.org/drawingml/2006/main">
            <a:srgbClr val="121E31"/>
          </a:solidFill>
          <a:ln xmlns:a="http://schemas.openxmlformats.org/drawingml/2006/main" w="9525">
            <a:solidFill>
              <a:srgbClr val="2A3952"/>
            </a:solidFill>
          </a:ln>
        </p:spPr>
      </p:sp>
      <p:sp>
        <p:nvSpPr>
          <p:cNvPr id="17" name="">
            <a:extLst xmlns:a="http://schemas.openxmlformats.org/drawingml/2006/main">
              <a:ext uri="{FF2B5EF4-FFF2-40B4-BE49-F238E27FC236}">
                <a16:creationId xmlns:a16="http://schemas.microsoft.com/office/drawing/2014/main" id="{630CEF47-1F4C-4068-833A-186F8AF63AE7}"/>
              </a:ext>
            </a:extLst>
          </p:cNvPr>
          <p:cNvSpPr>
            <a:spLocks xmlns:a="http://schemas.openxmlformats.org/drawingml/2006/main" noGrp="1"/>
          </p:cNvSpPr>
          <p:nvPr/>
        </p:nvSpPr>
        <p:spPr>
          <a:xfrm xmlns:a="http://schemas.openxmlformats.org/drawingml/2006/main">
            <a:off x="5200650" y="75628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3B341"/>
                </a:solidFill>
                <a:latin typeface="Aptos"/>
                <a:ea typeface="Aptos"/>
                <a:cs typeface="Aptos"/>
              </a:defRPr>
            </a:pPr>
            <a:r>
              <a:rPr sz="2700" b="1">
                <a:solidFill>
                  <a:srgbClr val="E3B341"/>
                </a:solidFill>
                <a:latin typeface="Aptos"/>
                <a:ea typeface="Aptos"/>
                <a:cs typeface="Aptos"/>
              </a:rPr>
              <a:t>2 of 25</a:t>
            </a:r>
          </a:p>
        </p:txBody>
      </p:sp>
      <p:sp>
        <p:nvSpPr>
          <p:cNvPr id="18" name="">
            <a:extLst xmlns:a="http://schemas.openxmlformats.org/drawingml/2006/main">
              <a:ext uri="{FF2B5EF4-FFF2-40B4-BE49-F238E27FC236}">
                <a16:creationId xmlns:a16="http://schemas.microsoft.com/office/drawing/2014/main" id="{2C4D85E3-B0B8-4E5C-9544-6D422BE86672}"/>
              </a:ext>
            </a:extLst>
          </p:cNvPr>
          <p:cNvSpPr>
            <a:spLocks xmlns:a="http://schemas.openxmlformats.org/drawingml/2006/main" noGrp="1"/>
          </p:cNvSpPr>
          <p:nvPr/>
        </p:nvSpPr>
        <p:spPr>
          <a:xfrm xmlns:a="http://schemas.openxmlformats.org/drawingml/2006/main">
            <a:off x="5200650" y="8096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BD5E1"/>
                </a:solidFill>
                <a:latin typeface="Aptos"/>
                <a:ea typeface="Aptos"/>
                <a:cs typeface="Aptos"/>
              </a:defRPr>
            </a:pPr>
            <a:r>
              <a:rPr sz="1275" b="0">
                <a:solidFill>
                  <a:srgbClr val="CBD5E1"/>
                </a:solidFill>
                <a:latin typeface="Aptos"/>
                <a:ea typeface="Aptos"/>
                <a:cs typeface="Aptos"/>
              </a:rPr>
              <a:t>Met the stricter full-PDF readiness standard.</a:t>
            </a:r>
          </a:p>
        </p:txBody>
      </p:sp>
      <p:sp>
        <p:nvSpPr>
          <p:cNvPr id="19" name="">
            <a:extLst xmlns:a="http://schemas.openxmlformats.org/drawingml/2006/main">
              <a:ext uri="{FF2B5EF4-FFF2-40B4-BE49-F238E27FC236}">
                <a16:creationId xmlns:a16="http://schemas.microsoft.com/office/drawing/2014/main" id="{CDE8DFD9-528F-431C-9649-BFADB1DF4FBB}"/>
              </a:ext>
            </a:extLst>
          </p:cNvPr>
          <p:cNvSpPr>
            <a:spLocks xmlns:a="http://schemas.openxmlformats.org/drawingml/2006/main" noGrp="1"/>
          </p:cNvSpPr>
          <p:nvPr/>
        </p:nvSpPr>
        <p:spPr>
          <a:xfrm xmlns:a="http://schemas.openxmlformats.org/drawingml/2006/main">
            <a:off x="523875" y="9029700"/>
            <a:ext cx="845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3B341"/>
                </a:solidFill>
                <a:latin typeface="Aptos"/>
                <a:ea typeface="Aptos"/>
                <a:cs typeface="Aptos"/>
              </a:defRPr>
            </a:pPr>
            <a:r>
              <a:rPr sz="1350" b="1">
                <a:solidFill>
                  <a:srgbClr val="E3B341"/>
                </a:solidFill>
                <a:latin typeface="Aptos"/>
                <a:ea typeface="Aptos"/>
                <a:cs typeface="Aptos"/>
              </a:rPr>
              <a:t>Coverage evidence — not predictive accuracy.</a:t>
            </a:r>
          </a:p>
        </p:txBody>
      </p:sp>
    </p:spTree>
    <p:extLst>
      <p:ext uri="{BB962C8B-B14F-4D97-AF65-F5344CB8AC3E}">
        <p14:creationId xmlns:p14="http://schemas.microsoft.com/office/powerpoint/2010/main" val="390804667"/>
      </p:ext>
    </p:extLst>
  </p:cSld>
</p:sld>
</file>

<file path=ppt/slides/slide10.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118CC07-4AC4-4D13-B795-0DE39A4A138C}"/>
              </a:ext>
            </a:extLst>
          </p:cNvPr>
          <p:cNvSpPr>
            <a:spLocks xmlns:a="http://schemas.openxmlformats.org/drawingml/2006/main" noGrp="1"/>
          </p:cNvSpPr>
          <p:nvPr/>
        </p:nvSpPr>
        <p:spPr>
          <a:xfrm xmlns:a="http://schemas.openxmlformats.org/drawingml/2006/main">
            <a:off x="533400" y="514350"/>
            <a:ext cx="66675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2419F4-7FE3-45AF-9F79-3AAB1294CC56}"/>
              </a:ext>
            </a:extLst>
          </p:cNvPr>
          <p:cNvSpPr>
            <a:spLocks xmlns:a="http://schemas.openxmlformats.org/drawingml/2006/main" noGrp="1"/>
          </p:cNvSpPr>
          <p:nvPr/>
        </p:nvSpPr>
        <p:spPr>
          <a:xfrm xmlns:a="http://schemas.openxmlformats.org/drawingml/2006/main">
            <a:off x="533400" y="6858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AC443057-9EAE-4382-A4D7-DDD3E631DB2D}"/>
              </a:ext>
            </a:extLst>
          </p:cNvPr>
          <p:cNvSpPr>
            <a:spLocks xmlns:a="http://schemas.openxmlformats.org/drawingml/2006/main" noGrp="1"/>
          </p:cNvSpPr>
          <p:nvPr/>
        </p:nvSpPr>
        <p:spPr>
          <a:xfrm xmlns:a="http://schemas.openxmlformats.org/drawingml/2006/main">
            <a:off x="533400" y="1057275"/>
            <a:ext cx="876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7F9FC"/>
                </a:solidFill>
                <a:latin typeface="Aptos"/>
                <a:ea typeface="Aptos"/>
                <a:cs typeface="Aptos"/>
              </a:defRPr>
            </a:pPr>
            <a:r>
              <a:rPr sz="3150" b="1">
                <a:solidFill>
                  <a:srgbClr val="F7F9FC"/>
                </a:solidFill>
                <a:latin typeface="Aptos"/>
                <a:ea typeface="Aptos"/>
                <a:cs typeface="Aptos"/>
              </a:rPr>
              <a:t>One journey, two depths of research</a:t>
            </a:r>
          </a:p>
        </p:txBody>
      </p:sp>
      <p:sp>
        <p:nvSpPr>
          <p:cNvPr id="4" name="">
            <a:extLst xmlns:a="http://schemas.openxmlformats.org/drawingml/2006/main">
              <a:ext uri="{FF2B5EF4-FFF2-40B4-BE49-F238E27FC236}">
                <a16:creationId xmlns:a16="http://schemas.microsoft.com/office/drawing/2014/main" id="{A5CB467D-4076-46C6-9C91-D3DE9A2098E1}"/>
              </a:ext>
            </a:extLst>
          </p:cNvPr>
          <p:cNvSpPr>
            <a:spLocks xmlns:a="http://schemas.openxmlformats.org/drawingml/2006/main" noGrp="1"/>
          </p:cNvSpPr>
          <p:nvPr/>
        </p:nvSpPr>
        <p:spPr>
          <a:xfrm xmlns:a="http://schemas.openxmlformats.org/drawingml/2006/main">
            <a:off x="9105900" y="95250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FA0B7"/>
                </a:solidFill>
                <a:latin typeface="Aptos"/>
                <a:ea typeface="Aptos"/>
                <a:cs typeface="Aptos"/>
              </a:defRPr>
            </a:pPr>
            <a:r>
              <a:rPr sz="975" b="1">
                <a:solidFill>
                  <a:srgbClr val="8FA0B7"/>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A38912B7-C858-4E44-84C2-2D2C0C7432C6}"/>
              </a:ext>
            </a:extLst>
          </p:cNvPr>
          <p:cNvSpPr>
            <a:spLocks xmlns:a="http://schemas.openxmlformats.org/drawingml/2006/main" noGrp="1"/>
          </p:cNvSpPr>
          <p:nvPr/>
        </p:nvSpPr>
        <p:spPr>
          <a:xfrm xmlns:a="http://schemas.openxmlformats.org/drawingml/2006/main">
            <a:off x="533400" y="95250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FA0B7"/>
                </a:solidFill>
                <a:latin typeface="Aptos"/>
                <a:ea typeface="Aptos"/>
                <a:cs typeface="Aptos"/>
              </a:defRPr>
            </a:pPr>
            <a:r>
              <a:rPr sz="975" b="0">
                <a:solidFill>
                  <a:srgbClr val="8FA0B7"/>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DC9D68A6-D455-4EA1-8E5B-4A1455D1F205}"/>
              </a:ext>
            </a:extLst>
          </p:cNvPr>
          <p:cNvSpPr>
            <a:spLocks xmlns:a="http://schemas.openxmlformats.org/drawingml/2006/main" noGrp="1"/>
          </p:cNvSpPr>
          <p:nvPr/>
        </p:nvSpPr>
        <p:spPr>
          <a:xfrm xmlns:a="http://schemas.openxmlformats.org/drawingml/2006/main">
            <a:off x="533400" y="200025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BD5E1"/>
                </a:solidFill>
                <a:latin typeface="Aptos"/>
                <a:ea typeface="Aptos"/>
                <a:cs typeface="Aptos"/>
              </a:defRPr>
            </a:pPr>
            <a:r>
              <a:rPr sz="1650" b="0">
                <a:solidFill>
                  <a:srgbClr val="CBD5E1"/>
                </a:solidFill>
                <a:latin typeface="Aptos"/>
                <a:ea typeface="Aptos"/>
                <a:cs typeface="Aptos"/>
              </a:rPr>
              <a:t>Use BMS to decide where to look. Use the evidence layer and Deep Dive to decide what deserves further work.</a:t>
            </a:r>
          </a:p>
        </p:txBody>
      </p:sp>
      <p:sp>
        <p:nvSpPr>
          <p:cNvPr id="7" name="">
            <a:extLst xmlns:a="http://schemas.openxmlformats.org/drawingml/2006/main">
              <a:ext uri="{FF2B5EF4-FFF2-40B4-BE49-F238E27FC236}">
                <a16:creationId xmlns:a16="http://schemas.microsoft.com/office/drawing/2014/main" id="{9F334BB8-50AC-4855-9EDE-CB852E27F1AB}"/>
              </a:ext>
            </a:extLst>
          </p:cNvPr>
          <p:cNvSpPr>
            <a:spLocks xmlns:a="http://schemas.openxmlformats.org/drawingml/2006/main" noGrp="1"/>
          </p:cNvSpPr>
          <p:nvPr/>
        </p:nvSpPr>
        <p:spPr>
          <a:xfrm xmlns:a="http://schemas.openxmlformats.org/drawingml/2006/main">
            <a:off x="533400" y="3381375"/>
            <a:ext cx="2038350" cy="2571750"/>
          </a:xfrm>
          <a:prstGeom xmlns:a="http://schemas.openxmlformats.org/drawingml/2006/main" prst="roundRect">
            <a:avLst>
              <a:gd name="adj" fmla="val 7477"/>
            </a:avLst>
          </a:prstGeom>
          <a:solidFill xmlns:a="http://schemas.openxmlformats.org/drawingml/2006/main">
            <a:srgbClr val="121E31"/>
          </a:solidFill>
          <a:ln xmlns:a="http://schemas.openxmlformats.org/drawingml/2006/main" w="9525">
            <a:solidFill>
              <a:srgbClr val="2A3952"/>
            </a:solidFill>
          </a:ln>
        </p:spPr>
      </p:sp>
      <p:sp>
        <p:nvSpPr>
          <p:cNvPr id="8" name="">
            <a:extLst xmlns:a="http://schemas.openxmlformats.org/drawingml/2006/main">
              <a:ext uri="{FF2B5EF4-FFF2-40B4-BE49-F238E27FC236}">
                <a16:creationId xmlns:a16="http://schemas.microsoft.com/office/drawing/2014/main" id="{14C57011-0451-46BB-8B79-9DF984D708BF}"/>
              </a:ext>
            </a:extLst>
          </p:cNvPr>
          <p:cNvSpPr>
            <a:spLocks xmlns:a="http://schemas.openxmlformats.org/drawingml/2006/main" noGrp="1"/>
          </p:cNvSpPr>
          <p:nvPr/>
        </p:nvSpPr>
        <p:spPr>
          <a:xfrm xmlns:a="http://schemas.openxmlformats.org/drawingml/2006/main">
            <a:off x="1257300" y="3638550"/>
            <a:ext cx="590550" cy="59055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15D40A8-6731-4FB5-BFD6-278DB1FF971C}"/>
              </a:ext>
            </a:extLst>
          </p:cNvPr>
          <p:cNvSpPr>
            <a:spLocks xmlns:a="http://schemas.openxmlformats.org/drawingml/2006/main" noGrp="1"/>
          </p:cNvSpPr>
          <p:nvPr/>
        </p:nvSpPr>
        <p:spPr>
          <a:xfrm xmlns:a="http://schemas.openxmlformats.org/drawingml/2006/main">
            <a:off x="1257300" y="37528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0D18"/>
                </a:solidFill>
                <a:latin typeface="Aptos"/>
                <a:ea typeface="Aptos"/>
                <a:cs typeface="Aptos"/>
              </a:defRPr>
            </a:pPr>
            <a:r>
              <a:rPr sz="1425" b="1">
                <a:solidFill>
                  <a:srgbClr val="080D18"/>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5F55E946-5212-41BC-9C4E-51F86925FD68}"/>
              </a:ext>
            </a:extLst>
          </p:cNvPr>
          <p:cNvSpPr>
            <a:spLocks xmlns:a="http://schemas.openxmlformats.org/drawingml/2006/main" noGrp="1"/>
          </p:cNvSpPr>
          <p:nvPr/>
        </p:nvSpPr>
        <p:spPr>
          <a:xfrm xmlns:a="http://schemas.openxmlformats.org/drawingml/2006/main">
            <a:off x="704850" y="4495800"/>
            <a:ext cx="1695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7F9FC"/>
                </a:solidFill>
                <a:latin typeface="Aptos"/>
                <a:ea typeface="Aptos"/>
                <a:cs typeface="Aptos"/>
              </a:defRPr>
            </a:pPr>
            <a:r>
              <a:rPr sz="1425" b="1">
                <a:solidFill>
                  <a:srgbClr val="F7F9FC"/>
                </a:solidFill>
                <a:latin typeface="Aptos"/>
                <a:ea typeface="Aptos"/>
                <a:cs typeface="Aptos"/>
              </a:rPr>
              <a:t>SIGNAL TRACKER</a:t>
            </a:r>
          </a:p>
        </p:txBody>
      </p:sp>
      <p:sp>
        <p:nvSpPr>
          <p:cNvPr id="11" name="">
            <a:extLst xmlns:a="http://schemas.openxmlformats.org/drawingml/2006/main">
              <a:ext uri="{FF2B5EF4-FFF2-40B4-BE49-F238E27FC236}">
                <a16:creationId xmlns:a16="http://schemas.microsoft.com/office/drawing/2014/main" id="{689B25DF-5931-4882-8D96-FEB22A78A4E2}"/>
              </a:ext>
            </a:extLst>
          </p:cNvPr>
          <p:cNvSpPr>
            <a:spLocks xmlns:a="http://schemas.openxmlformats.org/drawingml/2006/main" noGrp="1"/>
          </p:cNvSpPr>
          <p:nvPr/>
        </p:nvSpPr>
        <p:spPr>
          <a:xfrm xmlns:a="http://schemas.openxmlformats.org/drawingml/2006/main">
            <a:off x="704850" y="5143500"/>
            <a:ext cx="1695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477 monitored companies</a:t>
            </a:r>
          </a:p>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Lifecycle + BMS</a:t>
            </a:r>
          </a:p>
        </p:txBody>
      </p:sp>
      <p:sp>
        <p:nvSpPr>
          <p:cNvPr id="12" name="">
            <a:extLst xmlns:a="http://schemas.openxmlformats.org/drawingml/2006/main">
              <a:ext uri="{FF2B5EF4-FFF2-40B4-BE49-F238E27FC236}">
                <a16:creationId xmlns:a16="http://schemas.microsoft.com/office/drawing/2014/main" id="{C6D78551-0481-4590-98C6-FC4BBC20D91B}"/>
              </a:ext>
            </a:extLst>
          </p:cNvPr>
          <p:cNvSpPr>
            <a:spLocks xmlns:a="http://schemas.openxmlformats.org/drawingml/2006/main" noGrp="1"/>
          </p:cNvSpPr>
          <p:nvPr/>
        </p:nvSpPr>
        <p:spPr>
          <a:xfrm xmlns:a="http://schemas.openxmlformats.org/drawingml/2006/main">
            <a:off x="2590800" y="4333875"/>
            <a:ext cx="266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FA0B7"/>
                </a:solidFill>
                <a:latin typeface="Aptos"/>
                <a:ea typeface="Aptos"/>
                <a:cs typeface="Aptos"/>
              </a:defRPr>
            </a:pPr>
            <a:r>
              <a:rPr sz="1800" b="1">
                <a:solidFill>
                  <a:srgbClr val="8FA0B7"/>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722F24F0-22E2-4AE3-906E-66DE8C0FEA29}"/>
              </a:ext>
            </a:extLst>
          </p:cNvPr>
          <p:cNvSpPr>
            <a:spLocks xmlns:a="http://schemas.openxmlformats.org/drawingml/2006/main" noGrp="1"/>
          </p:cNvSpPr>
          <p:nvPr/>
        </p:nvSpPr>
        <p:spPr>
          <a:xfrm xmlns:a="http://schemas.openxmlformats.org/drawingml/2006/main">
            <a:off x="2876550" y="3381375"/>
            <a:ext cx="2038350" cy="2571750"/>
          </a:xfrm>
          <a:prstGeom xmlns:a="http://schemas.openxmlformats.org/drawingml/2006/main" prst="roundRect">
            <a:avLst>
              <a:gd name="adj" fmla="val 7477"/>
            </a:avLst>
          </a:prstGeom>
          <a:solidFill xmlns:a="http://schemas.openxmlformats.org/drawingml/2006/main">
            <a:srgbClr val="121E31"/>
          </a:solidFill>
          <a:ln xmlns:a="http://schemas.openxmlformats.org/drawingml/2006/main" w="9525">
            <a:solidFill>
              <a:srgbClr val="2A3952"/>
            </a:solidFill>
          </a:ln>
        </p:spPr>
      </p:sp>
      <p:sp>
        <p:nvSpPr>
          <p:cNvPr id="14" name="">
            <a:extLst xmlns:a="http://schemas.openxmlformats.org/drawingml/2006/main">
              <a:ext uri="{FF2B5EF4-FFF2-40B4-BE49-F238E27FC236}">
                <a16:creationId xmlns:a16="http://schemas.microsoft.com/office/drawing/2014/main" id="{500F4001-B4C2-41E3-A5CC-F6723C724BE7}"/>
              </a:ext>
            </a:extLst>
          </p:cNvPr>
          <p:cNvSpPr>
            <a:spLocks xmlns:a="http://schemas.openxmlformats.org/drawingml/2006/main" noGrp="1"/>
          </p:cNvSpPr>
          <p:nvPr/>
        </p:nvSpPr>
        <p:spPr>
          <a:xfrm xmlns:a="http://schemas.openxmlformats.org/drawingml/2006/main">
            <a:off x="3600450" y="3638550"/>
            <a:ext cx="590550" cy="59055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BC8DA3-4C7E-4860-9BFC-385A7B511FE7}"/>
              </a:ext>
            </a:extLst>
          </p:cNvPr>
          <p:cNvSpPr>
            <a:spLocks xmlns:a="http://schemas.openxmlformats.org/drawingml/2006/main" noGrp="1"/>
          </p:cNvSpPr>
          <p:nvPr/>
        </p:nvSpPr>
        <p:spPr>
          <a:xfrm xmlns:a="http://schemas.openxmlformats.org/drawingml/2006/main">
            <a:off x="3600450" y="37528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0D18"/>
                </a:solidFill>
                <a:latin typeface="Aptos"/>
                <a:ea typeface="Aptos"/>
                <a:cs typeface="Aptos"/>
              </a:defRPr>
            </a:pPr>
            <a:r>
              <a:rPr sz="1425" b="1">
                <a:solidFill>
                  <a:srgbClr val="080D18"/>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AF047019-04B8-4793-87CE-46162EEC5D95}"/>
              </a:ext>
            </a:extLst>
          </p:cNvPr>
          <p:cNvSpPr>
            <a:spLocks xmlns:a="http://schemas.openxmlformats.org/drawingml/2006/main" noGrp="1"/>
          </p:cNvSpPr>
          <p:nvPr/>
        </p:nvSpPr>
        <p:spPr>
          <a:xfrm xmlns:a="http://schemas.openxmlformats.org/drawingml/2006/main">
            <a:off x="3048000" y="4495800"/>
            <a:ext cx="1695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7F9FC"/>
                </a:solidFill>
                <a:latin typeface="Aptos"/>
                <a:ea typeface="Aptos"/>
                <a:cs typeface="Aptos"/>
              </a:defRPr>
            </a:pPr>
            <a:r>
              <a:rPr sz="1425" b="1">
                <a:solidFill>
                  <a:srgbClr val="F7F9FC"/>
                </a:solidFill>
                <a:latin typeface="Aptos"/>
                <a:ea typeface="Aptos"/>
                <a:cs typeface="Aptos"/>
              </a:rPr>
              <a:t>EVIDENCE REPORT</a:t>
            </a:r>
          </a:p>
        </p:txBody>
      </p:sp>
      <p:sp>
        <p:nvSpPr>
          <p:cNvPr id="17" name="">
            <a:extLst xmlns:a="http://schemas.openxmlformats.org/drawingml/2006/main">
              <a:ext uri="{FF2B5EF4-FFF2-40B4-BE49-F238E27FC236}">
                <a16:creationId xmlns:a16="http://schemas.microsoft.com/office/drawing/2014/main" id="{D6C8F82A-2347-4A9B-BC8B-45CA9816A314}"/>
              </a:ext>
            </a:extLst>
          </p:cNvPr>
          <p:cNvSpPr>
            <a:spLocks xmlns:a="http://schemas.openxmlformats.org/drawingml/2006/main" noGrp="1"/>
          </p:cNvSpPr>
          <p:nvPr/>
        </p:nvSpPr>
        <p:spPr>
          <a:xfrm xmlns:a="http://schemas.openxmlformats.org/drawingml/2006/main">
            <a:off x="3048000" y="5143500"/>
            <a:ext cx="1695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Factors + confidence</a:t>
            </a:r>
          </a:p>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Later-results confirmation</a:t>
            </a:r>
          </a:p>
        </p:txBody>
      </p:sp>
      <p:sp>
        <p:nvSpPr>
          <p:cNvPr id="18" name="">
            <a:extLst xmlns:a="http://schemas.openxmlformats.org/drawingml/2006/main">
              <a:ext uri="{FF2B5EF4-FFF2-40B4-BE49-F238E27FC236}">
                <a16:creationId xmlns:a16="http://schemas.microsoft.com/office/drawing/2014/main" id="{BA9922AF-7418-4814-B69A-2B25261E86F9}"/>
              </a:ext>
            </a:extLst>
          </p:cNvPr>
          <p:cNvSpPr>
            <a:spLocks xmlns:a="http://schemas.openxmlformats.org/drawingml/2006/main" noGrp="1"/>
          </p:cNvSpPr>
          <p:nvPr/>
        </p:nvSpPr>
        <p:spPr>
          <a:xfrm xmlns:a="http://schemas.openxmlformats.org/drawingml/2006/main">
            <a:off x="4933950" y="4333875"/>
            <a:ext cx="266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FA0B7"/>
                </a:solidFill>
                <a:latin typeface="Aptos"/>
                <a:ea typeface="Aptos"/>
                <a:cs typeface="Aptos"/>
              </a:defRPr>
            </a:pPr>
            <a:r>
              <a:rPr sz="1800" b="1">
                <a:solidFill>
                  <a:srgbClr val="8FA0B7"/>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CB8FA144-866E-4982-B012-47316A00B0E2}"/>
              </a:ext>
            </a:extLst>
          </p:cNvPr>
          <p:cNvSpPr>
            <a:spLocks xmlns:a="http://schemas.openxmlformats.org/drawingml/2006/main" noGrp="1"/>
          </p:cNvSpPr>
          <p:nvPr/>
        </p:nvSpPr>
        <p:spPr>
          <a:xfrm xmlns:a="http://schemas.openxmlformats.org/drawingml/2006/main">
            <a:off x="5219700" y="3381375"/>
            <a:ext cx="2038350" cy="2571750"/>
          </a:xfrm>
          <a:prstGeom xmlns:a="http://schemas.openxmlformats.org/drawingml/2006/main" prst="roundRect">
            <a:avLst>
              <a:gd name="adj" fmla="val 7477"/>
            </a:avLst>
          </a:prstGeom>
          <a:solidFill xmlns:a="http://schemas.openxmlformats.org/drawingml/2006/main">
            <a:srgbClr val="121E31"/>
          </a:solidFill>
          <a:ln xmlns:a="http://schemas.openxmlformats.org/drawingml/2006/main" w="9525">
            <a:solidFill>
              <a:srgbClr val="E3B341"/>
            </a:solidFill>
          </a:ln>
        </p:spPr>
      </p:sp>
      <p:sp>
        <p:nvSpPr>
          <p:cNvPr id="20" name="">
            <a:extLst xmlns:a="http://schemas.openxmlformats.org/drawingml/2006/main">
              <a:ext uri="{FF2B5EF4-FFF2-40B4-BE49-F238E27FC236}">
                <a16:creationId xmlns:a16="http://schemas.microsoft.com/office/drawing/2014/main" id="{F9F31CBD-3FBD-4A95-9699-D51B0A23F654}"/>
              </a:ext>
            </a:extLst>
          </p:cNvPr>
          <p:cNvSpPr>
            <a:spLocks xmlns:a="http://schemas.openxmlformats.org/drawingml/2006/main" noGrp="1"/>
          </p:cNvSpPr>
          <p:nvPr/>
        </p:nvSpPr>
        <p:spPr>
          <a:xfrm xmlns:a="http://schemas.openxmlformats.org/drawingml/2006/main">
            <a:off x="5943600" y="3638550"/>
            <a:ext cx="590550" cy="590550"/>
          </a:xfrm>
          <a:prstGeom xmlns:a="http://schemas.openxmlformats.org/drawingml/2006/main" prst="ellipse">
            <a:avLst/>
          </a:prstGeom>
          <a:solidFill xmlns:a="http://schemas.openxmlformats.org/drawingml/2006/main">
            <a:srgbClr val="E3B34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8B8B11B-1BB1-4564-82B3-743AFECD77F8}"/>
              </a:ext>
            </a:extLst>
          </p:cNvPr>
          <p:cNvSpPr>
            <a:spLocks xmlns:a="http://schemas.openxmlformats.org/drawingml/2006/main" noGrp="1"/>
          </p:cNvSpPr>
          <p:nvPr/>
        </p:nvSpPr>
        <p:spPr>
          <a:xfrm xmlns:a="http://schemas.openxmlformats.org/drawingml/2006/main">
            <a:off x="5943600" y="37528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0D18"/>
                </a:solidFill>
                <a:latin typeface="Aptos"/>
                <a:ea typeface="Aptos"/>
                <a:cs typeface="Aptos"/>
              </a:defRPr>
            </a:pPr>
            <a:r>
              <a:rPr sz="1425" b="1">
                <a:solidFill>
                  <a:srgbClr val="080D18"/>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BD1F5357-71A9-48B5-9DC2-AA7B946E6F2B}"/>
              </a:ext>
            </a:extLst>
          </p:cNvPr>
          <p:cNvSpPr>
            <a:spLocks xmlns:a="http://schemas.openxmlformats.org/drawingml/2006/main" noGrp="1"/>
          </p:cNvSpPr>
          <p:nvPr/>
        </p:nvSpPr>
        <p:spPr>
          <a:xfrm xmlns:a="http://schemas.openxmlformats.org/drawingml/2006/main">
            <a:off x="5391150" y="4495800"/>
            <a:ext cx="1695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7F9FC"/>
                </a:solidFill>
                <a:latin typeface="Aptos"/>
                <a:ea typeface="Aptos"/>
                <a:cs typeface="Aptos"/>
              </a:defRPr>
            </a:pPr>
            <a:r>
              <a:rPr sz="1425" b="1">
                <a:solidFill>
                  <a:srgbClr val="F7F9FC"/>
                </a:solidFill>
                <a:latin typeface="Aptos"/>
                <a:ea typeface="Aptos"/>
                <a:cs typeface="Aptos"/>
              </a:rPr>
              <a:t>DEEP DIVE</a:t>
            </a:r>
          </a:p>
        </p:txBody>
      </p:sp>
      <p:sp>
        <p:nvSpPr>
          <p:cNvPr id="23" name="">
            <a:extLst xmlns:a="http://schemas.openxmlformats.org/drawingml/2006/main">
              <a:ext uri="{FF2B5EF4-FFF2-40B4-BE49-F238E27FC236}">
                <a16:creationId xmlns:a16="http://schemas.microsoft.com/office/drawing/2014/main" id="{D4EF7072-5543-4090-8E28-98D00AF6FE97}"/>
              </a:ext>
            </a:extLst>
          </p:cNvPr>
          <p:cNvSpPr>
            <a:spLocks xmlns:a="http://schemas.openxmlformats.org/drawingml/2006/main" noGrp="1"/>
          </p:cNvSpPr>
          <p:nvPr/>
        </p:nvSpPr>
        <p:spPr>
          <a:xfrm xmlns:a="http://schemas.openxmlformats.org/drawingml/2006/main">
            <a:off x="5391150" y="5143500"/>
            <a:ext cx="1695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Broader on-demand universe</a:t>
            </a:r>
          </a:p>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Company + valuation + risks</a:t>
            </a:r>
          </a:p>
        </p:txBody>
      </p:sp>
      <p:sp>
        <p:nvSpPr>
          <p:cNvPr id="24" name="">
            <a:extLst xmlns:a="http://schemas.openxmlformats.org/drawingml/2006/main">
              <a:ext uri="{FF2B5EF4-FFF2-40B4-BE49-F238E27FC236}">
                <a16:creationId xmlns:a16="http://schemas.microsoft.com/office/drawing/2014/main" id="{9AA740D0-AA9E-4D28-93E1-513E4D38B9AF}"/>
              </a:ext>
            </a:extLst>
          </p:cNvPr>
          <p:cNvSpPr>
            <a:spLocks xmlns:a="http://schemas.openxmlformats.org/drawingml/2006/main" noGrp="1"/>
          </p:cNvSpPr>
          <p:nvPr/>
        </p:nvSpPr>
        <p:spPr>
          <a:xfrm xmlns:a="http://schemas.openxmlformats.org/drawingml/2006/main">
            <a:off x="7277100" y="4333875"/>
            <a:ext cx="266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FA0B7"/>
                </a:solidFill>
                <a:latin typeface="Aptos"/>
                <a:ea typeface="Aptos"/>
                <a:cs typeface="Aptos"/>
              </a:defRPr>
            </a:pPr>
            <a:r>
              <a:rPr sz="1800" b="1">
                <a:solidFill>
                  <a:srgbClr val="8FA0B7"/>
                </a:solidFill>
                <a:latin typeface="Aptos"/>
                <a:ea typeface="Aptos"/>
                <a:cs typeface="Aptos"/>
              </a:rPr>
              <a:t>→</a:t>
            </a:r>
          </a:p>
        </p:txBody>
      </p:sp>
      <p:sp>
        <p:nvSpPr>
          <p:cNvPr id="25" name="">
            <a:extLst xmlns:a="http://schemas.openxmlformats.org/drawingml/2006/main">
              <a:ext uri="{FF2B5EF4-FFF2-40B4-BE49-F238E27FC236}">
                <a16:creationId xmlns:a16="http://schemas.microsoft.com/office/drawing/2014/main" id="{3CDBEC85-1665-40DB-A33E-2201C9023604}"/>
              </a:ext>
            </a:extLst>
          </p:cNvPr>
          <p:cNvSpPr>
            <a:spLocks xmlns:a="http://schemas.openxmlformats.org/drawingml/2006/main" noGrp="1"/>
          </p:cNvSpPr>
          <p:nvPr/>
        </p:nvSpPr>
        <p:spPr>
          <a:xfrm xmlns:a="http://schemas.openxmlformats.org/drawingml/2006/main">
            <a:off x="7562850" y="3381375"/>
            <a:ext cx="2038350" cy="2571750"/>
          </a:xfrm>
          <a:prstGeom xmlns:a="http://schemas.openxmlformats.org/drawingml/2006/main" prst="roundRect">
            <a:avLst>
              <a:gd name="adj" fmla="val 7477"/>
            </a:avLst>
          </a:prstGeom>
          <a:solidFill xmlns:a="http://schemas.openxmlformats.org/drawingml/2006/main">
            <a:srgbClr val="121E31"/>
          </a:solidFill>
          <a:ln xmlns:a="http://schemas.openxmlformats.org/drawingml/2006/main" w="9525">
            <a:solidFill>
              <a:srgbClr val="2A3952"/>
            </a:solidFill>
          </a:ln>
        </p:spPr>
      </p:sp>
      <p:sp>
        <p:nvSpPr>
          <p:cNvPr id="26" name="">
            <a:extLst xmlns:a="http://schemas.openxmlformats.org/drawingml/2006/main">
              <a:ext uri="{FF2B5EF4-FFF2-40B4-BE49-F238E27FC236}">
                <a16:creationId xmlns:a16="http://schemas.microsoft.com/office/drawing/2014/main" id="{6F0369EA-77C1-4DE2-81EA-93D210D3488D}"/>
              </a:ext>
            </a:extLst>
          </p:cNvPr>
          <p:cNvSpPr>
            <a:spLocks xmlns:a="http://schemas.openxmlformats.org/drawingml/2006/main" noGrp="1"/>
          </p:cNvSpPr>
          <p:nvPr/>
        </p:nvSpPr>
        <p:spPr>
          <a:xfrm xmlns:a="http://schemas.openxmlformats.org/drawingml/2006/main">
            <a:off x="8286750" y="3638550"/>
            <a:ext cx="590550" cy="59055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601DCDF-4273-4465-8285-22B433A95077}"/>
              </a:ext>
            </a:extLst>
          </p:cNvPr>
          <p:cNvSpPr>
            <a:spLocks xmlns:a="http://schemas.openxmlformats.org/drawingml/2006/main" noGrp="1"/>
          </p:cNvSpPr>
          <p:nvPr/>
        </p:nvSpPr>
        <p:spPr>
          <a:xfrm xmlns:a="http://schemas.openxmlformats.org/drawingml/2006/main">
            <a:off x="8286750" y="37528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0D18"/>
                </a:solidFill>
                <a:latin typeface="Aptos"/>
                <a:ea typeface="Aptos"/>
                <a:cs typeface="Aptos"/>
              </a:defRPr>
            </a:pPr>
            <a:r>
              <a:rPr sz="1425" b="1">
                <a:solidFill>
                  <a:srgbClr val="080D18"/>
                </a:solidFill>
                <a:latin typeface="Aptos"/>
                <a:ea typeface="Aptos"/>
                <a:cs typeface="Aptos"/>
              </a:rPr>
              <a:t>4</a:t>
            </a:r>
          </a:p>
        </p:txBody>
      </p:sp>
      <p:sp>
        <p:nvSpPr>
          <p:cNvPr id="28" name="">
            <a:extLst xmlns:a="http://schemas.openxmlformats.org/drawingml/2006/main">
              <a:ext uri="{FF2B5EF4-FFF2-40B4-BE49-F238E27FC236}">
                <a16:creationId xmlns:a16="http://schemas.microsoft.com/office/drawing/2014/main" id="{8E7F55FA-4B88-4756-9121-9C59F60D6A82}"/>
              </a:ext>
            </a:extLst>
          </p:cNvPr>
          <p:cNvSpPr>
            <a:spLocks xmlns:a="http://schemas.openxmlformats.org/drawingml/2006/main" noGrp="1"/>
          </p:cNvSpPr>
          <p:nvPr/>
        </p:nvSpPr>
        <p:spPr>
          <a:xfrm xmlns:a="http://schemas.openxmlformats.org/drawingml/2006/main">
            <a:off x="7734300" y="4495800"/>
            <a:ext cx="1695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7F9FC"/>
                </a:solidFill>
                <a:latin typeface="Aptos"/>
                <a:ea typeface="Aptos"/>
                <a:cs typeface="Aptos"/>
              </a:defRPr>
            </a:pPr>
            <a:r>
              <a:rPr sz="1425" b="1">
                <a:solidFill>
                  <a:srgbClr val="F7F9FC"/>
                </a:solidFill>
                <a:latin typeface="Aptos"/>
                <a:ea typeface="Aptos"/>
                <a:cs typeface="Aptos"/>
              </a:rPr>
              <a:t>SELECTIVE PDF</a:t>
            </a:r>
          </a:p>
        </p:txBody>
      </p:sp>
      <p:sp>
        <p:nvSpPr>
          <p:cNvPr id="29" name="">
            <a:extLst xmlns:a="http://schemas.openxmlformats.org/drawingml/2006/main">
              <a:ext uri="{FF2B5EF4-FFF2-40B4-BE49-F238E27FC236}">
                <a16:creationId xmlns:a16="http://schemas.microsoft.com/office/drawing/2014/main" id="{0A225654-3146-4335-A10A-0B38C52A48F4}"/>
              </a:ext>
            </a:extLst>
          </p:cNvPr>
          <p:cNvSpPr>
            <a:spLocks xmlns:a="http://schemas.openxmlformats.org/drawingml/2006/main" noGrp="1"/>
          </p:cNvSpPr>
          <p:nvPr/>
        </p:nvSpPr>
        <p:spPr>
          <a:xfrm xmlns:a="http://schemas.openxmlformats.org/drawingml/2006/main">
            <a:off x="7734300" y="5143500"/>
            <a:ext cx="1695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Downloaded only when</a:t>
            </a:r>
          </a:p>
          <a:p xmlns:a="http://schemas.openxmlformats.org/drawingml/2006/main">
            <a:pPr>
              <a:defRPr sz="1200" b="0">
                <a:solidFill>
                  <a:srgbClr val="CBD5E1"/>
                </a:solidFill>
                <a:latin typeface="Aptos"/>
                <a:ea typeface="Aptos"/>
                <a:cs typeface="Aptos"/>
              </a:defRPr>
            </a:pPr>
            <a:r>
              <a:rPr sz="1200" b="0">
                <a:solidFill>
                  <a:srgbClr val="CBD5E1"/>
                </a:solidFill>
                <a:latin typeface="Aptos"/>
                <a:ea typeface="Aptos"/>
                <a:cs typeface="Aptos"/>
              </a:rPr>
              <a:t>report-ready</a:t>
            </a:r>
          </a:p>
        </p:txBody>
      </p:sp>
      <p:sp>
        <p:nvSpPr>
          <p:cNvPr id="30" name="">
            <a:extLst xmlns:a="http://schemas.openxmlformats.org/drawingml/2006/main">
              <a:ext uri="{FF2B5EF4-FFF2-40B4-BE49-F238E27FC236}">
                <a16:creationId xmlns:a16="http://schemas.microsoft.com/office/drawing/2014/main" id="{B30ADB0C-77DA-4F21-BE8F-087E635C2835}"/>
              </a:ext>
            </a:extLst>
          </p:cNvPr>
          <p:cNvSpPr>
            <a:spLocks xmlns:a="http://schemas.openxmlformats.org/drawingml/2006/main" noGrp="1"/>
          </p:cNvSpPr>
          <p:nvPr/>
        </p:nvSpPr>
        <p:spPr>
          <a:xfrm xmlns:a="http://schemas.openxmlformats.org/drawingml/2006/main">
            <a:off x="1200150" y="6819900"/>
            <a:ext cx="7886700" cy="1276350"/>
          </a:xfrm>
          <a:prstGeom xmlns:a="http://schemas.openxmlformats.org/drawingml/2006/main" prst="roundRect">
            <a:avLst>
              <a:gd name="adj" fmla="val 13433"/>
            </a:avLst>
          </a:prstGeom>
          <a:solidFill xmlns:a="http://schemas.openxmlformats.org/drawingml/2006/main">
            <a:srgbClr val="0B2928"/>
          </a:solidFill>
          <a:ln xmlns:a="http://schemas.openxmlformats.org/drawingml/2006/main" w="9525">
            <a:solidFill>
              <a:srgbClr val="22D3C5"/>
            </a:solidFill>
          </a:ln>
        </p:spPr>
      </p:sp>
      <p:sp>
        <p:nvSpPr>
          <p:cNvPr id="31" name="">
            <a:extLst xmlns:a="http://schemas.openxmlformats.org/drawingml/2006/main">
              <a:ext uri="{FF2B5EF4-FFF2-40B4-BE49-F238E27FC236}">
                <a16:creationId xmlns:a16="http://schemas.microsoft.com/office/drawing/2014/main" id="{AFF9774E-56F6-4F52-9461-80F0A702477D}"/>
              </a:ext>
            </a:extLst>
          </p:cNvPr>
          <p:cNvSpPr>
            <a:spLocks xmlns:a="http://schemas.openxmlformats.org/drawingml/2006/main" noGrp="1"/>
          </p:cNvSpPr>
          <p:nvPr/>
        </p:nvSpPr>
        <p:spPr>
          <a:xfrm xmlns:a="http://schemas.openxmlformats.org/drawingml/2006/main">
            <a:off x="1200150" y="7077075"/>
            <a:ext cx="788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2D3C5"/>
                </a:solidFill>
                <a:latin typeface="Aptos"/>
                <a:ea typeface="Aptos"/>
                <a:cs typeface="Aptos"/>
              </a:defRPr>
            </a:pPr>
            <a:r>
              <a:rPr sz="1200" b="1">
                <a:solidFill>
                  <a:srgbClr val="22D3C5"/>
                </a:solidFill>
                <a:latin typeface="Aptos"/>
                <a:ea typeface="Aptos"/>
                <a:cs typeface="Aptos"/>
              </a:rPr>
              <a:t>OPEN THE LIVE PILOT</a:t>
            </a:r>
          </a:p>
        </p:txBody>
      </p:sp>
      <p:sp>
        <p:nvSpPr>
          <p:cNvPr id="32" name="">
            <a:extLst xmlns:a="http://schemas.openxmlformats.org/drawingml/2006/main">
              <a:ext uri="{FF2B5EF4-FFF2-40B4-BE49-F238E27FC236}">
                <a16:creationId xmlns:a16="http://schemas.microsoft.com/office/drawing/2014/main" id="{4DD38FC5-7F11-40F5-981B-50ED76A94B61}"/>
              </a:ext>
            </a:extLst>
          </p:cNvPr>
          <p:cNvSpPr>
            <a:spLocks xmlns:a="http://schemas.openxmlformats.org/drawingml/2006/main" noGrp="1"/>
          </p:cNvSpPr>
          <p:nvPr/>
        </p:nvSpPr>
        <p:spPr>
          <a:xfrm xmlns:a="http://schemas.openxmlformats.org/drawingml/2006/main">
            <a:off x="1390650" y="7534275"/>
            <a:ext cx="7505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7F9FC"/>
                </a:solidFill>
                <a:latin typeface="Aptos"/>
                <a:ea typeface="Aptos"/>
                <a:cs typeface="Aptos"/>
              </a:defRPr>
            </a:pPr>
            <a:r>
              <a:rPr sz="1425" b="1">
                <a:solidFill>
                  <a:srgbClr val="F7F9FC"/>
                </a:solidFill>
                <a:latin typeface="Aptos"/>
                <a:ea typeface="Aptos"/>
                <a:cs typeface="Aptos"/>
              </a:rPr>
              <a:t>expectation-pilot---alphasynth-equity-oqc2y4ogda-uc.a.run.app</a:t>
            </a:r>
          </a:p>
        </p:txBody>
      </p:sp>
      <p:sp>
        <p:nvSpPr>
          <p:cNvPr id="33" name="">
            <a:extLst xmlns:a="http://schemas.openxmlformats.org/drawingml/2006/main">
              <a:ext uri="{FF2B5EF4-FFF2-40B4-BE49-F238E27FC236}">
                <a16:creationId xmlns:a16="http://schemas.microsoft.com/office/drawing/2014/main" id="{7A944314-EECF-43A6-950D-A0A236AC69D1}"/>
              </a:ext>
            </a:extLst>
          </p:cNvPr>
          <p:cNvSpPr>
            <a:spLocks xmlns:a="http://schemas.openxmlformats.org/drawingml/2006/main" noGrp="1"/>
          </p:cNvSpPr>
          <p:nvPr/>
        </p:nvSpPr>
        <p:spPr>
          <a:xfrm xmlns:a="http://schemas.openxmlformats.org/drawingml/2006/main">
            <a:off x="914400" y="8601075"/>
            <a:ext cx="8458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3B341"/>
                </a:solidFill>
                <a:latin typeface="Aptos"/>
                <a:ea typeface="Aptos"/>
                <a:cs typeface="Aptos"/>
              </a:defRPr>
            </a:pPr>
            <a:r>
              <a:rPr sz="1275" b="1">
                <a:solidFill>
                  <a:srgbClr val="E3B341"/>
                </a:solidFill>
                <a:latin typeface="Aptos"/>
                <a:ea typeface="Aptos"/>
                <a:cs typeface="Aptos"/>
              </a:rPr>
              <a:t>Research aid only · no buy/sell recommendation · verify material claims against cited filings</a:t>
            </a:r>
          </a:p>
        </p:txBody>
      </p:sp>
    </p:spTree>
    <p:extLst>
      <p:ext uri="{BB962C8B-B14F-4D97-AF65-F5344CB8AC3E}">
        <p14:creationId xmlns:p14="http://schemas.microsoft.com/office/powerpoint/2010/main" val="13099700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2026-09-15T06:41:27.4720000Z</dcterms:created>
  <dcterms:modified xsi:type="dcterms:W3CDTF">2026-09-15T06:41:27.4720000Z</dcterms:modified>
</coreProperties>
</file>