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857679c45a47ad" /><Relationship Type="http://schemas.openxmlformats.org/officeDocument/2006/relationships/extended-properties" Target="/docProps/app.xml" Id="R0eb8cb5b304045a1" /><Relationship Type="http://schemas.openxmlformats.org/officeDocument/2006/relationships/officeDocument" Target="/ppt/presentation.xml" Id="Ref62d920daa8468f" /></Relationships>
</file>

<file path=ppt/presentation.xml><?xml version="1.0" encoding="utf-8"?>
<p:presentation xmlns:p="http://schemas.openxmlformats.org/presentationml/2006/main">
  <p:sldMasterIdLst>
    <p:sldMasterId xmlns:r="http://schemas.openxmlformats.org/officeDocument/2006/relationships" id="2147483648" r:id="R90301f16a2624526"/>
  </p:sldMasterIdLst>
  <p:notesMasterIdLst>
    <p:notesMasterId xmlns:r="http://schemas.openxmlformats.org/officeDocument/2006/relationships" r:id="R22e5abc18c1b48a0"/>
  </p:notesMasterIdLst>
  <p:sldIdLst>
    <p:sldId xmlns:r="http://schemas.openxmlformats.org/officeDocument/2006/relationships" id="256" r:id="R5fba3e2999b54f29"/>
    <p:sldId xmlns:r="http://schemas.openxmlformats.org/officeDocument/2006/relationships" id="257" r:id="Rfc9c29e2a9da49db"/>
    <p:sldId xmlns:r="http://schemas.openxmlformats.org/officeDocument/2006/relationships" id="258" r:id="Rf2a5dbc0f8724503"/>
    <p:sldId xmlns:r="http://schemas.openxmlformats.org/officeDocument/2006/relationships" id="259" r:id="Rd45c18f74b8144f6"/>
    <p:sldId xmlns:r="http://schemas.openxmlformats.org/officeDocument/2006/relationships" id="260" r:id="R8ecdda21a8ac441b"/>
    <p:sldId xmlns:r="http://schemas.openxmlformats.org/officeDocument/2006/relationships" id="261" r:id="R17a726377d5845ba"/>
    <p:sldId xmlns:r="http://schemas.openxmlformats.org/officeDocument/2006/relationships" id="262" r:id="Rcc3ee3b63fd349fa"/>
    <p:sldId xmlns:r="http://schemas.openxmlformats.org/officeDocument/2006/relationships" id="263" r:id="Rc649f41fdc594f5c"/>
    <p:sldId xmlns:r="http://schemas.openxmlformats.org/officeDocument/2006/relationships" id="264" r:id="Rffec839b30e54fdb"/>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a7194a357741b0" /><Relationship Type="http://schemas.openxmlformats.org/officeDocument/2006/relationships/slideMaster" Target="/ppt/slideMasters/slideMaster1.xml" Id="R90301f16a2624526" /><Relationship Type="http://schemas.openxmlformats.org/officeDocument/2006/relationships/notesMaster" Target="/ppt/notesMasters/notesMaster1.xml" Id="R22e5abc18c1b48a0" /><Relationship Type="http://schemas.openxmlformats.org/officeDocument/2006/relationships/presProps" Target="/ppt/presProps.xml" Id="R7c2564b4ec354dcb" /><Relationship Type="http://schemas.openxmlformats.org/officeDocument/2006/relationships/tableStyles" Target="/ppt/tableStyles.xml" Id="R2e026a605f41404d" /><Relationship Type="http://schemas.openxmlformats.org/officeDocument/2006/relationships/slide" Target="/ppt/slides/slide1.xml" Id="R5fba3e2999b54f29" /><Relationship Type="http://schemas.openxmlformats.org/officeDocument/2006/relationships/slide" Target="/ppt/slides/slide2.xml" Id="Rfc9c29e2a9da49db" /><Relationship Type="http://schemas.openxmlformats.org/officeDocument/2006/relationships/slide" Target="/ppt/slides/slide3.xml" Id="Rf2a5dbc0f8724503" /><Relationship Type="http://schemas.openxmlformats.org/officeDocument/2006/relationships/slide" Target="/ppt/slides/slide4.xml" Id="Rd45c18f74b8144f6" /><Relationship Type="http://schemas.openxmlformats.org/officeDocument/2006/relationships/slide" Target="/ppt/slides/slide5.xml" Id="R8ecdda21a8ac441b" /><Relationship Type="http://schemas.openxmlformats.org/officeDocument/2006/relationships/slide" Target="/ppt/slides/slide6.xml" Id="R17a726377d5845ba" /><Relationship Type="http://schemas.openxmlformats.org/officeDocument/2006/relationships/slide" Target="/ppt/slides/slide7.xml" Id="Rcc3ee3b63fd349fa" /><Relationship Type="http://schemas.openxmlformats.org/officeDocument/2006/relationships/slide" Target="/ppt/slides/slide8.xml" Id="Rc649f41fdc594f5c" /><Relationship Type="http://schemas.openxmlformats.org/officeDocument/2006/relationships/slide" Target="/ppt/slides/slide9.xml" Id="Rffec839b30e54f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f7d8f6c13046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dd316c1dd44ed1" /><Relationship Type="http://schemas.openxmlformats.org/officeDocument/2006/relationships/notesMaster" Target="/ppt/notesMasters/notesMaster1.xml" Id="R68b8ee9a022140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61ef28d4f04125" /><Relationship Type="http://schemas.openxmlformats.org/officeDocument/2006/relationships/notesMaster" Target="/ppt/notesMasters/notesMaster1.xml" Id="Rcd390ad1e2104a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1141e2d8e844fa" /><Relationship Type="http://schemas.openxmlformats.org/officeDocument/2006/relationships/notesMaster" Target="/ppt/notesMasters/notesMaster1.xml" Id="R542cf20ed8ea45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0e205cbfbf4d42" /><Relationship Type="http://schemas.openxmlformats.org/officeDocument/2006/relationships/notesMaster" Target="/ppt/notesMasters/notesMaster1.xml" Id="R7eb622ad414c45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3d08a99e7447f6" /><Relationship Type="http://schemas.openxmlformats.org/officeDocument/2006/relationships/notesMaster" Target="/ppt/notesMasters/notesMaster1.xml" Id="R93ea3bd268c349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1a12f9bd544e45" /><Relationship Type="http://schemas.openxmlformats.org/officeDocument/2006/relationships/notesMaster" Target="/ppt/notesMasters/notesMaster1.xml" Id="Rfc2b700fd41e40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79578585c94995" /><Relationship Type="http://schemas.openxmlformats.org/officeDocument/2006/relationships/notesMaster" Target="/ppt/notesMasters/notesMaster1.xml" Id="Red6d4684ff6544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8dbd69b17c43fb" /><Relationship Type="http://schemas.openxmlformats.org/officeDocument/2006/relationships/notesMaster" Target="/ppt/notesMasters/notesMaster1.xml" Id="R4cc2d4eccb6240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3991d4db40494f" /><Relationship Type="http://schemas.openxmlformats.org/officeDocument/2006/relationships/notesMaster" Target="/ppt/notesMasters/notesMaster1.xml" Id="R91a736c1012d48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highlights where a company's business momentum may be strengthening or weakening and preserves the evidence behind that reading. It helps users decide where deeper research may be worthwhile. It does not predict multibaggers, replace due diligence or recommend trades.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AlphaSynth does not try to duplicate screeners. Its purpose is to organise the harder judgement: whether a change is early, whether it persists, and whether management and measurable outcomes support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BMS uses five factors. Earnings, economics and execution receive twenty-five percent each. Balance sheet receives fifteen percent and management delivery receives ten percent. The score describes direction. Confidence describes how complete and comparable the evidence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adds time to the score. Watch captures early evidence. Emerging marks a new signal. Building and Established require broader persistence. Fading warns that momentum has weakened. The lifecycle is not an investment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AlphaSynth records a lifecycle, it checks later results to see whether the earlier reading still holds. The original lifecycle remains part of the historical record. The new evidence can raise, lower or leave today's research priority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management ledger stores commitments quarter by quarter. A reliability score appears only after at least three commitments mature with verifiable outcomes. Until then, the system says insufficient history rather than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twenty-five-company test measured whether the evidence workflow completed and whether later results could be compared without inventing missing values. Twenty-four companies completed both steps. Two met the stricter full-report standard. These figures measure system coverage and evidence handling. They do not claim that the lifecycle signal predicts returns with ninety-six percent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tracker remains compact. A separate evidence workspace provides the full explanation. Every company can show what is available on screen, while the PDF remains selective. Missing evidence stays visible instead of being filled with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page of the six-page AlphaSynth Professional Dossier sample for Radico Khaitan. It shows the format a user can expect when the available evidence meets the full-report standard. Later pages explain the BMS factors, later-results check, management history and sources. The dossier remains a research aid rather than a trading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7027a1a11543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527494873d44d3" /><Relationship Type="http://schemas.openxmlformats.org/officeDocument/2006/relationships/slideLayout" Target="/ppt/slideLayouts/slideLayout1.xml" Id="R936d2608b4db4f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6d2608b4db4f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9579bb4958407c" /><Relationship Type="http://schemas.openxmlformats.org/officeDocument/2006/relationships/image" Target="/ppt/media/image.png" Id="R9c942650e3f84dfd" /><Relationship Type="http://schemas.openxmlformats.org/officeDocument/2006/relationships/notesSlide" Target="/ppt/notesSlides/notesSlide1.xml" Id="R4652c0f0ac9443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46d570b757433d" /><Relationship Type="http://schemas.openxmlformats.org/officeDocument/2006/relationships/notesSlide" Target="/ppt/notesSlides/notesSlide2.xml" Id="Redc709cfb7bc48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e3b7879f334ad7" /><Relationship Type="http://schemas.openxmlformats.org/officeDocument/2006/relationships/chart" Target="/ppt/slides/charts/chart1.xml" Id="R6156efaab73149b9" /><Relationship Type="http://schemas.openxmlformats.org/officeDocument/2006/relationships/notesSlide" Target="/ppt/notesSlides/notesSlide3.xml" Id="R181e4b946dab41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a3759a028b4ec5" /><Relationship Type="http://schemas.openxmlformats.org/officeDocument/2006/relationships/notesSlide" Target="/ppt/notesSlides/notesSlide4.xml" Id="Rf0d9f980d8d04d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1458f2a70f4c2c" /><Relationship Type="http://schemas.openxmlformats.org/officeDocument/2006/relationships/notesSlide" Target="/ppt/notesSlides/notesSlide5.xml" Id="Rb44d50cba6cc4d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a30dcff60f4513" /><Relationship Type="http://schemas.openxmlformats.org/officeDocument/2006/relationships/notesSlide" Target="/ppt/notesSlides/notesSlide6.xml" Id="R7f6d2ae8d9584a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44109eec334be0" /><Relationship Type="http://schemas.openxmlformats.org/officeDocument/2006/relationships/chart" Target="/ppt/slides/charts/chart2.xml" Id="Rf888219663fe424c" /><Relationship Type="http://schemas.openxmlformats.org/officeDocument/2006/relationships/notesSlide" Target="/ppt/notesSlides/notesSlide7.xml" Id="R2a890b5263594f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dc4127212547c8" /><Relationship Type="http://schemas.openxmlformats.org/officeDocument/2006/relationships/notesSlide" Target="/ppt/notesSlides/notesSlide8.xml" Id="R1a2b9b3478294a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39629310a24a55" /><Relationship Type="http://schemas.openxmlformats.org/officeDocument/2006/relationships/image" Target="/ppt/media/image2.png" Id="R1d8c61b59ff44e3a" /><Relationship Type="http://schemas.openxmlformats.org/officeDocument/2006/relationships/notesSlide" Target="/ppt/notesSlides/notesSlide9.xml" Id="R69d46e6fe70e42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Weight</c:v>
          </c:tx>
          <c:spPr>
            <a:solidFill xmlns:a="http://schemas.openxmlformats.org/drawingml/2006/main">
              <a:srgbClr val="22D3C5"/>
            </a:solidFill>
          </c:spPr>
          <c:cat>
            <c:strRef>
              <c:f>'Chart Data'!$A$2:$A$6</c:f>
              <c:strCache>
                <c:ptCount val="5"/>
                <c:pt idx="0">
                  <c:v>Earnings</c:v>
                </c:pt>
                <c:pt idx="1">
                  <c:v>Economics</c:v>
                </c:pt>
                <c:pt idx="2">
                  <c:v>Execution</c:v>
                </c:pt>
                <c:pt idx="3">
                  <c:v>Balance sheet</c:v>
                </c:pt>
                <c:pt idx="4">
                  <c:v>Management</c:v>
                </c:pt>
              </c:strCache>
            </c:strRef>
          </c:cat>
          <c:val>
            <c:numRef>
              <c:f>'Chart Data'!$B$2:$B$6</c:f>
              <c:numCache>
                <c:formatCode>General</c:formatCode>
                <c:ptCount val="5"/>
                <c:pt idx="0">
                  <c:v>25</c:v>
                </c:pt>
                <c:pt idx="1">
                  <c:v>25</c:v>
                </c:pt>
                <c:pt idx="2">
                  <c:v>25</c:v>
                </c:pt>
                <c:pt idx="3">
                  <c:v>15</c:v>
                </c:pt>
                <c:pt idx="4">
                  <c:v>10</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cohort</c:v>
          </c:tx>
          <c:spPr>
            <a:solidFill xmlns:a="http://schemas.openxmlformats.org/drawingml/2006/main">
              <a:srgbClr val="22D3C5"/>
            </a:solidFill>
          </c:spPr>
          <c:cat>
            <c:strRef>
              <c:f>'Chart Data'!$A$2:$A$4</c:f>
              <c:strCache>
                <c:ptCount val="3"/>
                <c:pt idx="0">
                  <c:v>Evidence process completed</c:v>
                </c:pt>
                <c:pt idx="1">
                  <c:v>Results comparison available</c:v>
                </c:pt>
                <c:pt idx="2">
                  <c:v>Full report standard met</c:v>
                </c:pt>
              </c:strCache>
            </c:strRef>
          </c:cat>
          <c:val>
            <c:numRef>
              <c:f>'Chart Data'!$B$2:$B$4</c:f>
              <c:numCache>
                <c:formatCode>General</c:formatCode>
                <c:ptCount val="3"/>
                <c:pt idx="0">
                  <c:v>96</c:v>
                </c:pt>
                <c:pt idx="1">
                  <c:v>96</c:v>
                </c:pt>
                <c:pt idx="2">
                  <c:v>8</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c942650e3f84dfd"/>
          <a:srcRect xmlns:a="http://schemas.openxmlformats.org/drawingml/2006/main" l="0" t="0" r="0" b="0"/>
          <a:stretch xmlns:a="http://schemas.openxmlformats.org/drawingml/2006/main">
            <a:fillRect l="0" t="0" r="0" b="0"/>
          </a:stretch>
        </p:blipFill>
        <p:spPr>
          <a:xfrm xmlns:a="http://schemas.openxmlformats.org/drawingml/2006/main">
            <a:off x="0" y="0"/>
            <a:ext cx="10287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F6F6DEF-3354-44EF-9800-CB8212CDE75F}"/>
              </a:ext>
            </a:extLst>
          </p:cNvPr>
          <p:cNvSpPr>
            <a:spLocks xmlns:a="http://schemas.openxmlformats.org/drawingml/2006/main" noGrp="1"/>
          </p:cNvSpPr>
          <p:nvPr/>
        </p:nvSpPr>
        <p:spPr>
          <a:xfrm xmlns:a="http://schemas.openxmlformats.org/drawingml/2006/main">
            <a:off x="0" y="0"/>
            <a:ext cx="6667500" cy="10287000"/>
          </a:xfrm>
          <a:prstGeom xmlns:a="http://schemas.openxmlformats.org/drawingml/2006/main" prst="rect">
            <a:avLst/>
          </a:prstGeom>
          <a:solidFill xmlns:a="http://schemas.openxmlformats.org/drawingml/2006/main">
            <a:srgbClr val="08101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7CBB05-3E90-4B97-8D99-3378FB1150D5}"/>
              </a:ext>
            </a:extLst>
          </p:cNvPr>
          <p:cNvSpPr>
            <a:spLocks xmlns:a="http://schemas.openxmlformats.org/drawingml/2006/main" noGrp="1"/>
          </p:cNvSpPr>
          <p:nvPr/>
        </p:nvSpPr>
        <p:spPr>
          <a:xfrm xmlns:a="http://schemas.openxmlformats.org/drawingml/2006/main">
            <a:off x="666750" y="1104900"/>
            <a:ext cx="723900" cy="666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EECF17-E90F-4402-B2D1-A3BA7E29EE78}"/>
              </a:ext>
            </a:extLst>
          </p:cNvPr>
          <p:cNvSpPr>
            <a:spLocks xmlns:a="http://schemas.openxmlformats.org/drawingml/2006/main" noGrp="1"/>
          </p:cNvSpPr>
          <p:nvPr/>
        </p:nvSpPr>
        <p:spPr>
          <a:xfrm xmlns:a="http://schemas.openxmlformats.org/drawingml/2006/main">
            <a:off x="666750" y="1333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ALPHASYNTH INTELLIGENCE</a:t>
            </a:r>
          </a:p>
        </p:txBody>
      </p:sp>
      <p:sp>
        <p:nvSpPr>
          <p:cNvPr id="5" name="">
            <a:extLst xmlns:a="http://schemas.openxmlformats.org/drawingml/2006/main">
              <a:ext uri="{FF2B5EF4-FFF2-40B4-BE49-F238E27FC236}">
                <a16:creationId xmlns:a16="http://schemas.microsoft.com/office/drawing/2014/main" id="{6AF42D4D-8755-4736-BA61-7C78C726EE16}"/>
              </a:ext>
            </a:extLst>
          </p:cNvPr>
          <p:cNvSpPr>
            <a:spLocks xmlns:a="http://schemas.openxmlformats.org/drawingml/2006/main" noGrp="1"/>
          </p:cNvSpPr>
          <p:nvPr/>
        </p:nvSpPr>
        <p:spPr>
          <a:xfrm xmlns:a="http://schemas.openxmlformats.org/drawingml/2006/main">
            <a:off x="666750" y="2266950"/>
            <a:ext cx="5810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7F9FC"/>
                </a:solidFill>
                <a:latin typeface="Aptos"/>
                <a:ea typeface="Aptos"/>
                <a:cs typeface="Aptos"/>
              </a:defRPr>
            </a:pPr>
            <a:r>
              <a:rPr sz="4050" b="1">
                <a:solidFill>
                  <a:srgbClr val="F7F9FC"/>
                </a:solidFill>
                <a:latin typeface="Aptos"/>
                <a:ea typeface="Aptos"/>
                <a:cs typeface="Aptos"/>
              </a:rPr>
              <a:t>Business momentum</a:t>
            </a:r>
          </a:p>
          <a:p xmlns:a="http://schemas.openxmlformats.org/drawingml/2006/main">
            <a:pPr>
              <a:defRPr sz="4050" b="1">
                <a:solidFill>
                  <a:srgbClr val="F7F9FC"/>
                </a:solidFill>
                <a:latin typeface="Aptos"/>
                <a:ea typeface="Aptos"/>
                <a:cs typeface="Aptos"/>
              </a:defRPr>
            </a:pPr>
            <a:r>
              <a:rPr sz="4050" b="1">
                <a:solidFill>
                  <a:srgbClr val="F7F9FC"/>
                </a:solidFill>
                <a:latin typeface="Aptos"/>
                <a:ea typeface="Aptos"/>
                <a:cs typeface="Aptos"/>
              </a:rPr>
              <a:t>with an evidence trail</a:t>
            </a:r>
          </a:p>
        </p:txBody>
      </p:sp>
      <p:sp>
        <p:nvSpPr>
          <p:cNvPr id="6" name="">
            <a:extLst xmlns:a="http://schemas.openxmlformats.org/drawingml/2006/main">
              <a:ext uri="{FF2B5EF4-FFF2-40B4-BE49-F238E27FC236}">
                <a16:creationId xmlns:a16="http://schemas.microsoft.com/office/drawing/2014/main" id="{4E1AA3EB-17D1-4E8A-9B9E-3F89AB921483}"/>
              </a:ext>
            </a:extLst>
          </p:cNvPr>
          <p:cNvSpPr>
            <a:spLocks xmlns:a="http://schemas.openxmlformats.org/drawingml/2006/main" noGrp="1"/>
          </p:cNvSpPr>
          <p:nvPr/>
        </p:nvSpPr>
        <p:spPr>
          <a:xfrm xmlns:a="http://schemas.openxmlformats.org/drawingml/2006/main">
            <a:off x="685800" y="4953000"/>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A research system that detects changes in business momentum and preserves the evidence behind each signal.</a:t>
            </a:r>
          </a:p>
        </p:txBody>
      </p:sp>
      <p:sp>
        <p:nvSpPr>
          <p:cNvPr id="7" name="">
            <a:extLst xmlns:a="http://schemas.openxmlformats.org/drawingml/2006/main">
              <a:ext uri="{FF2B5EF4-FFF2-40B4-BE49-F238E27FC236}">
                <a16:creationId xmlns:a16="http://schemas.microsoft.com/office/drawing/2014/main" id="{934777C8-C82D-4EEA-BB79-8A5D4CC2F0A3}"/>
              </a:ext>
            </a:extLst>
          </p:cNvPr>
          <p:cNvSpPr>
            <a:spLocks xmlns:a="http://schemas.openxmlformats.org/drawingml/2006/main" noGrp="1"/>
          </p:cNvSpPr>
          <p:nvPr/>
        </p:nvSpPr>
        <p:spPr>
          <a:xfrm xmlns:a="http://schemas.openxmlformats.org/drawingml/2006/main">
            <a:off x="685800" y="63817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2D3C5"/>
                </a:solidFill>
                <a:latin typeface="Aptos"/>
                <a:ea typeface="Aptos"/>
                <a:cs typeface="Aptos"/>
              </a:defRPr>
            </a:pPr>
            <a:r>
              <a:rPr sz="1200" b="1">
                <a:solidFill>
                  <a:srgbClr val="22D3C5"/>
                </a:solidFill>
                <a:latin typeface="Aptos"/>
                <a:ea typeface="Aptos"/>
                <a:cs typeface="Aptos"/>
              </a:rPr>
              <a:t>WHAT IT DOES</a:t>
            </a:r>
          </a:p>
        </p:txBody>
      </p:sp>
      <p:sp>
        <p:nvSpPr>
          <p:cNvPr id="8" name="">
            <a:extLst xmlns:a="http://schemas.openxmlformats.org/drawingml/2006/main">
              <a:ext uri="{FF2B5EF4-FFF2-40B4-BE49-F238E27FC236}">
                <a16:creationId xmlns:a16="http://schemas.microsoft.com/office/drawing/2014/main" id="{DAB45341-7989-4819-9C8E-E4D9C36D5F93}"/>
              </a:ext>
            </a:extLst>
          </p:cNvPr>
          <p:cNvSpPr>
            <a:spLocks xmlns:a="http://schemas.openxmlformats.org/drawingml/2006/main" noGrp="1"/>
          </p:cNvSpPr>
          <p:nvPr/>
        </p:nvSpPr>
        <p:spPr>
          <a:xfrm xmlns:a="http://schemas.openxmlformats.org/drawingml/2006/main">
            <a:off x="685800" y="67437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Highlights where company momentum may be strengthening or weakening.</a:t>
            </a:r>
          </a:p>
        </p:txBody>
      </p:sp>
      <p:sp>
        <p:nvSpPr>
          <p:cNvPr id="9" name="">
            <a:extLst xmlns:a="http://schemas.openxmlformats.org/drawingml/2006/main">
              <a:ext uri="{FF2B5EF4-FFF2-40B4-BE49-F238E27FC236}">
                <a16:creationId xmlns:a16="http://schemas.microsoft.com/office/drawing/2014/main" id="{D0AA2F1F-B6A2-4B08-AB9E-19F157FAE404}"/>
              </a:ext>
            </a:extLst>
          </p:cNvPr>
          <p:cNvSpPr>
            <a:spLocks xmlns:a="http://schemas.openxmlformats.org/drawingml/2006/main" noGrp="1"/>
          </p:cNvSpPr>
          <p:nvPr/>
        </p:nvSpPr>
        <p:spPr>
          <a:xfrm xmlns:a="http://schemas.openxmlformats.org/drawingml/2006/main">
            <a:off x="685800" y="7810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WHAT IT DOES NOT CLAIM</a:t>
            </a:r>
          </a:p>
        </p:txBody>
      </p:sp>
      <p:sp>
        <p:nvSpPr>
          <p:cNvPr id="10" name="">
            <a:extLst xmlns:a="http://schemas.openxmlformats.org/drawingml/2006/main">
              <a:ext uri="{FF2B5EF4-FFF2-40B4-BE49-F238E27FC236}">
                <a16:creationId xmlns:a16="http://schemas.microsoft.com/office/drawing/2014/main" id="{CC7ED97C-E840-4F76-BA8A-2CA12E183D44}"/>
              </a:ext>
            </a:extLst>
          </p:cNvPr>
          <p:cNvSpPr>
            <a:spLocks xmlns:a="http://schemas.openxmlformats.org/drawingml/2006/main" noGrp="1"/>
          </p:cNvSpPr>
          <p:nvPr/>
        </p:nvSpPr>
        <p:spPr>
          <a:xfrm xmlns:a="http://schemas.openxmlformats.org/drawingml/2006/main">
            <a:off x="685800" y="8172450"/>
            <a:ext cx="5381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It does not predict multibaggers, replace due diligence or recommend trades.</a:t>
            </a:r>
          </a:p>
        </p:txBody>
      </p:sp>
      <p:sp>
        <p:nvSpPr>
          <p:cNvPr id="11" name="">
            <a:extLst xmlns:a="http://schemas.openxmlformats.org/drawingml/2006/main">
              <a:ext uri="{FF2B5EF4-FFF2-40B4-BE49-F238E27FC236}">
                <a16:creationId xmlns:a16="http://schemas.microsoft.com/office/drawing/2014/main" id="{251DC776-46FF-485B-BD71-98A701FEA85A}"/>
              </a:ext>
            </a:extLst>
          </p:cNvPr>
          <p:cNvSpPr>
            <a:spLocks xmlns:a="http://schemas.openxmlformats.org/drawingml/2006/main" noGrp="1"/>
          </p:cNvSpPr>
          <p:nvPr/>
        </p:nvSpPr>
        <p:spPr>
          <a:xfrm xmlns:a="http://schemas.openxmlformats.org/drawingml/2006/main">
            <a:off x="685800" y="94297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BMS V1</a:t>
            </a:r>
          </a:p>
        </p:txBody>
      </p:sp>
    </p:spTree>
    <p:extLst>
      <p:ext uri="{BB962C8B-B14F-4D97-AF65-F5344CB8AC3E}">
        <p14:creationId xmlns:p14="http://schemas.microsoft.com/office/powerpoint/2010/main" val="392348602"/>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01E2A2-FA85-4E06-AE72-C4AEA3A44C58}"/>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C5F23B-4DB8-47DE-A814-CF6BE9B037C3}"/>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532BCAE2-145D-4731-9B40-CB66905E5436}"/>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Financial data is abundant. Early interpretation remains difficult</a:t>
            </a:r>
          </a:p>
        </p:txBody>
      </p:sp>
      <p:sp>
        <p:nvSpPr>
          <p:cNvPr id="4" name="">
            <a:extLst xmlns:a="http://schemas.openxmlformats.org/drawingml/2006/main">
              <a:ext uri="{FF2B5EF4-FFF2-40B4-BE49-F238E27FC236}">
                <a16:creationId xmlns:a16="http://schemas.microsoft.com/office/drawing/2014/main" id="{9B998372-3542-453F-A2EE-283B95536972}"/>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22383989-4AD5-4CD4-B547-A40DF82540FD}"/>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F38FCDF5-C5ED-4333-9452-F461EC626A6B}"/>
              </a:ext>
            </a:extLst>
          </p:cNvPr>
          <p:cNvSpPr>
            <a:spLocks xmlns:a="http://schemas.openxmlformats.org/drawingml/2006/main" noGrp="1"/>
          </p:cNvSpPr>
          <p:nvPr/>
        </p:nvSpPr>
        <p:spPr>
          <a:xfrm xmlns:a="http://schemas.openxmlformats.org/drawingml/2006/main">
            <a:off x="666750" y="2857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3D4"/>
                </a:solidFill>
                <a:latin typeface="Aptos"/>
                <a:ea typeface="Aptos"/>
                <a:cs typeface="Aptos"/>
              </a:defRPr>
            </a:pPr>
            <a:r>
              <a:rPr sz="2025" b="0">
                <a:solidFill>
                  <a:srgbClr val="B9C3D4"/>
                </a:solidFill>
                <a:latin typeface="Aptos"/>
                <a:ea typeface="Aptos"/>
                <a:cs typeface="Aptos"/>
              </a:rPr>
              <a:t>Revenue, profit and valuation ratios are available on many platforms.</a:t>
            </a:r>
          </a:p>
        </p:txBody>
      </p:sp>
      <p:sp>
        <p:nvSpPr>
          <p:cNvPr id="7" name="">
            <a:extLst xmlns:a="http://schemas.openxmlformats.org/drawingml/2006/main">
              <a:ext uri="{FF2B5EF4-FFF2-40B4-BE49-F238E27FC236}">
                <a16:creationId xmlns:a16="http://schemas.microsoft.com/office/drawing/2014/main" id="{A92ECEDA-A261-4300-B09C-F363F7EB3236}"/>
              </a:ext>
            </a:extLst>
          </p:cNvPr>
          <p:cNvSpPr>
            <a:spLocks xmlns:a="http://schemas.openxmlformats.org/drawingml/2006/main" noGrp="1"/>
          </p:cNvSpPr>
          <p:nvPr/>
        </p:nvSpPr>
        <p:spPr>
          <a:xfrm xmlns:a="http://schemas.openxmlformats.org/drawingml/2006/main">
            <a:off x="666750" y="3905250"/>
            <a:ext cx="78105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6F246E-56FD-432D-85A4-90E0D927BDC8}"/>
              </a:ext>
            </a:extLst>
          </p:cNvPr>
          <p:cNvSpPr>
            <a:spLocks xmlns:a="http://schemas.openxmlformats.org/drawingml/2006/main" noGrp="1"/>
          </p:cNvSpPr>
          <p:nvPr/>
        </p:nvSpPr>
        <p:spPr>
          <a:xfrm xmlns:a="http://schemas.openxmlformats.org/drawingml/2006/main">
            <a:off x="666750" y="43624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8AA3D"/>
                </a:solidFill>
                <a:latin typeface="Aptos"/>
                <a:ea typeface="Aptos"/>
                <a:cs typeface="Aptos"/>
              </a:defRPr>
            </a:pPr>
            <a:r>
              <a:rPr sz="1650" b="1">
                <a:solidFill>
                  <a:srgbClr val="D8AA3D"/>
                </a:solidFill>
                <a:latin typeface="Aptos"/>
                <a:ea typeface="Aptos"/>
                <a:cs typeface="Aptos"/>
              </a:rPr>
              <a:t>The harder questions</a:t>
            </a:r>
          </a:p>
        </p:txBody>
      </p:sp>
      <p:sp>
        <p:nvSpPr>
          <p:cNvPr id="9" name="">
            <a:extLst xmlns:a="http://schemas.openxmlformats.org/drawingml/2006/main">
              <a:ext uri="{FF2B5EF4-FFF2-40B4-BE49-F238E27FC236}">
                <a16:creationId xmlns:a16="http://schemas.microsoft.com/office/drawing/2014/main" id="{0958A53B-B683-4A9F-828A-7979FFCE0BEB}"/>
              </a:ext>
            </a:extLst>
          </p:cNvPr>
          <p:cNvSpPr>
            <a:spLocks xmlns:a="http://schemas.openxmlformats.org/drawingml/2006/main" noGrp="1"/>
          </p:cNvSpPr>
          <p:nvPr/>
        </p:nvSpPr>
        <p:spPr>
          <a:xfrm xmlns:a="http://schemas.openxmlformats.org/drawingml/2006/main">
            <a:off x="666750" y="5143500"/>
            <a:ext cx="8191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the change new or persistent?</a:t>
            </a:r>
          </a:p>
        </p:txBody>
      </p:sp>
      <p:sp>
        <p:nvSpPr>
          <p:cNvPr id="10" name="">
            <a:extLst xmlns:a="http://schemas.openxmlformats.org/drawingml/2006/main">
              <a:ext uri="{FF2B5EF4-FFF2-40B4-BE49-F238E27FC236}">
                <a16:creationId xmlns:a16="http://schemas.microsoft.com/office/drawing/2014/main" id="{D5EC53AE-8D39-4FB2-A20E-DC0FDAD9559F}"/>
              </a:ext>
            </a:extLst>
          </p:cNvPr>
          <p:cNvSpPr>
            <a:spLocks xmlns:a="http://schemas.openxmlformats.org/drawingml/2006/main" noGrp="1"/>
          </p:cNvSpPr>
          <p:nvPr/>
        </p:nvSpPr>
        <p:spPr>
          <a:xfrm xmlns:a="http://schemas.openxmlformats.org/drawingml/2006/main">
            <a:off x="666750" y="6076950"/>
            <a:ext cx="838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Is management delivering what it previously said?</a:t>
            </a:r>
          </a:p>
        </p:txBody>
      </p:sp>
      <p:sp>
        <p:nvSpPr>
          <p:cNvPr id="11" name="">
            <a:extLst xmlns:a="http://schemas.openxmlformats.org/drawingml/2006/main">
              <a:ext uri="{FF2B5EF4-FFF2-40B4-BE49-F238E27FC236}">
                <a16:creationId xmlns:a16="http://schemas.microsoft.com/office/drawing/2014/main" id="{ABD6CD9A-30BD-4C0A-A621-97E19D5B1F46}"/>
              </a:ext>
            </a:extLst>
          </p:cNvPr>
          <p:cNvSpPr>
            <a:spLocks xmlns:a="http://schemas.openxmlformats.org/drawingml/2006/main" noGrp="1"/>
          </p:cNvSpPr>
          <p:nvPr/>
        </p:nvSpPr>
        <p:spPr>
          <a:xfrm xmlns:a="http://schemas.openxmlformats.org/drawingml/2006/main">
            <a:off x="666750" y="701040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9FC"/>
                </a:solidFill>
                <a:latin typeface="Aptos"/>
                <a:ea typeface="Aptos"/>
                <a:cs typeface="Aptos"/>
              </a:defRPr>
            </a:pPr>
            <a:r>
              <a:rPr sz="2550" b="1">
                <a:solidFill>
                  <a:srgbClr val="F7F9FC"/>
                </a:solidFill>
                <a:latin typeface="Aptos"/>
                <a:ea typeface="Aptos"/>
                <a:cs typeface="Aptos"/>
              </a:rPr>
              <a:t>Does the available evidence justify deeper research?</a:t>
            </a:r>
          </a:p>
        </p:txBody>
      </p:sp>
      <p:sp>
        <p:nvSpPr>
          <p:cNvPr id="12" name="">
            <a:extLst xmlns:a="http://schemas.openxmlformats.org/drawingml/2006/main">
              <a:ext uri="{FF2B5EF4-FFF2-40B4-BE49-F238E27FC236}">
                <a16:creationId xmlns:a16="http://schemas.microsoft.com/office/drawing/2014/main" id="{010BAE02-A829-44BE-B80D-F9665599133E}"/>
              </a:ext>
            </a:extLst>
          </p:cNvPr>
          <p:cNvSpPr>
            <a:spLocks xmlns:a="http://schemas.openxmlformats.org/drawingml/2006/main" noGrp="1"/>
          </p:cNvSpPr>
          <p:nvPr/>
        </p:nvSpPr>
        <p:spPr>
          <a:xfrm xmlns:a="http://schemas.openxmlformats.org/drawingml/2006/main">
            <a:off x="666750" y="8229600"/>
            <a:ext cx="828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2D3C5"/>
                </a:solidFill>
                <a:latin typeface="Aptos"/>
                <a:ea typeface="Aptos"/>
                <a:cs typeface="Aptos"/>
              </a:defRPr>
            </a:pPr>
            <a:r>
              <a:rPr sz="1725" b="0">
                <a:solidFill>
                  <a:srgbClr val="22D3C5"/>
                </a:solidFill>
                <a:latin typeface="Aptos"/>
                <a:ea typeface="Aptos"/>
                <a:cs typeface="Aptos"/>
              </a:rPr>
              <a:t>AlphaSynth organises these questions before a user commits time to a full company review.</a:t>
            </a:r>
          </a:p>
        </p:txBody>
      </p:sp>
    </p:spTree>
    <p:extLst>
      <p:ext uri="{BB962C8B-B14F-4D97-AF65-F5344CB8AC3E}">
        <p14:creationId xmlns:p14="http://schemas.microsoft.com/office/powerpoint/2010/main" val="1389508379"/>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EDE3492-F1B3-48CE-A226-24E7D0AECF1B}"/>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A9F631-4A66-4F85-8CB2-94F770FC7BB3}"/>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F684EE12-5E51-4550-B59E-62112F378524}"/>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Business Momentum Score</a:t>
            </a:r>
          </a:p>
        </p:txBody>
      </p:sp>
      <p:sp>
        <p:nvSpPr>
          <p:cNvPr id="4" name="">
            <a:extLst xmlns:a="http://schemas.openxmlformats.org/drawingml/2006/main">
              <a:ext uri="{FF2B5EF4-FFF2-40B4-BE49-F238E27FC236}">
                <a16:creationId xmlns:a16="http://schemas.microsoft.com/office/drawing/2014/main" id="{65F8FE7A-1339-4B61-AF9F-87310ED65922}"/>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73886E30-FA94-4FAC-B162-9F8357F79AA2}"/>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5181DBD3-08BC-49B5-9FC8-4218D3183D1B}"/>
              </a:ext>
            </a:extLst>
          </p:cNvPr>
          <p:cNvSpPr>
            <a:spLocks xmlns:a="http://schemas.openxmlformats.org/drawingml/2006/main" noGrp="1"/>
          </p:cNvSpPr>
          <p:nvPr/>
        </p:nvSpPr>
        <p:spPr>
          <a:xfrm xmlns:a="http://schemas.openxmlformats.org/drawingml/2006/main">
            <a:off x="628650" y="2333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Five evidence categories describe the direction of fundamental change.</a:t>
            </a:r>
          </a:p>
        </p:txBody>
      </p:sp>
      <p:graphicFrame>
        <p:nvGraphicFramePr>
          <p:cNvPr id="29" name="Chart"/>
          <p:cNvGraphicFramePr/>
          <p:nvPr/>
        </p:nvGraphicFramePr>
        <p:xfrm>
          <a:off xmlns:a="http://schemas.openxmlformats.org/drawingml/2006/main" x="619125" y="3143250"/>
          <a:ext xmlns:a="http://schemas.openxmlformats.org/drawingml/2006/main" cx="9048750" cy="3714750"/>
        </p:xfrm>
        <a:graphic xmlns:a="http://schemas.openxmlformats.org/drawingml/2006/main">
          <a:graphicData uri="http://schemas.openxmlformats.org/drawingml/2006/chart">
            <c:chart xmlns:r="http://schemas.openxmlformats.org/officeDocument/2006/relationships" xmlns:c="http://schemas.openxmlformats.org/drawingml/2006/chart" r:id="R6156efaab73149b9"/>
          </a:graphicData>
        </a:graphic>
      </p:graphicFrame>
      <p:sp>
        <p:nvSpPr>
          <p:cNvPr id="8" name="">
            <a:extLst xmlns:a="http://schemas.openxmlformats.org/drawingml/2006/main">
              <a:ext uri="{FF2B5EF4-FFF2-40B4-BE49-F238E27FC236}">
                <a16:creationId xmlns:a16="http://schemas.microsoft.com/office/drawing/2014/main" id="{FAA393AC-6712-423B-8247-2082B5542668}"/>
              </a:ext>
            </a:extLst>
          </p:cNvPr>
          <p:cNvSpPr>
            <a:spLocks xmlns:a="http://schemas.openxmlformats.org/drawingml/2006/main" noGrp="1"/>
          </p:cNvSpPr>
          <p:nvPr/>
        </p:nvSpPr>
        <p:spPr>
          <a:xfrm xmlns:a="http://schemas.openxmlformats.org/drawingml/2006/main">
            <a:off x="12573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9" name="">
            <a:extLst xmlns:a="http://schemas.openxmlformats.org/drawingml/2006/main">
              <a:ext uri="{FF2B5EF4-FFF2-40B4-BE49-F238E27FC236}">
                <a16:creationId xmlns:a16="http://schemas.microsoft.com/office/drawing/2014/main" id="{9020C1D6-75AB-44E7-AE5E-7753ECDAFF17}"/>
              </a:ext>
            </a:extLst>
          </p:cNvPr>
          <p:cNvSpPr>
            <a:spLocks xmlns:a="http://schemas.openxmlformats.org/drawingml/2006/main" noGrp="1"/>
          </p:cNvSpPr>
          <p:nvPr/>
        </p:nvSpPr>
        <p:spPr>
          <a:xfrm xmlns:a="http://schemas.openxmlformats.org/drawingml/2006/main">
            <a:off x="30099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2B7520BC-B1DA-4B3F-96DE-389D3E86A7CD}"/>
              </a:ext>
            </a:extLst>
          </p:cNvPr>
          <p:cNvSpPr>
            <a:spLocks xmlns:a="http://schemas.openxmlformats.org/drawingml/2006/main" noGrp="1"/>
          </p:cNvSpPr>
          <p:nvPr/>
        </p:nvSpPr>
        <p:spPr>
          <a:xfrm xmlns:a="http://schemas.openxmlformats.org/drawingml/2006/main">
            <a:off x="4762500" y="35623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25%</a:t>
            </a:r>
          </a:p>
        </p:txBody>
      </p:sp>
      <p:sp>
        <p:nvSpPr>
          <p:cNvPr id="11" name="">
            <a:extLst xmlns:a="http://schemas.openxmlformats.org/drawingml/2006/main">
              <a:ext uri="{FF2B5EF4-FFF2-40B4-BE49-F238E27FC236}">
                <a16:creationId xmlns:a16="http://schemas.microsoft.com/office/drawing/2014/main" id="{DAECFFE0-FE54-445C-B888-F3805549A33D}"/>
              </a:ext>
            </a:extLst>
          </p:cNvPr>
          <p:cNvSpPr>
            <a:spLocks xmlns:a="http://schemas.openxmlformats.org/drawingml/2006/main" noGrp="1"/>
          </p:cNvSpPr>
          <p:nvPr/>
        </p:nvSpPr>
        <p:spPr>
          <a:xfrm xmlns:a="http://schemas.openxmlformats.org/drawingml/2006/main">
            <a:off x="6515100" y="49339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15%</a:t>
            </a:r>
          </a:p>
        </p:txBody>
      </p:sp>
      <p:sp>
        <p:nvSpPr>
          <p:cNvPr id="12" name="">
            <a:extLst xmlns:a="http://schemas.openxmlformats.org/drawingml/2006/main">
              <a:ext uri="{FF2B5EF4-FFF2-40B4-BE49-F238E27FC236}">
                <a16:creationId xmlns:a16="http://schemas.microsoft.com/office/drawing/2014/main" id="{92B8B853-8197-41A9-A14A-3F7F30763B90}"/>
              </a:ext>
            </a:extLst>
          </p:cNvPr>
          <p:cNvSpPr>
            <a:spLocks xmlns:a="http://schemas.openxmlformats.org/drawingml/2006/main" noGrp="1"/>
          </p:cNvSpPr>
          <p:nvPr/>
        </p:nvSpPr>
        <p:spPr>
          <a:xfrm xmlns:a="http://schemas.openxmlformats.org/drawingml/2006/main">
            <a:off x="8267700" y="54768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F7F9FC"/>
                </a:solidFill>
                <a:latin typeface="Aptos"/>
                <a:ea typeface="Aptos"/>
                <a:cs typeface="Aptos"/>
              </a:defRPr>
            </a:pPr>
            <a:r>
              <a:rPr sz="1200" b="1">
                <a:solidFill>
                  <a:srgbClr val="F7F9FC"/>
                </a:solidFill>
                <a:latin typeface="Aptos"/>
                <a:ea typeface="Aptos"/>
                <a:cs typeface="Aptos"/>
              </a:rPr>
              <a:t>10%</a:t>
            </a:r>
          </a:p>
        </p:txBody>
      </p:sp>
      <p:sp>
        <p:nvSpPr>
          <p:cNvPr id="13" name="">
            <a:extLst xmlns:a="http://schemas.openxmlformats.org/drawingml/2006/main">
              <a:ext uri="{FF2B5EF4-FFF2-40B4-BE49-F238E27FC236}">
                <a16:creationId xmlns:a16="http://schemas.microsoft.com/office/drawing/2014/main" id="{6385C599-0897-4B99-88FE-6889425D81F4}"/>
              </a:ext>
            </a:extLst>
          </p:cNvPr>
          <p:cNvSpPr>
            <a:spLocks xmlns:a="http://schemas.openxmlformats.org/drawingml/2006/main" noGrp="1"/>
          </p:cNvSpPr>
          <p:nvPr/>
        </p:nvSpPr>
        <p:spPr>
          <a:xfrm xmlns:a="http://schemas.openxmlformats.org/drawingml/2006/main">
            <a:off x="819150"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EARNINGS</a:t>
            </a:r>
          </a:p>
        </p:txBody>
      </p:sp>
      <p:sp>
        <p:nvSpPr>
          <p:cNvPr id="14" name="">
            <a:extLst xmlns:a="http://schemas.openxmlformats.org/drawingml/2006/main">
              <a:ext uri="{FF2B5EF4-FFF2-40B4-BE49-F238E27FC236}">
                <a16:creationId xmlns:a16="http://schemas.microsoft.com/office/drawing/2014/main" id="{A0A327EB-614B-4EAE-B925-5397B3DAFC4C}"/>
              </a:ext>
            </a:extLst>
          </p:cNvPr>
          <p:cNvSpPr>
            <a:spLocks xmlns:a="http://schemas.openxmlformats.org/drawingml/2006/main" noGrp="1"/>
          </p:cNvSpPr>
          <p:nvPr/>
        </p:nvSpPr>
        <p:spPr>
          <a:xfrm xmlns:a="http://schemas.openxmlformats.org/drawingml/2006/main">
            <a:off x="25812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ECONOMICS</a:t>
            </a:r>
          </a:p>
        </p:txBody>
      </p:sp>
      <p:sp>
        <p:nvSpPr>
          <p:cNvPr id="15" name="">
            <a:extLst xmlns:a="http://schemas.openxmlformats.org/drawingml/2006/main">
              <a:ext uri="{FF2B5EF4-FFF2-40B4-BE49-F238E27FC236}">
                <a16:creationId xmlns:a16="http://schemas.microsoft.com/office/drawing/2014/main" id="{59228F0B-B60D-4ADE-99C6-AB2508507FD9}"/>
              </a:ext>
            </a:extLst>
          </p:cNvPr>
          <p:cNvSpPr>
            <a:spLocks xmlns:a="http://schemas.openxmlformats.org/drawingml/2006/main" noGrp="1"/>
          </p:cNvSpPr>
          <p:nvPr/>
        </p:nvSpPr>
        <p:spPr>
          <a:xfrm xmlns:a="http://schemas.openxmlformats.org/drawingml/2006/main">
            <a:off x="43338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EXECUTION</a:t>
            </a:r>
          </a:p>
        </p:txBody>
      </p:sp>
      <p:sp>
        <p:nvSpPr>
          <p:cNvPr id="16" name="">
            <a:extLst xmlns:a="http://schemas.openxmlformats.org/drawingml/2006/main">
              <a:ext uri="{FF2B5EF4-FFF2-40B4-BE49-F238E27FC236}">
                <a16:creationId xmlns:a16="http://schemas.microsoft.com/office/drawing/2014/main" id="{7C1F4464-67D4-4C6D-8EBD-0204321C8A68}"/>
              </a:ext>
            </a:extLst>
          </p:cNvPr>
          <p:cNvSpPr>
            <a:spLocks xmlns:a="http://schemas.openxmlformats.org/drawingml/2006/main" noGrp="1"/>
          </p:cNvSpPr>
          <p:nvPr/>
        </p:nvSpPr>
        <p:spPr>
          <a:xfrm xmlns:a="http://schemas.openxmlformats.org/drawingml/2006/main">
            <a:off x="60864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BALANCE SHEET</a:t>
            </a:r>
          </a:p>
        </p:txBody>
      </p:sp>
      <p:sp>
        <p:nvSpPr>
          <p:cNvPr id="17" name="">
            <a:extLst xmlns:a="http://schemas.openxmlformats.org/drawingml/2006/main">
              <a:ext uri="{FF2B5EF4-FFF2-40B4-BE49-F238E27FC236}">
                <a16:creationId xmlns:a16="http://schemas.microsoft.com/office/drawing/2014/main" id="{BD02A630-8425-481C-BEAB-ECEAE65BF32F}"/>
              </a:ext>
            </a:extLst>
          </p:cNvPr>
          <p:cNvSpPr>
            <a:spLocks xmlns:a="http://schemas.openxmlformats.org/drawingml/2006/main" noGrp="1"/>
          </p:cNvSpPr>
          <p:nvPr/>
        </p:nvSpPr>
        <p:spPr>
          <a:xfrm xmlns:a="http://schemas.openxmlformats.org/drawingml/2006/main">
            <a:off x="7839075" y="6667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7F9FC"/>
                </a:solidFill>
                <a:latin typeface="Aptos"/>
                <a:ea typeface="Aptos"/>
                <a:cs typeface="Aptos"/>
              </a:defRPr>
            </a:pPr>
            <a:r>
              <a:rPr sz="1350" b="1">
                <a:solidFill>
                  <a:srgbClr val="F7F9FC"/>
                </a:solidFill>
                <a:latin typeface="Aptos"/>
                <a:ea typeface="Aptos"/>
                <a:cs typeface="Aptos"/>
              </a:rPr>
              <a:t>MANAGEMENT</a:t>
            </a:r>
          </a:p>
        </p:txBody>
      </p:sp>
      <p:sp>
        <p:nvSpPr>
          <p:cNvPr id="18" name="">
            <a:extLst xmlns:a="http://schemas.openxmlformats.org/drawingml/2006/main">
              <a:ext uri="{FF2B5EF4-FFF2-40B4-BE49-F238E27FC236}">
                <a16:creationId xmlns:a16="http://schemas.microsoft.com/office/drawing/2014/main" id="{E69A8ADB-D147-4CBD-84F9-AC9539AC9BC7}"/>
              </a:ext>
            </a:extLst>
          </p:cNvPr>
          <p:cNvSpPr>
            <a:spLocks xmlns:a="http://schemas.openxmlformats.org/drawingml/2006/main" noGrp="1"/>
          </p:cNvSpPr>
          <p:nvPr/>
        </p:nvSpPr>
        <p:spPr>
          <a:xfrm xmlns:a="http://schemas.openxmlformats.org/drawingml/2006/main">
            <a:off x="647700" y="73533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SCORE</a:t>
            </a:r>
          </a:p>
        </p:txBody>
      </p:sp>
      <p:sp>
        <p:nvSpPr>
          <p:cNvPr id="19" name="">
            <a:extLst xmlns:a="http://schemas.openxmlformats.org/drawingml/2006/main">
              <a:ext uri="{FF2B5EF4-FFF2-40B4-BE49-F238E27FC236}">
                <a16:creationId xmlns:a16="http://schemas.microsoft.com/office/drawing/2014/main" id="{28AF6EF4-B01B-47A9-8CE0-CD07FF69CE6E}"/>
              </a:ext>
            </a:extLst>
          </p:cNvPr>
          <p:cNvSpPr>
            <a:spLocks xmlns:a="http://schemas.openxmlformats.org/drawingml/2006/main" noGrp="1"/>
          </p:cNvSpPr>
          <p:nvPr/>
        </p:nvSpPr>
        <p:spPr>
          <a:xfrm xmlns:a="http://schemas.openxmlformats.org/drawingml/2006/main">
            <a:off x="647700" y="76581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Direction and strength of measured change</a:t>
            </a:r>
          </a:p>
        </p:txBody>
      </p:sp>
      <p:sp>
        <p:nvSpPr>
          <p:cNvPr id="20" name="">
            <a:extLst xmlns:a="http://schemas.openxmlformats.org/drawingml/2006/main">
              <a:ext uri="{FF2B5EF4-FFF2-40B4-BE49-F238E27FC236}">
                <a16:creationId xmlns:a16="http://schemas.microsoft.com/office/drawing/2014/main" id="{E476811A-B2BC-48C6-8E04-896A3FB0C70A}"/>
              </a:ext>
            </a:extLst>
          </p:cNvPr>
          <p:cNvSpPr>
            <a:spLocks xmlns:a="http://schemas.openxmlformats.org/drawingml/2006/main" noGrp="1"/>
          </p:cNvSpPr>
          <p:nvPr/>
        </p:nvSpPr>
        <p:spPr>
          <a:xfrm xmlns:a="http://schemas.openxmlformats.org/drawingml/2006/main">
            <a:off x="5334000" y="73533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CONFIDENCE</a:t>
            </a:r>
          </a:p>
        </p:txBody>
      </p:sp>
      <p:sp>
        <p:nvSpPr>
          <p:cNvPr id="21" name="">
            <a:extLst xmlns:a="http://schemas.openxmlformats.org/drawingml/2006/main">
              <a:ext uri="{FF2B5EF4-FFF2-40B4-BE49-F238E27FC236}">
                <a16:creationId xmlns:a16="http://schemas.microsoft.com/office/drawing/2014/main" id="{0FE8D6AF-39F2-4DDF-955D-ED83C0D67279}"/>
              </a:ext>
            </a:extLst>
          </p:cNvPr>
          <p:cNvSpPr>
            <a:spLocks xmlns:a="http://schemas.openxmlformats.org/drawingml/2006/main" noGrp="1"/>
          </p:cNvSpPr>
          <p:nvPr/>
        </p:nvSpPr>
        <p:spPr>
          <a:xfrm xmlns:a="http://schemas.openxmlformats.org/drawingml/2006/main">
            <a:off x="5334000" y="76581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Completeness and comparability of supporting evidence</a:t>
            </a:r>
          </a:p>
        </p:txBody>
      </p:sp>
      <p:sp>
        <p:nvSpPr>
          <p:cNvPr id="22" name="">
            <a:extLst xmlns:a="http://schemas.openxmlformats.org/drawingml/2006/main">
              <a:ext uri="{FF2B5EF4-FFF2-40B4-BE49-F238E27FC236}">
                <a16:creationId xmlns:a16="http://schemas.microsoft.com/office/drawing/2014/main" id="{EE0158B1-5254-42F7-BBA4-60936DFFFF8D}"/>
              </a:ext>
            </a:extLst>
          </p:cNvPr>
          <p:cNvSpPr>
            <a:spLocks xmlns:a="http://schemas.openxmlformats.org/drawingml/2006/main" noGrp="1"/>
          </p:cNvSpPr>
          <p:nvPr/>
        </p:nvSpPr>
        <p:spPr>
          <a:xfrm xmlns:a="http://schemas.openxmlformats.org/drawingml/2006/main">
            <a:off x="647700" y="87630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A high score can still carry medium confidence.</a:t>
            </a:r>
          </a:p>
        </p:txBody>
      </p:sp>
    </p:spTree>
    <p:extLst>
      <p:ext uri="{BB962C8B-B14F-4D97-AF65-F5344CB8AC3E}">
        <p14:creationId xmlns:p14="http://schemas.microsoft.com/office/powerpoint/2010/main" val="1038810096"/>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D91CDC0-773C-4C50-8759-F4F72BC5B201}"/>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DED480-EA04-4B2C-95E5-5CA6FC36E8AC}"/>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35AA2897-2632-4BF7-99BE-E6F65BAD593F}"/>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momentum lifecycle</a:t>
            </a:r>
          </a:p>
        </p:txBody>
      </p:sp>
      <p:sp>
        <p:nvSpPr>
          <p:cNvPr id="4" name="">
            <a:extLst xmlns:a="http://schemas.openxmlformats.org/drawingml/2006/main">
              <a:ext uri="{FF2B5EF4-FFF2-40B4-BE49-F238E27FC236}">
                <a16:creationId xmlns:a16="http://schemas.microsoft.com/office/drawing/2014/main" id="{1D211F87-31B3-4997-9008-23D3BC5CE76F}"/>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2B3FAD3C-F057-4045-B536-BD7EB131EF8D}"/>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7ED2808-C03B-4C23-8DC8-FB89602D01B6}"/>
              </a:ext>
            </a:extLst>
          </p:cNvPr>
          <p:cNvSpPr>
            <a:spLocks xmlns:a="http://schemas.openxmlformats.org/drawingml/2006/main" noGrp="1"/>
          </p:cNvSpPr>
          <p:nvPr/>
        </p:nvSpPr>
        <p:spPr>
          <a:xfrm xmlns:a="http://schemas.openxmlformats.org/drawingml/2006/main">
            <a:off x="628650" y="2333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Successive results determine whether an early change broadens, persists or fades.</a:t>
            </a:r>
          </a:p>
        </p:txBody>
      </p:sp>
      <p:sp>
        <p:nvSpPr>
          <p:cNvPr id="7" name="">
            <a:extLst xmlns:a="http://schemas.openxmlformats.org/drawingml/2006/main">
              <a:ext uri="{FF2B5EF4-FFF2-40B4-BE49-F238E27FC236}">
                <a16:creationId xmlns:a16="http://schemas.microsoft.com/office/drawing/2014/main" id="{7B9487C2-97BD-4002-A1E6-558E9B6CB2FF}"/>
              </a:ext>
            </a:extLst>
          </p:cNvPr>
          <p:cNvSpPr>
            <a:spLocks xmlns:a="http://schemas.openxmlformats.org/drawingml/2006/main" noGrp="1"/>
          </p:cNvSpPr>
          <p:nvPr/>
        </p:nvSpPr>
        <p:spPr>
          <a:xfrm xmlns:a="http://schemas.openxmlformats.org/drawingml/2006/main">
            <a:off x="685800" y="33337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A5FDA0AF-68D8-40E4-BC6D-DD5A8E58F366}"/>
              </a:ext>
            </a:extLst>
          </p:cNvPr>
          <p:cNvSpPr>
            <a:spLocks xmlns:a="http://schemas.openxmlformats.org/drawingml/2006/main" noGrp="1"/>
          </p:cNvSpPr>
          <p:nvPr/>
        </p:nvSpPr>
        <p:spPr>
          <a:xfrm xmlns:a="http://schemas.openxmlformats.org/drawingml/2006/main">
            <a:off x="1428750" y="3333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WATCH</a:t>
            </a:r>
          </a:p>
        </p:txBody>
      </p:sp>
      <p:sp>
        <p:nvSpPr>
          <p:cNvPr id="9" name="">
            <a:extLst xmlns:a="http://schemas.openxmlformats.org/drawingml/2006/main">
              <a:ext uri="{FF2B5EF4-FFF2-40B4-BE49-F238E27FC236}">
                <a16:creationId xmlns:a16="http://schemas.microsoft.com/office/drawing/2014/main" id="{14543FD0-1964-4049-BDCC-BB9E79A49EDB}"/>
              </a:ext>
            </a:extLst>
          </p:cNvPr>
          <p:cNvSpPr>
            <a:spLocks xmlns:a="http://schemas.openxmlformats.org/drawingml/2006/main" noGrp="1"/>
          </p:cNvSpPr>
          <p:nvPr/>
        </p:nvSpPr>
        <p:spPr>
          <a:xfrm xmlns:a="http://schemas.openxmlformats.org/drawingml/2006/main">
            <a:off x="4762500" y="33337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First evidence</a:t>
            </a:r>
          </a:p>
        </p:txBody>
      </p:sp>
      <p:sp>
        <p:nvSpPr>
          <p:cNvPr id="10" name="">
            <a:extLst xmlns:a="http://schemas.openxmlformats.org/drawingml/2006/main">
              <a:ext uri="{FF2B5EF4-FFF2-40B4-BE49-F238E27FC236}">
                <a16:creationId xmlns:a16="http://schemas.microsoft.com/office/drawing/2014/main" id="{D3F77A59-3203-4048-BC3D-2A644F6833FD}"/>
              </a:ext>
            </a:extLst>
          </p:cNvPr>
          <p:cNvSpPr>
            <a:spLocks xmlns:a="http://schemas.openxmlformats.org/drawingml/2006/main" noGrp="1"/>
          </p:cNvSpPr>
          <p:nvPr/>
        </p:nvSpPr>
        <p:spPr>
          <a:xfrm xmlns:a="http://schemas.openxmlformats.org/drawingml/2006/main">
            <a:off x="952500" y="39719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336304-F48E-418F-8B1A-7BEB0D790CE1}"/>
              </a:ext>
            </a:extLst>
          </p:cNvPr>
          <p:cNvSpPr>
            <a:spLocks xmlns:a="http://schemas.openxmlformats.org/drawingml/2006/main" noGrp="1"/>
          </p:cNvSpPr>
          <p:nvPr/>
        </p:nvSpPr>
        <p:spPr>
          <a:xfrm xmlns:a="http://schemas.openxmlformats.org/drawingml/2006/main">
            <a:off x="685800" y="44005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0A45654D-1C4A-46B2-A24C-EAB6C7FAB7E6}"/>
              </a:ext>
            </a:extLst>
          </p:cNvPr>
          <p:cNvSpPr>
            <a:spLocks xmlns:a="http://schemas.openxmlformats.org/drawingml/2006/main" noGrp="1"/>
          </p:cNvSpPr>
          <p:nvPr/>
        </p:nvSpPr>
        <p:spPr>
          <a:xfrm xmlns:a="http://schemas.openxmlformats.org/drawingml/2006/main">
            <a:off x="1428750" y="44005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EMERGING</a:t>
            </a:r>
          </a:p>
        </p:txBody>
      </p:sp>
      <p:sp>
        <p:nvSpPr>
          <p:cNvPr id="13" name="">
            <a:extLst xmlns:a="http://schemas.openxmlformats.org/drawingml/2006/main">
              <a:ext uri="{FF2B5EF4-FFF2-40B4-BE49-F238E27FC236}">
                <a16:creationId xmlns:a16="http://schemas.microsoft.com/office/drawing/2014/main" id="{6A098771-2CE0-4A1E-BA6D-AC11082D96E8}"/>
              </a:ext>
            </a:extLst>
          </p:cNvPr>
          <p:cNvSpPr>
            <a:spLocks xmlns:a="http://schemas.openxmlformats.org/drawingml/2006/main" noGrp="1"/>
          </p:cNvSpPr>
          <p:nvPr/>
        </p:nvSpPr>
        <p:spPr>
          <a:xfrm xmlns:a="http://schemas.openxmlformats.org/drawingml/2006/main">
            <a:off x="4762500" y="44005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New signal</a:t>
            </a:r>
          </a:p>
        </p:txBody>
      </p:sp>
      <p:sp>
        <p:nvSpPr>
          <p:cNvPr id="14" name="">
            <a:extLst xmlns:a="http://schemas.openxmlformats.org/drawingml/2006/main">
              <a:ext uri="{FF2B5EF4-FFF2-40B4-BE49-F238E27FC236}">
                <a16:creationId xmlns:a16="http://schemas.microsoft.com/office/drawing/2014/main" id="{044B91D8-7F9A-4968-8E1E-D6F7109D64DB}"/>
              </a:ext>
            </a:extLst>
          </p:cNvPr>
          <p:cNvSpPr>
            <a:spLocks xmlns:a="http://schemas.openxmlformats.org/drawingml/2006/main" noGrp="1"/>
          </p:cNvSpPr>
          <p:nvPr/>
        </p:nvSpPr>
        <p:spPr>
          <a:xfrm xmlns:a="http://schemas.openxmlformats.org/drawingml/2006/main">
            <a:off x="952500" y="50387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83ED79-48A0-4E8C-A03C-67400E9F00A5}"/>
              </a:ext>
            </a:extLst>
          </p:cNvPr>
          <p:cNvSpPr>
            <a:spLocks xmlns:a="http://schemas.openxmlformats.org/drawingml/2006/main" noGrp="1"/>
          </p:cNvSpPr>
          <p:nvPr/>
        </p:nvSpPr>
        <p:spPr>
          <a:xfrm xmlns:a="http://schemas.openxmlformats.org/drawingml/2006/main">
            <a:off x="685800" y="54673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53F5D77B-7F0C-44FC-BA16-657B64E0111F}"/>
              </a:ext>
            </a:extLst>
          </p:cNvPr>
          <p:cNvSpPr>
            <a:spLocks xmlns:a="http://schemas.openxmlformats.org/drawingml/2006/main" noGrp="1"/>
          </p:cNvSpPr>
          <p:nvPr/>
        </p:nvSpPr>
        <p:spPr>
          <a:xfrm xmlns:a="http://schemas.openxmlformats.org/drawingml/2006/main">
            <a:off x="1428750" y="54673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BUILDING</a:t>
            </a:r>
          </a:p>
        </p:txBody>
      </p:sp>
      <p:sp>
        <p:nvSpPr>
          <p:cNvPr id="17" name="">
            <a:extLst xmlns:a="http://schemas.openxmlformats.org/drawingml/2006/main">
              <a:ext uri="{FF2B5EF4-FFF2-40B4-BE49-F238E27FC236}">
                <a16:creationId xmlns:a16="http://schemas.microsoft.com/office/drawing/2014/main" id="{81C56220-912E-4E84-89F9-569EAA39FB1E}"/>
              </a:ext>
            </a:extLst>
          </p:cNvPr>
          <p:cNvSpPr>
            <a:spLocks xmlns:a="http://schemas.openxmlformats.org/drawingml/2006/main" noGrp="1"/>
          </p:cNvSpPr>
          <p:nvPr/>
        </p:nvSpPr>
        <p:spPr>
          <a:xfrm xmlns:a="http://schemas.openxmlformats.org/drawingml/2006/main">
            <a:off x="4762500" y="54673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Broader confirmation</a:t>
            </a:r>
          </a:p>
        </p:txBody>
      </p:sp>
      <p:sp>
        <p:nvSpPr>
          <p:cNvPr id="18" name="">
            <a:extLst xmlns:a="http://schemas.openxmlformats.org/drawingml/2006/main">
              <a:ext uri="{FF2B5EF4-FFF2-40B4-BE49-F238E27FC236}">
                <a16:creationId xmlns:a16="http://schemas.microsoft.com/office/drawing/2014/main" id="{7CF78656-E0D3-41FB-A5EB-F3FAFA1C96D6}"/>
              </a:ext>
            </a:extLst>
          </p:cNvPr>
          <p:cNvSpPr>
            <a:spLocks xmlns:a="http://schemas.openxmlformats.org/drawingml/2006/main" noGrp="1"/>
          </p:cNvSpPr>
          <p:nvPr/>
        </p:nvSpPr>
        <p:spPr>
          <a:xfrm xmlns:a="http://schemas.openxmlformats.org/drawingml/2006/main">
            <a:off x="952500" y="61055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EAE1644-3030-4EFA-911F-96BF358C3D8A}"/>
              </a:ext>
            </a:extLst>
          </p:cNvPr>
          <p:cNvSpPr>
            <a:spLocks xmlns:a="http://schemas.openxmlformats.org/drawingml/2006/main" noGrp="1"/>
          </p:cNvSpPr>
          <p:nvPr/>
        </p:nvSpPr>
        <p:spPr>
          <a:xfrm xmlns:a="http://schemas.openxmlformats.org/drawingml/2006/main">
            <a:off x="685800" y="65341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2D3C5"/>
                </a:solidFill>
                <a:latin typeface="Aptos"/>
                <a:ea typeface="Aptos"/>
                <a:cs typeface="Aptos"/>
              </a:defRPr>
            </a:pPr>
            <a:r>
              <a:rPr sz="1350" b="1">
                <a:solidFill>
                  <a:srgbClr val="22D3C5"/>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46579379-DBEC-46C6-BBE7-6AD52E545DFC}"/>
              </a:ext>
            </a:extLst>
          </p:cNvPr>
          <p:cNvSpPr>
            <a:spLocks xmlns:a="http://schemas.openxmlformats.org/drawingml/2006/main" noGrp="1"/>
          </p:cNvSpPr>
          <p:nvPr/>
        </p:nvSpPr>
        <p:spPr>
          <a:xfrm xmlns:a="http://schemas.openxmlformats.org/drawingml/2006/main">
            <a:off x="1428750" y="65341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ESTABLISHED</a:t>
            </a:r>
          </a:p>
        </p:txBody>
      </p:sp>
      <p:sp>
        <p:nvSpPr>
          <p:cNvPr id="21" name="">
            <a:extLst xmlns:a="http://schemas.openxmlformats.org/drawingml/2006/main">
              <a:ext uri="{FF2B5EF4-FFF2-40B4-BE49-F238E27FC236}">
                <a16:creationId xmlns:a16="http://schemas.microsoft.com/office/drawing/2014/main" id="{3936AA18-9436-4888-B25D-59D20598767E}"/>
              </a:ext>
            </a:extLst>
          </p:cNvPr>
          <p:cNvSpPr>
            <a:spLocks xmlns:a="http://schemas.openxmlformats.org/drawingml/2006/main" noGrp="1"/>
          </p:cNvSpPr>
          <p:nvPr/>
        </p:nvSpPr>
        <p:spPr>
          <a:xfrm xmlns:a="http://schemas.openxmlformats.org/drawingml/2006/main">
            <a:off x="4762500" y="65341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Persistent delivery</a:t>
            </a:r>
          </a:p>
        </p:txBody>
      </p:sp>
      <p:sp>
        <p:nvSpPr>
          <p:cNvPr id="22" name="">
            <a:extLst xmlns:a="http://schemas.openxmlformats.org/drawingml/2006/main">
              <a:ext uri="{FF2B5EF4-FFF2-40B4-BE49-F238E27FC236}">
                <a16:creationId xmlns:a16="http://schemas.microsoft.com/office/drawing/2014/main" id="{D9CEDF21-E3CF-4C82-93CE-AB8032A38DB1}"/>
              </a:ext>
            </a:extLst>
          </p:cNvPr>
          <p:cNvSpPr>
            <a:spLocks xmlns:a="http://schemas.openxmlformats.org/drawingml/2006/main" noGrp="1"/>
          </p:cNvSpPr>
          <p:nvPr/>
        </p:nvSpPr>
        <p:spPr>
          <a:xfrm xmlns:a="http://schemas.openxmlformats.org/drawingml/2006/main">
            <a:off x="952500" y="7172325"/>
            <a:ext cx="7905750" cy="9525"/>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223D237-9E8A-463B-93DC-D4B9583EF0CE}"/>
              </a:ext>
            </a:extLst>
          </p:cNvPr>
          <p:cNvSpPr>
            <a:spLocks xmlns:a="http://schemas.openxmlformats.org/drawingml/2006/main" noGrp="1"/>
          </p:cNvSpPr>
          <p:nvPr/>
        </p:nvSpPr>
        <p:spPr>
          <a:xfrm xmlns:a="http://schemas.openxmlformats.org/drawingml/2006/main">
            <a:off x="685800" y="76009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8AA3D"/>
                </a:solidFill>
                <a:latin typeface="Aptos"/>
                <a:ea typeface="Aptos"/>
                <a:cs typeface="Aptos"/>
              </a:defRPr>
            </a:pPr>
            <a:r>
              <a:rPr sz="1350" b="1">
                <a:solidFill>
                  <a:srgbClr val="D8AA3D"/>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29B48CC1-890F-4702-8284-1B2DA740EC0A}"/>
              </a:ext>
            </a:extLst>
          </p:cNvPr>
          <p:cNvSpPr>
            <a:spLocks xmlns:a="http://schemas.openxmlformats.org/drawingml/2006/main" noGrp="1"/>
          </p:cNvSpPr>
          <p:nvPr/>
        </p:nvSpPr>
        <p:spPr>
          <a:xfrm xmlns:a="http://schemas.openxmlformats.org/drawingml/2006/main">
            <a:off x="1428750" y="76009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7F9FC"/>
                </a:solidFill>
                <a:latin typeface="Aptos"/>
                <a:ea typeface="Aptos"/>
                <a:cs typeface="Aptos"/>
              </a:defRPr>
            </a:pPr>
            <a:r>
              <a:rPr sz="2250" b="1">
                <a:solidFill>
                  <a:srgbClr val="F7F9FC"/>
                </a:solidFill>
                <a:latin typeface="Aptos"/>
                <a:ea typeface="Aptos"/>
                <a:cs typeface="Aptos"/>
              </a:rPr>
              <a:t>FADING</a:t>
            </a:r>
          </a:p>
        </p:txBody>
      </p:sp>
      <p:sp>
        <p:nvSpPr>
          <p:cNvPr id="25" name="">
            <a:extLst xmlns:a="http://schemas.openxmlformats.org/drawingml/2006/main">
              <a:ext uri="{FF2B5EF4-FFF2-40B4-BE49-F238E27FC236}">
                <a16:creationId xmlns:a16="http://schemas.microsoft.com/office/drawing/2014/main" id="{C0DEFA0E-2DA7-4A3D-A6F0-1F393F35A87F}"/>
              </a:ext>
            </a:extLst>
          </p:cNvPr>
          <p:cNvSpPr>
            <a:spLocks xmlns:a="http://schemas.openxmlformats.org/drawingml/2006/main" noGrp="1"/>
          </p:cNvSpPr>
          <p:nvPr/>
        </p:nvSpPr>
        <p:spPr>
          <a:xfrm xmlns:a="http://schemas.openxmlformats.org/drawingml/2006/main">
            <a:off x="4762500" y="76009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C3D4"/>
                </a:solidFill>
                <a:latin typeface="Aptos"/>
                <a:ea typeface="Aptos"/>
                <a:cs typeface="Aptos"/>
              </a:defRPr>
            </a:pPr>
            <a:r>
              <a:rPr sz="1650" b="0">
                <a:solidFill>
                  <a:srgbClr val="B9C3D4"/>
                </a:solidFill>
                <a:latin typeface="Aptos"/>
                <a:ea typeface="Aptos"/>
                <a:cs typeface="Aptos"/>
              </a:rPr>
              <a:t>Momentum weakens</a:t>
            </a:r>
          </a:p>
        </p:txBody>
      </p:sp>
      <p:sp>
        <p:nvSpPr>
          <p:cNvPr id="26" name="">
            <a:extLst xmlns:a="http://schemas.openxmlformats.org/drawingml/2006/main">
              <a:ext uri="{FF2B5EF4-FFF2-40B4-BE49-F238E27FC236}">
                <a16:creationId xmlns:a16="http://schemas.microsoft.com/office/drawing/2014/main" id="{9BCA45A0-F834-49BF-867D-E76D5849AFC5}"/>
              </a:ext>
            </a:extLst>
          </p:cNvPr>
          <p:cNvSpPr>
            <a:spLocks xmlns:a="http://schemas.openxmlformats.org/drawingml/2006/main" noGrp="1"/>
          </p:cNvSpPr>
          <p:nvPr/>
        </p:nvSpPr>
        <p:spPr>
          <a:xfrm xmlns:a="http://schemas.openxmlformats.org/drawingml/2006/main">
            <a:off x="666750" y="8810625"/>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8AA3D"/>
                </a:solidFill>
                <a:latin typeface="Aptos"/>
                <a:ea typeface="Aptos"/>
                <a:cs typeface="Aptos"/>
              </a:defRPr>
            </a:pPr>
            <a:r>
              <a:rPr sz="1500" b="1">
                <a:solidFill>
                  <a:srgbClr val="D8AA3D"/>
                </a:solidFill>
                <a:latin typeface="Aptos"/>
                <a:ea typeface="Aptos"/>
                <a:cs typeface="Aptos"/>
              </a:rPr>
              <a:t>Lifecycle classifies momentum. It does not rate company quality or recommend a trade.</a:t>
            </a:r>
          </a:p>
        </p:txBody>
      </p:sp>
    </p:spTree>
    <p:extLst>
      <p:ext uri="{BB962C8B-B14F-4D97-AF65-F5344CB8AC3E}">
        <p14:creationId xmlns:p14="http://schemas.microsoft.com/office/powerpoint/2010/main" val="277937919"/>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341AF8F-2346-4725-8430-173A2DFC6BBA}"/>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471782-DCFF-4B96-A00C-ACAAFD2D1A90}"/>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C23F7277-9352-4F34-A0A6-9694775CB034}"/>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The confirmation overlay</a:t>
            </a:r>
          </a:p>
        </p:txBody>
      </p:sp>
      <p:sp>
        <p:nvSpPr>
          <p:cNvPr id="4" name="">
            <a:extLst xmlns:a="http://schemas.openxmlformats.org/drawingml/2006/main">
              <a:ext uri="{FF2B5EF4-FFF2-40B4-BE49-F238E27FC236}">
                <a16:creationId xmlns:a16="http://schemas.microsoft.com/office/drawing/2014/main" id="{21A2F37A-47F1-4768-9290-94DC8C860F86}"/>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B0F9F02B-5627-49C8-AD22-5AFBB33C9115}"/>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C09C7DD2-D83C-4426-A48C-8908D21456FA}"/>
              </a:ext>
            </a:extLst>
          </p:cNvPr>
          <p:cNvSpPr>
            <a:spLocks xmlns:a="http://schemas.openxmlformats.org/drawingml/2006/main" noGrp="1"/>
          </p:cNvSpPr>
          <p:nvPr/>
        </p:nvSpPr>
        <p:spPr>
          <a:xfrm xmlns:a="http://schemas.openxmlformats.org/drawingml/2006/main">
            <a:off x="628650" y="2333625"/>
            <a:ext cx="876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C3D4"/>
                </a:solidFill>
                <a:latin typeface="Aptos"/>
                <a:ea typeface="Aptos"/>
                <a:cs typeface="Aptos"/>
              </a:defRPr>
            </a:pPr>
            <a:r>
              <a:rPr sz="1725" b="0">
                <a:solidFill>
                  <a:srgbClr val="B9C3D4"/>
                </a:solidFill>
                <a:latin typeface="Aptos"/>
                <a:ea typeface="Aptos"/>
                <a:cs typeface="Aptos"/>
              </a:rPr>
              <a:t>After we record a lifecycle, we check later results to see whether the earlier reading still holds. We keep the original reading as history and use the new check to set today's research priority.</a:t>
            </a:r>
          </a:p>
        </p:txBody>
      </p:sp>
      <p:sp>
        <p:nvSpPr>
          <p:cNvPr id="7" name="">
            <a:extLst xmlns:a="http://schemas.openxmlformats.org/drawingml/2006/main">
              <a:ext uri="{FF2B5EF4-FFF2-40B4-BE49-F238E27FC236}">
                <a16:creationId xmlns:a16="http://schemas.microsoft.com/office/drawing/2014/main" id="{5C8F29F1-204B-423A-9F12-A0A9D291102D}"/>
              </a:ext>
            </a:extLst>
          </p:cNvPr>
          <p:cNvSpPr>
            <a:spLocks xmlns:a="http://schemas.openxmlformats.org/drawingml/2006/main" noGrp="1"/>
          </p:cNvSpPr>
          <p:nvPr/>
        </p:nvSpPr>
        <p:spPr>
          <a:xfrm xmlns:a="http://schemas.openxmlformats.org/drawingml/2006/main">
            <a:off x="666750" y="34766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14DF60-8BF8-4DFF-A133-E5F3B904750E}"/>
              </a:ext>
            </a:extLst>
          </p:cNvPr>
          <p:cNvSpPr>
            <a:spLocks xmlns:a="http://schemas.openxmlformats.org/drawingml/2006/main" noGrp="1"/>
          </p:cNvSpPr>
          <p:nvPr/>
        </p:nvSpPr>
        <p:spPr>
          <a:xfrm xmlns:a="http://schemas.openxmlformats.org/drawingml/2006/main">
            <a:off x="1047750" y="3476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MEASURABLE DELIVERY</a:t>
            </a:r>
          </a:p>
        </p:txBody>
      </p:sp>
      <p:sp>
        <p:nvSpPr>
          <p:cNvPr id="9" name="">
            <a:extLst xmlns:a="http://schemas.openxmlformats.org/drawingml/2006/main">
              <a:ext uri="{FF2B5EF4-FFF2-40B4-BE49-F238E27FC236}">
                <a16:creationId xmlns:a16="http://schemas.microsoft.com/office/drawing/2014/main" id="{A2074156-51B8-4CDB-8710-692E599D67BB}"/>
              </a:ext>
            </a:extLst>
          </p:cNvPr>
          <p:cNvSpPr>
            <a:spLocks xmlns:a="http://schemas.openxmlformats.org/drawingml/2006/main" noGrp="1"/>
          </p:cNvSpPr>
          <p:nvPr/>
        </p:nvSpPr>
        <p:spPr>
          <a:xfrm xmlns:a="http://schemas.openxmlformats.org/drawingml/2006/main">
            <a:off x="1047750" y="39147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Previous reading compared with current results</a:t>
            </a:r>
          </a:p>
        </p:txBody>
      </p:sp>
      <p:sp>
        <p:nvSpPr>
          <p:cNvPr id="10" name="">
            <a:extLst xmlns:a="http://schemas.openxmlformats.org/drawingml/2006/main">
              <a:ext uri="{FF2B5EF4-FFF2-40B4-BE49-F238E27FC236}">
                <a16:creationId xmlns:a16="http://schemas.microsoft.com/office/drawing/2014/main" id="{1B36A940-0301-43D9-8E5F-30BD74D9F6CC}"/>
              </a:ext>
            </a:extLst>
          </p:cNvPr>
          <p:cNvSpPr>
            <a:spLocks xmlns:a="http://schemas.openxmlformats.org/drawingml/2006/main" noGrp="1"/>
          </p:cNvSpPr>
          <p:nvPr/>
        </p:nvSpPr>
        <p:spPr>
          <a:xfrm xmlns:a="http://schemas.openxmlformats.org/drawingml/2006/main">
            <a:off x="666750" y="4905375"/>
            <a:ext cx="76200" cy="9048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7AD807-2C5A-41D1-863C-356EC789BF68}"/>
              </a:ext>
            </a:extLst>
          </p:cNvPr>
          <p:cNvSpPr>
            <a:spLocks xmlns:a="http://schemas.openxmlformats.org/drawingml/2006/main" noGrp="1"/>
          </p:cNvSpPr>
          <p:nvPr/>
        </p:nvSpPr>
        <p:spPr>
          <a:xfrm xmlns:a="http://schemas.openxmlformats.org/drawingml/2006/main">
            <a:off x="1047750" y="4905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BUSINESS QUALITY CHECKS</a:t>
            </a:r>
          </a:p>
        </p:txBody>
      </p:sp>
      <p:sp>
        <p:nvSpPr>
          <p:cNvPr id="12" name="">
            <a:extLst xmlns:a="http://schemas.openxmlformats.org/drawingml/2006/main">
              <a:ext uri="{FF2B5EF4-FFF2-40B4-BE49-F238E27FC236}">
                <a16:creationId xmlns:a16="http://schemas.microsoft.com/office/drawing/2014/main" id="{4AB8F652-DE4D-4C78-A0A1-AD3B89755C9E}"/>
              </a:ext>
            </a:extLst>
          </p:cNvPr>
          <p:cNvSpPr>
            <a:spLocks xmlns:a="http://schemas.openxmlformats.org/drawingml/2006/main" noGrp="1"/>
          </p:cNvSpPr>
          <p:nvPr/>
        </p:nvSpPr>
        <p:spPr>
          <a:xfrm xmlns:a="http://schemas.openxmlformats.org/drawingml/2006/main">
            <a:off x="1047750" y="534352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Meets check, concern found, unavailable or not due</a:t>
            </a:r>
          </a:p>
        </p:txBody>
      </p:sp>
      <p:sp>
        <p:nvSpPr>
          <p:cNvPr id="13" name="">
            <a:extLst xmlns:a="http://schemas.openxmlformats.org/drawingml/2006/main">
              <a:ext uri="{FF2B5EF4-FFF2-40B4-BE49-F238E27FC236}">
                <a16:creationId xmlns:a16="http://schemas.microsoft.com/office/drawing/2014/main" id="{DA9B6825-BB13-4BD0-AFDA-D57D1E76D9D2}"/>
              </a:ext>
            </a:extLst>
          </p:cNvPr>
          <p:cNvSpPr>
            <a:spLocks xmlns:a="http://schemas.openxmlformats.org/drawingml/2006/main" noGrp="1"/>
          </p:cNvSpPr>
          <p:nvPr/>
        </p:nvSpPr>
        <p:spPr>
          <a:xfrm xmlns:a="http://schemas.openxmlformats.org/drawingml/2006/main">
            <a:off x="666750" y="6334125"/>
            <a:ext cx="76200" cy="9048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C592D8-6B0E-4248-AE56-C9CF3F0BF67E}"/>
              </a:ext>
            </a:extLst>
          </p:cNvPr>
          <p:cNvSpPr>
            <a:spLocks xmlns:a="http://schemas.openxmlformats.org/drawingml/2006/main" noGrp="1"/>
          </p:cNvSpPr>
          <p:nvPr/>
        </p:nvSpPr>
        <p:spPr>
          <a:xfrm xmlns:a="http://schemas.openxmlformats.org/drawingml/2006/main">
            <a:off x="1047750" y="6334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7F9FC"/>
                </a:solidFill>
                <a:latin typeface="Aptos"/>
                <a:ea typeface="Aptos"/>
                <a:cs typeface="Aptos"/>
              </a:defRPr>
            </a:pPr>
            <a:r>
              <a:rPr sz="1500" b="1">
                <a:solidFill>
                  <a:srgbClr val="F7F9FC"/>
                </a:solidFill>
                <a:latin typeface="Aptos"/>
                <a:ea typeface="Aptos"/>
                <a:cs typeface="Aptos"/>
              </a:rPr>
              <a:t>MANAGEMENT HISTORY</a:t>
            </a:r>
          </a:p>
        </p:txBody>
      </p:sp>
      <p:sp>
        <p:nvSpPr>
          <p:cNvPr id="15" name="">
            <a:extLst xmlns:a="http://schemas.openxmlformats.org/drawingml/2006/main">
              <a:ext uri="{FF2B5EF4-FFF2-40B4-BE49-F238E27FC236}">
                <a16:creationId xmlns:a16="http://schemas.microsoft.com/office/drawing/2014/main" id="{57E1E250-69FF-45A3-BA2E-E83C5B0EB893}"/>
              </a:ext>
            </a:extLst>
          </p:cNvPr>
          <p:cNvSpPr>
            <a:spLocks xmlns:a="http://schemas.openxmlformats.org/drawingml/2006/main" noGrp="1"/>
          </p:cNvSpPr>
          <p:nvPr/>
        </p:nvSpPr>
        <p:spPr>
          <a:xfrm xmlns:a="http://schemas.openxmlformats.org/drawingml/2006/main">
            <a:off x="1047750" y="67722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Commitments, revisions and reported outcomes</a:t>
            </a:r>
          </a:p>
        </p:txBody>
      </p:sp>
      <p:sp>
        <p:nvSpPr>
          <p:cNvPr id="16" name="">
            <a:extLst xmlns:a="http://schemas.openxmlformats.org/drawingml/2006/main">
              <a:ext uri="{FF2B5EF4-FFF2-40B4-BE49-F238E27FC236}">
                <a16:creationId xmlns:a16="http://schemas.microsoft.com/office/drawing/2014/main" id="{F82F60D1-49FC-488C-9BEB-81562E87EB0E}"/>
              </a:ext>
            </a:extLst>
          </p:cNvPr>
          <p:cNvSpPr>
            <a:spLocks xmlns:a="http://schemas.openxmlformats.org/drawingml/2006/main" noGrp="1"/>
          </p:cNvSpPr>
          <p:nvPr/>
        </p:nvSpPr>
        <p:spPr>
          <a:xfrm xmlns:a="http://schemas.openxmlformats.org/drawingml/2006/main">
            <a:off x="666750" y="7953375"/>
            <a:ext cx="8382000" cy="19050"/>
          </a:xfrm>
          <a:prstGeom xmlns:a="http://schemas.openxmlformats.org/drawingml/2006/main" prst="rect">
            <a:avLst/>
          </a:prstGeom>
          <a:solidFill xmlns:a="http://schemas.openxmlformats.org/drawingml/2006/main">
            <a:srgbClr val="2634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DD10AB-1473-4CCD-911C-B8FDCA636ADA}"/>
              </a:ext>
            </a:extLst>
          </p:cNvPr>
          <p:cNvSpPr>
            <a:spLocks xmlns:a="http://schemas.openxmlformats.org/drawingml/2006/main" noGrp="1"/>
          </p:cNvSpPr>
          <p:nvPr/>
        </p:nvSpPr>
        <p:spPr>
          <a:xfrm xmlns:a="http://schemas.openxmlformats.org/drawingml/2006/main">
            <a:off x="666750" y="82105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8AA3D"/>
                </a:solidFill>
                <a:latin typeface="Aptos"/>
                <a:ea typeface="Aptos"/>
                <a:cs typeface="Aptos"/>
              </a:defRPr>
            </a:pPr>
            <a:r>
              <a:rPr sz="1125" b="1">
                <a:solidFill>
                  <a:srgbClr val="D8AA3D"/>
                </a:solidFill>
                <a:latin typeface="Aptos"/>
                <a:ea typeface="Aptos"/>
                <a:cs typeface="Aptos"/>
              </a:rPr>
              <a:t>Output</a:t>
            </a:r>
          </a:p>
        </p:txBody>
      </p:sp>
      <p:sp>
        <p:nvSpPr>
          <p:cNvPr id="18" name="">
            <a:extLst xmlns:a="http://schemas.openxmlformats.org/drawingml/2006/main">
              <a:ext uri="{FF2B5EF4-FFF2-40B4-BE49-F238E27FC236}">
                <a16:creationId xmlns:a16="http://schemas.microsoft.com/office/drawing/2014/main" id="{8F118BDD-71A0-4A55-8987-0CAB6E3DA785}"/>
              </a:ext>
            </a:extLst>
          </p:cNvPr>
          <p:cNvSpPr>
            <a:spLocks xmlns:a="http://schemas.openxmlformats.org/drawingml/2006/main" noGrp="1"/>
          </p:cNvSpPr>
          <p:nvPr/>
        </p:nvSpPr>
        <p:spPr>
          <a:xfrm xmlns:a="http://schemas.openxmlformats.org/drawingml/2006/main">
            <a:off x="666750" y="86106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7F9FC"/>
                </a:solidFill>
                <a:latin typeface="Aptos"/>
                <a:ea typeface="Aptos"/>
                <a:cs typeface="Aptos"/>
              </a:defRPr>
            </a:pPr>
            <a:r>
              <a:rPr sz="1800" b="1">
                <a:solidFill>
                  <a:srgbClr val="F7F9FC"/>
                </a:solidFill>
                <a:latin typeface="Aptos"/>
                <a:ea typeface="Aptos"/>
                <a:cs typeface="Aptos"/>
              </a:rPr>
              <a:t>Qualified    Qualified with caution    Not qualified    Insufficient evidence</a:t>
            </a:r>
          </a:p>
        </p:txBody>
      </p:sp>
    </p:spTree>
    <p:extLst>
      <p:ext uri="{BB962C8B-B14F-4D97-AF65-F5344CB8AC3E}">
        <p14:creationId xmlns:p14="http://schemas.microsoft.com/office/powerpoint/2010/main" val="1292528064"/>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38A597D-7538-456F-9998-12E5DD32E3AB}"/>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3512C2-A327-4393-9E18-0D16E5354086}"/>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8609658C-9FB1-44B2-8739-468A3001C4B2}"/>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Management guidance and delivery history</a:t>
            </a:r>
          </a:p>
        </p:txBody>
      </p:sp>
      <p:sp>
        <p:nvSpPr>
          <p:cNvPr id="4" name="">
            <a:extLst xmlns:a="http://schemas.openxmlformats.org/drawingml/2006/main">
              <a:ext uri="{FF2B5EF4-FFF2-40B4-BE49-F238E27FC236}">
                <a16:creationId xmlns:a16="http://schemas.microsoft.com/office/drawing/2014/main" id="{3F38F3C1-ADF5-45B1-8421-32C0BB49478A}"/>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D54C4FE2-A2D7-4A0C-9F08-C0225ADFECC8}"/>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6ED002FB-0E20-48C9-A2AB-851DCA7D29A0}"/>
              </a:ext>
            </a:extLst>
          </p:cNvPr>
          <p:cNvSpPr>
            <a:spLocks xmlns:a="http://schemas.openxmlformats.org/drawingml/2006/main" noGrp="1"/>
          </p:cNvSpPr>
          <p:nvPr/>
        </p:nvSpPr>
        <p:spPr>
          <a:xfrm xmlns:a="http://schemas.openxmlformats.org/drawingml/2006/main">
            <a:off x="628650" y="2333625"/>
            <a:ext cx="876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Quarterly commentary becomes useful only when the system remembers what management said before.</a:t>
            </a:r>
          </a:p>
        </p:txBody>
      </p:sp>
      <p:sp>
        <p:nvSpPr>
          <p:cNvPr id="7" name="">
            <a:extLst xmlns:a="http://schemas.openxmlformats.org/drawingml/2006/main">
              <a:ext uri="{FF2B5EF4-FFF2-40B4-BE49-F238E27FC236}">
                <a16:creationId xmlns:a16="http://schemas.microsoft.com/office/drawing/2014/main" id="{31047445-0DD5-434A-AABC-B42F907D1B13}"/>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CCBA03D-8F22-4B6A-AE96-25E9B792B6BE}"/>
              </a:ext>
            </a:extLst>
          </p:cNvPr>
          <p:cNvSpPr>
            <a:spLocks xmlns:a="http://schemas.openxmlformats.org/drawingml/2006/main" noGrp="1"/>
          </p:cNvSpPr>
          <p:nvPr/>
        </p:nvSpPr>
        <p:spPr>
          <a:xfrm xmlns:a="http://schemas.openxmlformats.org/drawingml/2006/main">
            <a:off x="685800" y="34290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ED2A640C-159B-42D2-BACC-FC05AE647A3D}"/>
              </a:ext>
            </a:extLst>
          </p:cNvPr>
          <p:cNvSpPr>
            <a:spLocks xmlns:a="http://schemas.openxmlformats.org/drawingml/2006/main" noGrp="1"/>
          </p:cNvSpPr>
          <p:nvPr/>
        </p:nvSpPr>
        <p:spPr>
          <a:xfrm xmlns:a="http://schemas.openxmlformats.org/drawingml/2006/main">
            <a:off x="1638300" y="34099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Commitment</a:t>
            </a:r>
          </a:p>
        </p:txBody>
      </p:sp>
      <p:sp>
        <p:nvSpPr>
          <p:cNvPr id="10" name="">
            <a:extLst xmlns:a="http://schemas.openxmlformats.org/drawingml/2006/main">
              <a:ext uri="{FF2B5EF4-FFF2-40B4-BE49-F238E27FC236}">
                <a16:creationId xmlns:a16="http://schemas.microsoft.com/office/drawing/2014/main" id="{A7BC792A-24D0-488F-9831-65DFC0B85279}"/>
              </a:ext>
            </a:extLst>
          </p:cNvPr>
          <p:cNvSpPr>
            <a:spLocks xmlns:a="http://schemas.openxmlformats.org/drawingml/2006/main" noGrp="1"/>
          </p:cNvSpPr>
          <p:nvPr/>
        </p:nvSpPr>
        <p:spPr>
          <a:xfrm xmlns:a="http://schemas.openxmlformats.org/drawingml/2006/main">
            <a:off x="1638300" y="37909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measurable statement with a target date</a:t>
            </a:r>
          </a:p>
        </p:txBody>
      </p:sp>
      <p:sp>
        <p:nvSpPr>
          <p:cNvPr id="11" name="">
            <a:extLst xmlns:a="http://schemas.openxmlformats.org/drawingml/2006/main">
              <a:ext uri="{FF2B5EF4-FFF2-40B4-BE49-F238E27FC236}">
                <a16:creationId xmlns:a16="http://schemas.microsoft.com/office/drawing/2014/main" id="{8BDE397A-7623-4648-B82E-312F748CDD2C}"/>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145792-1735-41F6-AC8A-0CAD838F024A}"/>
              </a:ext>
            </a:extLst>
          </p:cNvPr>
          <p:cNvSpPr>
            <a:spLocks xmlns:a="http://schemas.openxmlformats.org/drawingml/2006/main" noGrp="1"/>
          </p:cNvSpPr>
          <p:nvPr/>
        </p:nvSpPr>
        <p:spPr>
          <a:xfrm xmlns:a="http://schemas.openxmlformats.org/drawingml/2006/main">
            <a:off x="685800" y="4781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6FDD735C-AE04-43B8-876E-3BDA10BB0C8D}"/>
              </a:ext>
            </a:extLst>
          </p:cNvPr>
          <p:cNvSpPr>
            <a:spLocks xmlns:a="http://schemas.openxmlformats.org/drawingml/2006/main" noGrp="1"/>
          </p:cNvSpPr>
          <p:nvPr/>
        </p:nvSpPr>
        <p:spPr>
          <a:xfrm xmlns:a="http://schemas.openxmlformats.org/drawingml/2006/main">
            <a:off x="1638300" y="47625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Outcome</a:t>
            </a:r>
          </a:p>
        </p:txBody>
      </p:sp>
      <p:sp>
        <p:nvSpPr>
          <p:cNvPr id="14" name="">
            <a:extLst xmlns:a="http://schemas.openxmlformats.org/drawingml/2006/main">
              <a:ext uri="{FF2B5EF4-FFF2-40B4-BE49-F238E27FC236}">
                <a16:creationId xmlns:a16="http://schemas.microsoft.com/office/drawing/2014/main" id="{36D47BF1-A43D-491C-9CFB-69EDA57B5BDE}"/>
              </a:ext>
            </a:extLst>
          </p:cNvPr>
          <p:cNvSpPr>
            <a:spLocks xmlns:a="http://schemas.openxmlformats.org/drawingml/2006/main" noGrp="1"/>
          </p:cNvSpPr>
          <p:nvPr/>
        </p:nvSpPr>
        <p:spPr>
          <a:xfrm xmlns:a="http://schemas.openxmlformats.org/drawingml/2006/main">
            <a:off x="1638300" y="51435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The reported result after the target date</a:t>
            </a:r>
          </a:p>
        </p:txBody>
      </p:sp>
      <p:sp>
        <p:nvSpPr>
          <p:cNvPr id="15" name="">
            <a:extLst xmlns:a="http://schemas.openxmlformats.org/drawingml/2006/main">
              <a:ext uri="{FF2B5EF4-FFF2-40B4-BE49-F238E27FC236}">
                <a16:creationId xmlns:a16="http://schemas.microsoft.com/office/drawing/2014/main" id="{9E0C8F1F-F196-4FCA-BFD6-58E44FEC579F}"/>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ellipse">
            <a:avLst/>
          </a:prstGeom>
          <a:solidFill xmlns:a="http://schemas.openxmlformats.org/drawingml/2006/main">
            <a:srgbClr val="22D3C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B465A00-5E2B-49FD-904C-E47C83041739}"/>
              </a:ext>
            </a:extLst>
          </p:cNvPr>
          <p:cNvSpPr>
            <a:spLocks xmlns:a="http://schemas.openxmlformats.org/drawingml/2006/main" noGrp="1"/>
          </p:cNvSpPr>
          <p:nvPr/>
        </p:nvSpPr>
        <p:spPr>
          <a:xfrm xmlns:a="http://schemas.openxmlformats.org/drawingml/2006/main">
            <a:off x="685800" y="613410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415CE1F3-81D3-4CF0-8E4B-B5E663AFA82E}"/>
              </a:ext>
            </a:extLst>
          </p:cNvPr>
          <p:cNvSpPr>
            <a:spLocks xmlns:a="http://schemas.openxmlformats.org/drawingml/2006/main" noGrp="1"/>
          </p:cNvSpPr>
          <p:nvPr/>
        </p:nvSpPr>
        <p:spPr>
          <a:xfrm xmlns:a="http://schemas.openxmlformats.org/drawingml/2006/main">
            <a:off x="1638300" y="61150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Revision discipline</a:t>
            </a:r>
          </a:p>
        </p:txBody>
      </p:sp>
      <p:sp>
        <p:nvSpPr>
          <p:cNvPr id="18" name="">
            <a:extLst xmlns:a="http://schemas.openxmlformats.org/drawingml/2006/main">
              <a:ext uri="{FF2B5EF4-FFF2-40B4-BE49-F238E27FC236}">
                <a16:creationId xmlns:a16="http://schemas.microsoft.com/office/drawing/2014/main" id="{1578A4F7-2037-4C95-87A5-D72C794E558A}"/>
              </a:ext>
            </a:extLst>
          </p:cNvPr>
          <p:cNvSpPr>
            <a:spLocks xmlns:a="http://schemas.openxmlformats.org/drawingml/2006/main" noGrp="1"/>
          </p:cNvSpPr>
          <p:nvPr/>
        </p:nvSpPr>
        <p:spPr>
          <a:xfrm xmlns:a="http://schemas.openxmlformats.org/drawingml/2006/main">
            <a:off x="1638300" y="649605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Whether guidance changed before delivery</a:t>
            </a:r>
          </a:p>
        </p:txBody>
      </p:sp>
      <p:sp>
        <p:nvSpPr>
          <p:cNvPr id="19" name="">
            <a:extLst xmlns:a="http://schemas.openxmlformats.org/drawingml/2006/main">
              <a:ext uri="{FF2B5EF4-FFF2-40B4-BE49-F238E27FC236}">
                <a16:creationId xmlns:a16="http://schemas.microsoft.com/office/drawing/2014/main" id="{374E2B7F-1E0E-42E6-AEEC-8CBA182B33D5}"/>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ellipse">
            <a:avLst/>
          </a:prstGeom>
          <a:solidFill xmlns:a="http://schemas.openxmlformats.org/drawingml/2006/main">
            <a:srgbClr val="D8AA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D5293F6-6FDE-46FA-A456-B944F18F9F1A}"/>
              </a:ext>
            </a:extLst>
          </p:cNvPr>
          <p:cNvSpPr>
            <a:spLocks xmlns:a="http://schemas.openxmlformats.org/drawingml/2006/main" noGrp="1"/>
          </p:cNvSpPr>
          <p:nvPr/>
        </p:nvSpPr>
        <p:spPr>
          <a:xfrm xmlns:a="http://schemas.openxmlformats.org/drawingml/2006/main">
            <a:off x="685800" y="74866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0D18"/>
                </a:solidFill>
                <a:latin typeface="Aptos"/>
                <a:ea typeface="Aptos"/>
                <a:cs typeface="Aptos"/>
              </a:defRPr>
            </a:pPr>
            <a:r>
              <a:rPr sz="1650" b="1">
                <a:solidFill>
                  <a:srgbClr val="080D18"/>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38749009-3FB6-4872-B3EF-2432699C0549}"/>
              </a:ext>
            </a:extLst>
          </p:cNvPr>
          <p:cNvSpPr>
            <a:spLocks xmlns:a="http://schemas.openxmlformats.org/drawingml/2006/main" noGrp="1"/>
          </p:cNvSpPr>
          <p:nvPr/>
        </p:nvSpPr>
        <p:spPr>
          <a:xfrm xmlns:a="http://schemas.openxmlformats.org/drawingml/2006/main">
            <a:off x="1638300" y="74676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7F9FC"/>
                </a:solidFill>
                <a:latin typeface="Aptos"/>
                <a:ea typeface="Aptos"/>
                <a:cs typeface="Aptos"/>
              </a:defRPr>
            </a:pPr>
            <a:r>
              <a:rPr sz="1875" b="1">
                <a:solidFill>
                  <a:srgbClr val="F7F9FC"/>
                </a:solidFill>
                <a:latin typeface="Aptos"/>
                <a:ea typeface="Aptos"/>
                <a:cs typeface="Aptos"/>
              </a:rPr>
              <a:t>Reliability record</a:t>
            </a:r>
          </a:p>
        </p:txBody>
      </p:sp>
      <p:sp>
        <p:nvSpPr>
          <p:cNvPr id="22" name="">
            <a:extLst xmlns:a="http://schemas.openxmlformats.org/drawingml/2006/main">
              <a:ext uri="{FF2B5EF4-FFF2-40B4-BE49-F238E27FC236}">
                <a16:creationId xmlns:a16="http://schemas.microsoft.com/office/drawing/2014/main" id="{FC4DE2AE-83F7-4D8C-BA81-BA212C2A2D8C}"/>
              </a:ext>
            </a:extLst>
          </p:cNvPr>
          <p:cNvSpPr>
            <a:spLocks xmlns:a="http://schemas.openxmlformats.org/drawingml/2006/main" noGrp="1"/>
          </p:cNvSpPr>
          <p:nvPr/>
        </p:nvSpPr>
        <p:spPr>
          <a:xfrm xmlns:a="http://schemas.openxmlformats.org/drawingml/2006/main">
            <a:off x="1638300" y="7848600"/>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 score only after enough commitments mature</a:t>
            </a:r>
          </a:p>
        </p:txBody>
      </p:sp>
      <p:sp>
        <p:nvSpPr>
          <p:cNvPr id="23" name="">
            <a:extLst xmlns:a="http://schemas.openxmlformats.org/drawingml/2006/main">
              <a:ext uri="{FF2B5EF4-FFF2-40B4-BE49-F238E27FC236}">
                <a16:creationId xmlns:a16="http://schemas.microsoft.com/office/drawing/2014/main" id="{8B836F6D-27BA-48D4-80F7-A318BA74AE29}"/>
              </a:ext>
            </a:extLst>
          </p:cNvPr>
          <p:cNvSpPr>
            <a:spLocks xmlns:a="http://schemas.openxmlformats.org/drawingml/2006/main" noGrp="1"/>
          </p:cNvSpPr>
          <p:nvPr/>
        </p:nvSpPr>
        <p:spPr>
          <a:xfrm xmlns:a="http://schemas.openxmlformats.org/drawingml/2006/main">
            <a:off x="666750" y="89154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8AA3D"/>
                </a:solidFill>
                <a:latin typeface="Aptos"/>
                <a:ea typeface="Aptos"/>
                <a:cs typeface="Aptos"/>
              </a:defRPr>
            </a:pPr>
            <a:r>
              <a:rPr sz="1425" b="1">
                <a:solidFill>
                  <a:srgbClr val="D8AA3D"/>
                </a:solidFill>
                <a:latin typeface="Aptos"/>
                <a:ea typeface="Aptos"/>
                <a:cs typeface="Aptos"/>
              </a:rPr>
              <a:t>Insufficient history remains a valid result. Unknown never becomes a pass.</a:t>
            </a:r>
          </a:p>
        </p:txBody>
      </p:sp>
    </p:spTree>
    <p:extLst>
      <p:ext uri="{BB962C8B-B14F-4D97-AF65-F5344CB8AC3E}">
        <p14:creationId xmlns:p14="http://schemas.microsoft.com/office/powerpoint/2010/main" val="2142729027"/>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2982E1C-A840-4CB0-A8D4-AA3986C2453C}"/>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125A64-EB9C-4CC8-8E5B-107BEE07D365}"/>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D78A9C25-86F6-4D4C-BE55-23C3925F7079}"/>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What happened when we tested 25 companies</a:t>
            </a:r>
          </a:p>
        </p:txBody>
      </p:sp>
      <p:sp>
        <p:nvSpPr>
          <p:cNvPr id="4" name="">
            <a:extLst xmlns:a="http://schemas.openxmlformats.org/drawingml/2006/main">
              <a:ext uri="{FF2B5EF4-FFF2-40B4-BE49-F238E27FC236}">
                <a16:creationId xmlns:a16="http://schemas.microsoft.com/office/drawing/2014/main" id="{9DCD637A-2A7E-4410-A7C0-3891BB8AB9D9}"/>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09D1A0E6-EB04-4367-9E61-D57D48A8C1CC}"/>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159F44B5-B3CE-405A-87D5-7130E38CEA09}"/>
              </a:ext>
            </a:extLst>
          </p:cNvPr>
          <p:cNvSpPr>
            <a:spLocks xmlns:a="http://schemas.openxmlformats.org/drawingml/2006/main" noGrp="1"/>
          </p:cNvSpPr>
          <p:nvPr/>
        </p:nvSpPr>
        <p:spPr>
          <a:xfrm xmlns:a="http://schemas.openxmlformats.org/drawingml/2006/main">
            <a:off x="628650" y="23336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We applied the same evidence process to five companies from each lifecycle category.</a:t>
            </a:r>
          </a:p>
        </p:txBody>
      </p:sp>
      <p:graphicFrame>
        <p:nvGraphicFramePr>
          <p:cNvPr id="25" name="Chart"/>
          <p:cNvGraphicFramePr/>
          <p:nvPr/>
        </p:nvGraphicFramePr>
        <p:xfrm>
          <a:off xmlns:a="http://schemas.openxmlformats.org/drawingml/2006/main" x="666750" y="3190875"/>
          <a:ext xmlns:a="http://schemas.openxmlformats.org/drawingml/2006/main" cx="8953500" cy="3810000"/>
        </p:xfrm>
        <a:graphic xmlns:a="http://schemas.openxmlformats.org/drawingml/2006/main">
          <a:graphicData uri="http://schemas.openxmlformats.org/drawingml/2006/chart">
            <c:chart xmlns:r="http://schemas.openxmlformats.org/officeDocument/2006/relationships" xmlns:c="http://schemas.openxmlformats.org/drawingml/2006/chart" r:id="Rf888219663fe424c"/>
          </a:graphicData>
        </a:graphic>
      </p:graphicFrame>
      <p:sp>
        <p:nvSpPr>
          <p:cNvPr id="8" name="">
            <a:extLst xmlns:a="http://schemas.openxmlformats.org/drawingml/2006/main">
              <a:ext uri="{FF2B5EF4-FFF2-40B4-BE49-F238E27FC236}">
                <a16:creationId xmlns:a16="http://schemas.microsoft.com/office/drawing/2014/main" id="{27CA7BBC-5A27-48EE-B9E1-28B7BCF9A7A1}"/>
              </a:ext>
            </a:extLst>
          </p:cNvPr>
          <p:cNvSpPr>
            <a:spLocks xmlns:a="http://schemas.openxmlformats.org/drawingml/2006/main" noGrp="1"/>
          </p:cNvSpPr>
          <p:nvPr/>
        </p:nvSpPr>
        <p:spPr>
          <a:xfrm xmlns:a="http://schemas.openxmlformats.org/drawingml/2006/main">
            <a:off x="180975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9" name="">
            <a:extLst xmlns:a="http://schemas.openxmlformats.org/drawingml/2006/main">
              <a:ext uri="{FF2B5EF4-FFF2-40B4-BE49-F238E27FC236}">
                <a16:creationId xmlns:a16="http://schemas.microsoft.com/office/drawing/2014/main" id="{9CAFAD01-A934-4588-BB43-6482FF652509}"/>
              </a:ext>
            </a:extLst>
          </p:cNvPr>
          <p:cNvSpPr>
            <a:spLocks xmlns:a="http://schemas.openxmlformats.org/drawingml/2006/main" noGrp="1"/>
          </p:cNvSpPr>
          <p:nvPr/>
        </p:nvSpPr>
        <p:spPr>
          <a:xfrm xmlns:a="http://schemas.openxmlformats.org/drawingml/2006/main">
            <a:off x="4686300" y="33528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96%</a:t>
            </a:r>
          </a:p>
        </p:txBody>
      </p:sp>
      <p:sp>
        <p:nvSpPr>
          <p:cNvPr id="10" name="">
            <a:extLst xmlns:a="http://schemas.openxmlformats.org/drawingml/2006/main">
              <a:ext uri="{FF2B5EF4-FFF2-40B4-BE49-F238E27FC236}">
                <a16:creationId xmlns:a16="http://schemas.microsoft.com/office/drawing/2014/main" id="{001AC7BF-DAE9-45EC-8B83-498C833FEE00}"/>
              </a:ext>
            </a:extLst>
          </p:cNvPr>
          <p:cNvSpPr>
            <a:spLocks xmlns:a="http://schemas.openxmlformats.org/drawingml/2006/main" noGrp="1"/>
          </p:cNvSpPr>
          <p:nvPr/>
        </p:nvSpPr>
        <p:spPr>
          <a:xfrm xmlns:a="http://schemas.openxmlformats.org/drawingml/2006/main">
            <a:off x="7572375" y="621030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8%</a:t>
            </a:r>
          </a:p>
        </p:txBody>
      </p:sp>
      <p:sp>
        <p:nvSpPr>
          <p:cNvPr id="11" name="">
            <a:extLst xmlns:a="http://schemas.openxmlformats.org/drawingml/2006/main">
              <a:ext uri="{FF2B5EF4-FFF2-40B4-BE49-F238E27FC236}">
                <a16:creationId xmlns:a16="http://schemas.microsoft.com/office/drawing/2014/main" id="{528E7BE0-CDF1-4275-97D6-46C7848CE0D1}"/>
              </a:ext>
            </a:extLst>
          </p:cNvPr>
          <p:cNvSpPr>
            <a:spLocks xmlns:a="http://schemas.openxmlformats.org/drawingml/2006/main" noGrp="1"/>
          </p:cNvSpPr>
          <p:nvPr/>
        </p:nvSpPr>
        <p:spPr>
          <a:xfrm xmlns:a="http://schemas.openxmlformats.org/drawingml/2006/main">
            <a:off x="904875" y="6667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EVIDENCE PROCESS</a:t>
            </a:r>
          </a:p>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COMPLETED</a:t>
            </a:r>
          </a:p>
        </p:txBody>
      </p:sp>
      <p:sp>
        <p:nvSpPr>
          <p:cNvPr id="12" name="">
            <a:extLst xmlns:a="http://schemas.openxmlformats.org/drawingml/2006/main">
              <a:ext uri="{FF2B5EF4-FFF2-40B4-BE49-F238E27FC236}">
                <a16:creationId xmlns:a16="http://schemas.microsoft.com/office/drawing/2014/main" id="{50815FFD-99AE-439D-9A01-D804E01AA244}"/>
              </a:ext>
            </a:extLst>
          </p:cNvPr>
          <p:cNvSpPr>
            <a:spLocks xmlns:a="http://schemas.openxmlformats.org/drawingml/2006/main" noGrp="1"/>
          </p:cNvSpPr>
          <p:nvPr/>
        </p:nvSpPr>
        <p:spPr>
          <a:xfrm xmlns:a="http://schemas.openxmlformats.org/drawingml/2006/main">
            <a:off x="3810000" y="6667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RESULTS COMPARISON</a:t>
            </a:r>
          </a:p>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AVAILABLE</a:t>
            </a:r>
          </a:p>
        </p:txBody>
      </p:sp>
      <p:sp>
        <p:nvSpPr>
          <p:cNvPr id="13" name="">
            <a:extLst xmlns:a="http://schemas.openxmlformats.org/drawingml/2006/main">
              <a:ext uri="{FF2B5EF4-FFF2-40B4-BE49-F238E27FC236}">
                <a16:creationId xmlns:a16="http://schemas.microsoft.com/office/drawing/2014/main" id="{6E36F022-5FAA-463E-A130-CA2D437DA2AD}"/>
              </a:ext>
            </a:extLst>
          </p:cNvPr>
          <p:cNvSpPr>
            <a:spLocks xmlns:a="http://schemas.openxmlformats.org/drawingml/2006/main" noGrp="1"/>
          </p:cNvSpPr>
          <p:nvPr/>
        </p:nvSpPr>
        <p:spPr>
          <a:xfrm xmlns:a="http://schemas.openxmlformats.org/drawingml/2006/main">
            <a:off x="6715125" y="66675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FULL REPORT</a:t>
            </a:r>
          </a:p>
          <a:p xmlns:a="http://schemas.openxmlformats.org/drawingml/2006/main">
            <a:pPr>
              <a:defRPr sz="1275" b="1">
                <a:solidFill>
                  <a:srgbClr val="F7F9FC"/>
                </a:solidFill>
                <a:latin typeface="Aptos"/>
                <a:ea typeface="Aptos"/>
                <a:cs typeface="Aptos"/>
              </a:defRPr>
            </a:pPr>
            <a:r>
              <a:rPr sz="1275" b="1">
                <a:solidFill>
                  <a:srgbClr val="F7F9FC"/>
                </a:solidFill>
                <a:latin typeface="Aptos"/>
                <a:ea typeface="Aptos"/>
                <a:cs typeface="Aptos"/>
              </a:rPr>
              <a:t>STANDARD MET</a:t>
            </a:r>
          </a:p>
        </p:txBody>
      </p:sp>
      <p:sp>
        <p:nvSpPr>
          <p:cNvPr id="14" name="">
            <a:extLst xmlns:a="http://schemas.openxmlformats.org/drawingml/2006/main">
              <a:ext uri="{FF2B5EF4-FFF2-40B4-BE49-F238E27FC236}">
                <a16:creationId xmlns:a16="http://schemas.microsoft.com/office/drawing/2014/main" id="{C5CB0D61-D1C0-4317-B790-DD3B1791DF92}"/>
              </a:ext>
            </a:extLst>
          </p:cNvPr>
          <p:cNvSpPr>
            <a:spLocks xmlns:a="http://schemas.openxmlformats.org/drawingml/2006/main" noGrp="1"/>
          </p:cNvSpPr>
          <p:nvPr/>
        </p:nvSpPr>
        <p:spPr>
          <a:xfrm xmlns:a="http://schemas.openxmlformats.org/drawingml/2006/main">
            <a:off x="66675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7F9FC"/>
                </a:solidFill>
                <a:latin typeface="Aptos"/>
                <a:ea typeface="Aptos"/>
                <a:cs typeface="Aptos"/>
              </a:defRPr>
            </a:pPr>
            <a:r>
              <a:rPr sz="3000" b="1">
                <a:solidFill>
                  <a:srgbClr val="F7F9FC"/>
                </a:solidFill>
                <a:latin typeface="Aptos"/>
                <a:ea typeface="Aptos"/>
                <a:cs typeface="Aptos"/>
              </a:rPr>
              <a:t>24 of 25</a:t>
            </a:r>
          </a:p>
        </p:txBody>
      </p:sp>
      <p:sp>
        <p:nvSpPr>
          <p:cNvPr id="15" name="">
            <a:extLst xmlns:a="http://schemas.openxmlformats.org/drawingml/2006/main">
              <a:ext uri="{FF2B5EF4-FFF2-40B4-BE49-F238E27FC236}">
                <a16:creationId xmlns:a16="http://schemas.microsoft.com/office/drawing/2014/main" id="{A2882821-BC8F-4799-BA6E-CDFED43B9F40}"/>
              </a:ext>
            </a:extLst>
          </p:cNvPr>
          <p:cNvSpPr>
            <a:spLocks xmlns:a="http://schemas.openxmlformats.org/drawingml/2006/main" noGrp="1"/>
          </p:cNvSpPr>
          <p:nvPr/>
        </p:nvSpPr>
        <p:spPr>
          <a:xfrm xmlns:a="http://schemas.openxmlformats.org/drawingml/2006/main">
            <a:off x="666750" y="81153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evidence workflows completed</a:t>
            </a:r>
          </a:p>
        </p:txBody>
      </p:sp>
      <p:sp>
        <p:nvSpPr>
          <p:cNvPr id="16" name="">
            <a:extLst xmlns:a="http://schemas.openxmlformats.org/drawingml/2006/main">
              <a:ext uri="{FF2B5EF4-FFF2-40B4-BE49-F238E27FC236}">
                <a16:creationId xmlns:a16="http://schemas.microsoft.com/office/drawing/2014/main" id="{C0F17836-2F51-485B-9851-5DE7B3F741CF}"/>
              </a:ext>
            </a:extLst>
          </p:cNvPr>
          <p:cNvSpPr>
            <a:spLocks xmlns:a="http://schemas.openxmlformats.org/drawingml/2006/main" noGrp="1"/>
          </p:cNvSpPr>
          <p:nvPr/>
        </p:nvSpPr>
        <p:spPr>
          <a:xfrm xmlns:a="http://schemas.openxmlformats.org/drawingml/2006/main">
            <a:off x="5143500" y="752475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8AA3D"/>
                </a:solidFill>
                <a:latin typeface="Aptos"/>
                <a:ea typeface="Aptos"/>
                <a:cs typeface="Aptos"/>
              </a:defRPr>
            </a:pPr>
            <a:r>
              <a:rPr sz="3000" b="1">
                <a:solidFill>
                  <a:srgbClr val="D8AA3D"/>
                </a:solidFill>
                <a:latin typeface="Aptos"/>
                <a:ea typeface="Aptos"/>
                <a:cs typeface="Aptos"/>
              </a:rPr>
              <a:t>2 of 25</a:t>
            </a:r>
          </a:p>
        </p:txBody>
      </p:sp>
      <p:sp>
        <p:nvSpPr>
          <p:cNvPr id="17" name="">
            <a:extLst xmlns:a="http://schemas.openxmlformats.org/drawingml/2006/main">
              <a:ext uri="{FF2B5EF4-FFF2-40B4-BE49-F238E27FC236}">
                <a16:creationId xmlns:a16="http://schemas.microsoft.com/office/drawing/2014/main" id="{74D4ABB7-3FF7-4626-BDB3-C4CDEF6ACDC6}"/>
              </a:ext>
            </a:extLst>
          </p:cNvPr>
          <p:cNvSpPr>
            <a:spLocks xmlns:a="http://schemas.openxmlformats.org/drawingml/2006/main" noGrp="1"/>
          </p:cNvSpPr>
          <p:nvPr/>
        </p:nvSpPr>
        <p:spPr>
          <a:xfrm xmlns:a="http://schemas.openxmlformats.org/drawingml/2006/main">
            <a:off x="5143500" y="81153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met the full report standard</a:t>
            </a:r>
          </a:p>
        </p:txBody>
      </p:sp>
      <p:sp>
        <p:nvSpPr>
          <p:cNvPr id="18" name="">
            <a:extLst xmlns:a="http://schemas.openxmlformats.org/drawingml/2006/main">
              <a:ext uri="{FF2B5EF4-FFF2-40B4-BE49-F238E27FC236}">
                <a16:creationId xmlns:a16="http://schemas.microsoft.com/office/drawing/2014/main" id="{FCA9D1FD-A587-4C71-B328-BF8FA11F77FA}"/>
              </a:ext>
            </a:extLst>
          </p:cNvPr>
          <p:cNvSpPr>
            <a:spLocks xmlns:a="http://schemas.openxmlformats.org/drawingml/2006/main" noGrp="1"/>
          </p:cNvSpPr>
          <p:nvPr/>
        </p:nvSpPr>
        <p:spPr>
          <a:xfrm xmlns:a="http://schemas.openxmlformats.org/drawingml/2006/main">
            <a:off x="666750" y="88582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2D3C5"/>
                </a:solidFill>
                <a:latin typeface="Aptos"/>
                <a:ea typeface="Aptos"/>
                <a:cs typeface="Aptos"/>
              </a:defRPr>
            </a:pPr>
            <a:r>
              <a:rPr sz="1425" b="1">
                <a:solidFill>
                  <a:srgbClr val="22D3C5"/>
                </a:solidFill>
                <a:latin typeface="Aptos"/>
                <a:ea typeface="Aptos"/>
                <a:cs typeface="Aptos"/>
              </a:rPr>
              <a:t>These figures measure system coverage and evidence handling, not investment accuracy.</a:t>
            </a:r>
          </a:p>
        </p:txBody>
      </p:sp>
    </p:spTree>
    <p:extLst>
      <p:ext uri="{BB962C8B-B14F-4D97-AF65-F5344CB8AC3E}">
        <p14:creationId xmlns:p14="http://schemas.microsoft.com/office/powerpoint/2010/main" val="924240906"/>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61283E3-C353-4FCD-82A8-301019108E0E}"/>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316B21-87BC-49A3-BE28-6C390CF0D302}"/>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C93BD1FD-85A9-4217-9E0D-BCDE3242C1AC}"/>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What the user sees</a:t>
            </a:r>
          </a:p>
        </p:txBody>
      </p:sp>
      <p:sp>
        <p:nvSpPr>
          <p:cNvPr id="4" name="">
            <a:extLst xmlns:a="http://schemas.openxmlformats.org/drawingml/2006/main">
              <a:ext uri="{FF2B5EF4-FFF2-40B4-BE49-F238E27FC236}">
                <a16:creationId xmlns:a16="http://schemas.microsoft.com/office/drawing/2014/main" id="{75E32086-DE78-4D57-A276-B38F90839A3A}"/>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C8DB21BC-4111-4139-A43F-AF7A1B7162E0}"/>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97C76D89-0F92-4A47-8664-072026EE20CE}"/>
              </a:ext>
            </a:extLst>
          </p:cNvPr>
          <p:cNvSpPr>
            <a:spLocks xmlns:a="http://schemas.openxmlformats.org/drawingml/2006/main" noGrp="1"/>
          </p:cNvSpPr>
          <p:nvPr/>
        </p:nvSpPr>
        <p:spPr>
          <a:xfrm xmlns:a="http://schemas.openxmlformats.org/drawingml/2006/main">
            <a:off x="628650" y="2333625"/>
            <a:ext cx="876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Progressive detail keeps the main tracker readable while preserving the evidence trail.</a:t>
            </a:r>
          </a:p>
        </p:txBody>
      </p:sp>
      <p:sp>
        <p:nvSpPr>
          <p:cNvPr id="7" name="">
            <a:extLst xmlns:a="http://schemas.openxmlformats.org/drawingml/2006/main">
              <a:ext uri="{FF2B5EF4-FFF2-40B4-BE49-F238E27FC236}">
                <a16:creationId xmlns:a16="http://schemas.microsoft.com/office/drawing/2014/main" id="{6D1CD1E0-372D-4B77-AD45-DE05E95BB4E3}"/>
              </a:ext>
            </a:extLst>
          </p:cNvPr>
          <p:cNvSpPr>
            <a:spLocks xmlns:a="http://schemas.openxmlformats.org/drawingml/2006/main" noGrp="1"/>
          </p:cNvSpPr>
          <p:nvPr/>
        </p:nvSpPr>
        <p:spPr>
          <a:xfrm xmlns:a="http://schemas.openxmlformats.org/drawingml/2006/main">
            <a:off x="66675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EE43F8B6-15E4-4AB3-ADEA-DBBE90BEDC92}"/>
              </a:ext>
            </a:extLst>
          </p:cNvPr>
          <p:cNvSpPr>
            <a:spLocks xmlns:a="http://schemas.openxmlformats.org/drawingml/2006/main" noGrp="1"/>
          </p:cNvSpPr>
          <p:nvPr/>
        </p:nvSpPr>
        <p:spPr>
          <a:xfrm xmlns:a="http://schemas.openxmlformats.org/drawingml/2006/main">
            <a:off x="66675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SIGNAL TRACKER</a:t>
            </a:r>
          </a:p>
        </p:txBody>
      </p:sp>
      <p:sp>
        <p:nvSpPr>
          <p:cNvPr id="9" name="">
            <a:extLst xmlns:a="http://schemas.openxmlformats.org/drawingml/2006/main">
              <a:ext uri="{FF2B5EF4-FFF2-40B4-BE49-F238E27FC236}">
                <a16:creationId xmlns:a16="http://schemas.microsoft.com/office/drawing/2014/main" id="{BC46F43D-DCB1-46D6-BCD3-543A7A26398A}"/>
              </a:ext>
            </a:extLst>
          </p:cNvPr>
          <p:cNvSpPr>
            <a:spLocks xmlns:a="http://schemas.openxmlformats.org/drawingml/2006/main" noGrp="1"/>
          </p:cNvSpPr>
          <p:nvPr/>
        </p:nvSpPr>
        <p:spPr>
          <a:xfrm xmlns:a="http://schemas.openxmlformats.org/drawingml/2006/main">
            <a:off x="666750"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73EB4F1-47D6-492A-A4C7-5103BDDBB822}"/>
              </a:ext>
            </a:extLst>
          </p:cNvPr>
          <p:cNvSpPr>
            <a:spLocks xmlns:a="http://schemas.openxmlformats.org/drawingml/2006/main" noGrp="1"/>
          </p:cNvSpPr>
          <p:nvPr/>
        </p:nvSpPr>
        <p:spPr>
          <a:xfrm xmlns:a="http://schemas.openxmlformats.org/drawingml/2006/main">
            <a:off x="66675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Lifecycle, BMS score and market context</a:t>
            </a:r>
          </a:p>
        </p:txBody>
      </p:sp>
      <p:sp>
        <p:nvSpPr>
          <p:cNvPr id="11" name="">
            <a:extLst xmlns:a="http://schemas.openxmlformats.org/drawingml/2006/main">
              <a:ext uri="{FF2B5EF4-FFF2-40B4-BE49-F238E27FC236}">
                <a16:creationId xmlns:a16="http://schemas.microsoft.com/office/drawing/2014/main" id="{9610C5EA-5783-4AAE-BF41-CAAEF1CE7504}"/>
              </a:ext>
            </a:extLst>
          </p:cNvPr>
          <p:cNvSpPr>
            <a:spLocks xmlns:a="http://schemas.openxmlformats.org/drawingml/2006/main" noGrp="1"/>
          </p:cNvSpPr>
          <p:nvPr/>
        </p:nvSpPr>
        <p:spPr>
          <a:xfrm xmlns:a="http://schemas.openxmlformats.org/drawingml/2006/main">
            <a:off x="3762375"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E16497E8-0CE3-4F4E-9931-E7BD0022B42F}"/>
              </a:ext>
            </a:extLst>
          </p:cNvPr>
          <p:cNvSpPr>
            <a:spLocks xmlns:a="http://schemas.openxmlformats.org/drawingml/2006/main" noGrp="1"/>
          </p:cNvSpPr>
          <p:nvPr/>
        </p:nvSpPr>
        <p:spPr>
          <a:xfrm xmlns:a="http://schemas.openxmlformats.org/drawingml/2006/main">
            <a:off x="3762375"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EVIDENCE WORKSPACE</a:t>
            </a:r>
          </a:p>
        </p:txBody>
      </p:sp>
      <p:sp>
        <p:nvSpPr>
          <p:cNvPr id="13" name="">
            <a:extLst xmlns:a="http://schemas.openxmlformats.org/drawingml/2006/main">
              <a:ext uri="{FF2B5EF4-FFF2-40B4-BE49-F238E27FC236}">
                <a16:creationId xmlns:a16="http://schemas.microsoft.com/office/drawing/2014/main" id="{3FB24C51-F296-4BB6-B428-0BE0EC65E11F}"/>
              </a:ext>
            </a:extLst>
          </p:cNvPr>
          <p:cNvSpPr>
            <a:spLocks xmlns:a="http://schemas.openxmlformats.org/drawingml/2006/main" noGrp="1"/>
          </p:cNvSpPr>
          <p:nvPr/>
        </p:nvSpPr>
        <p:spPr>
          <a:xfrm xmlns:a="http://schemas.openxmlformats.org/drawingml/2006/main">
            <a:off x="3762375" y="5267325"/>
            <a:ext cx="2381250" cy="28575"/>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521965-6E89-4BA0-8C83-F098F719CC01}"/>
              </a:ext>
            </a:extLst>
          </p:cNvPr>
          <p:cNvSpPr>
            <a:spLocks xmlns:a="http://schemas.openxmlformats.org/drawingml/2006/main" noGrp="1"/>
          </p:cNvSpPr>
          <p:nvPr/>
        </p:nvSpPr>
        <p:spPr>
          <a:xfrm xmlns:a="http://schemas.openxmlformats.org/drawingml/2006/main">
            <a:off x="3762375"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Methodology, delivery, business quality, management and sources</a:t>
            </a:r>
          </a:p>
        </p:txBody>
      </p:sp>
      <p:sp>
        <p:nvSpPr>
          <p:cNvPr id="15" name="">
            <a:extLst xmlns:a="http://schemas.openxmlformats.org/drawingml/2006/main">
              <a:ext uri="{FF2B5EF4-FFF2-40B4-BE49-F238E27FC236}">
                <a16:creationId xmlns:a16="http://schemas.microsoft.com/office/drawing/2014/main" id="{02DF6210-C760-420D-B040-AD4888F8C684}"/>
              </a:ext>
            </a:extLst>
          </p:cNvPr>
          <p:cNvSpPr>
            <a:spLocks xmlns:a="http://schemas.openxmlformats.org/drawingml/2006/main" noGrp="1"/>
          </p:cNvSpPr>
          <p:nvPr/>
        </p:nvSpPr>
        <p:spPr>
          <a:xfrm xmlns:a="http://schemas.openxmlformats.org/drawingml/2006/main">
            <a:off x="6858000" y="3571875"/>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8AA3D"/>
                </a:solidFill>
                <a:latin typeface="Aptos"/>
                <a:ea typeface="Aptos"/>
                <a:cs typeface="Aptos"/>
              </a:defRPr>
            </a:pPr>
            <a:r>
              <a:rPr sz="1200" b="1">
                <a:solidFill>
                  <a:srgbClr val="D8AA3D"/>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3E025AA3-1C05-4DBE-918B-ED3DC93D022B}"/>
              </a:ext>
            </a:extLst>
          </p:cNvPr>
          <p:cNvSpPr>
            <a:spLocks xmlns:a="http://schemas.openxmlformats.org/drawingml/2006/main" noGrp="1"/>
          </p:cNvSpPr>
          <p:nvPr/>
        </p:nvSpPr>
        <p:spPr>
          <a:xfrm xmlns:a="http://schemas.openxmlformats.org/drawingml/2006/main">
            <a:off x="6858000" y="42386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7F9FC"/>
                </a:solidFill>
                <a:latin typeface="Aptos"/>
                <a:ea typeface="Aptos"/>
                <a:cs typeface="Aptos"/>
              </a:defRPr>
            </a:pPr>
            <a:r>
              <a:rPr sz="2100" b="1">
                <a:solidFill>
                  <a:srgbClr val="F7F9FC"/>
                </a:solidFill>
                <a:latin typeface="Aptos"/>
                <a:ea typeface="Aptos"/>
                <a:cs typeface="Aptos"/>
              </a:rPr>
              <a:t>SELECTIVE PDF</a:t>
            </a:r>
          </a:p>
        </p:txBody>
      </p:sp>
      <p:sp>
        <p:nvSpPr>
          <p:cNvPr id="17" name="">
            <a:extLst xmlns:a="http://schemas.openxmlformats.org/drawingml/2006/main">
              <a:ext uri="{FF2B5EF4-FFF2-40B4-BE49-F238E27FC236}">
                <a16:creationId xmlns:a16="http://schemas.microsoft.com/office/drawing/2014/main" id="{C95343BD-7DF7-449C-BAE2-65D63AC0EF40}"/>
              </a:ext>
            </a:extLst>
          </p:cNvPr>
          <p:cNvSpPr>
            <a:spLocks xmlns:a="http://schemas.openxmlformats.org/drawingml/2006/main" noGrp="1"/>
          </p:cNvSpPr>
          <p:nvPr/>
        </p:nvSpPr>
        <p:spPr>
          <a:xfrm xmlns:a="http://schemas.openxmlformats.org/drawingml/2006/main">
            <a:off x="6858000" y="5267325"/>
            <a:ext cx="2381250" cy="28575"/>
          </a:xfrm>
          <a:prstGeom xmlns:a="http://schemas.openxmlformats.org/drawingml/2006/main" prst="rect">
            <a:avLst/>
          </a:prstGeom>
          <a:solidFill xmlns:a="http://schemas.openxmlformats.org/drawingml/2006/main">
            <a:srgbClr val="D8AA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93163C-5A1B-45BF-AD8A-9D16BFEE4FC7}"/>
              </a:ext>
            </a:extLst>
          </p:cNvPr>
          <p:cNvSpPr>
            <a:spLocks xmlns:a="http://schemas.openxmlformats.org/drawingml/2006/main" noGrp="1"/>
          </p:cNvSpPr>
          <p:nvPr/>
        </p:nvSpPr>
        <p:spPr>
          <a:xfrm xmlns:a="http://schemas.openxmlformats.org/drawingml/2006/main">
            <a:off x="6858000" y="561975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3D4"/>
                </a:solidFill>
                <a:latin typeface="Aptos"/>
                <a:ea typeface="Aptos"/>
                <a:cs typeface="Aptos"/>
              </a:defRPr>
            </a:pPr>
            <a:r>
              <a:rPr sz="1500" b="0">
                <a:solidFill>
                  <a:srgbClr val="B9C3D4"/>
                </a:solidFill>
                <a:latin typeface="Aptos"/>
                <a:ea typeface="Aptos"/>
                <a:cs typeface="Aptos"/>
              </a:rPr>
              <a:t>Available only after every report-readiness check passes</a:t>
            </a:r>
          </a:p>
        </p:txBody>
      </p:sp>
      <p:sp>
        <p:nvSpPr>
          <p:cNvPr id="19" name="">
            <a:extLst xmlns:a="http://schemas.openxmlformats.org/drawingml/2006/main">
              <a:ext uri="{FF2B5EF4-FFF2-40B4-BE49-F238E27FC236}">
                <a16:creationId xmlns:a16="http://schemas.microsoft.com/office/drawing/2014/main" id="{9C96713A-D34F-41C2-8071-DD54A497C357}"/>
              </a:ext>
            </a:extLst>
          </p:cNvPr>
          <p:cNvSpPr>
            <a:spLocks xmlns:a="http://schemas.openxmlformats.org/drawingml/2006/main" noGrp="1"/>
          </p:cNvSpPr>
          <p:nvPr/>
        </p:nvSpPr>
        <p:spPr>
          <a:xfrm xmlns:a="http://schemas.openxmlformats.org/drawingml/2006/main">
            <a:off x="666750" y="80200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2D3C5"/>
                </a:solidFill>
                <a:latin typeface="Aptos"/>
                <a:ea typeface="Aptos"/>
                <a:cs typeface="Aptos"/>
              </a:defRPr>
            </a:pPr>
            <a:r>
              <a:rPr sz="1875" b="1">
                <a:solidFill>
                  <a:srgbClr val="22D3C5"/>
                </a:solidFill>
                <a:latin typeface="Aptos"/>
                <a:ea typeface="Aptos"/>
                <a:cs typeface="Aptos"/>
              </a:rPr>
              <a:t>The on-screen view remains available when evidence is incomplete. Missing values stay visible as missing.</a:t>
            </a:r>
          </a:p>
        </p:txBody>
      </p:sp>
    </p:spTree>
    <p:extLst>
      <p:ext uri="{BB962C8B-B14F-4D97-AF65-F5344CB8AC3E}">
        <p14:creationId xmlns:p14="http://schemas.microsoft.com/office/powerpoint/2010/main" val="1948910456"/>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88D8E38-1292-4BB8-8764-3B9FE7159D60}"/>
              </a:ext>
            </a:extLst>
          </p:cNvPr>
          <p:cNvSpPr>
            <a:spLocks xmlns:a="http://schemas.openxmlformats.org/drawingml/2006/main" noGrp="1"/>
          </p:cNvSpPr>
          <p:nvPr/>
        </p:nvSpPr>
        <p:spPr>
          <a:xfrm xmlns:a="http://schemas.openxmlformats.org/drawingml/2006/main">
            <a:off x="609600" y="590550"/>
            <a:ext cx="685800" cy="57150"/>
          </a:xfrm>
          <a:prstGeom xmlns:a="http://schemas.openxmlformats.org/drawingml/2006/main" prst="rect">
            <a:avLst/>
          </a:prstGeom>
          <a:solidFill xmlns:a="http://schemas.openxmlformats.org/drawingml/2006/main">
            <a:srgbClr val="22D3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11C264-7E5D-496A-A2CC-DD40C152AD84}"/>
              </a:ext>
            </a:extLst>
          </p:cNvPr>
          <p:cNvSpPr>
            <a:spLocks xmlns:a="http://schemas.openxmlformats.org/drawingml/2006/main" noGrp="1"/>
          </p:cNvSpPr>
          <p:nvPr/>
        </p:nvSpPr>
        <p:spPr>
          <a:xfrm xmlns:a="http://schemas.openxmlformats.org/drawingml/2006/main">
            <a:off x="609600" y="74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2D3C5"/>
                </a:solidFill>
                <a:latin typeface="Aptos"/>
                <a:ea typeface="Aptos"/>
                <a:cs typeface="Aptos"/>
              </a:defRPr>
            </a:pPr>
            <a:r>
              <a:rPr sz="1125" b="1">
                <a:solidFill>
                  <a:srgbClr val="22D3C5"/>
                </a:solidFill>
                <a:latin typeface="Aptos"/>
                <a:ea typeface="Aptos"/>
                <a:cs typeface="Aptos"/>
              </a:rPr>
              <a:t>ALPHASYNTH BMS V1</a:t>
            </a:r>
          </a:p>
        </p:txBody>
      </p:sp>
      <p:sp>
        <p:nvSpPr>
          <p:cNvPr id="3" name="">
            <a:extLst xmlns:a="http://schemas.openxmlformats.org/drawingml/2006/main">
              <a:ext uri="{FF2B5EF4-FFF2-40B4-BE49-F238E27FC236}">
                <a16:creationId xmlns:a16="http://schemas.microsoft.com/office/drawing/2014/main" id="{DD14DBC0-39AB-4C7B-824C-2DC0264C51FD}"/>
              </a:ext>
            </a:extLst>
          </p:cNvPr>
          <p:cNvSpPr>
            <a:spLocks xmlns:a="http://schemas.openxmlformats.org/drawingml/2006/main" noGrp="1"/>
          </p:cNvSpPr>
          <p:nvPr/>
        </p:nvSpPr>
        <p:spPr>
          <a:xfrm xmlns:a="http://schemas.openxmlformats.org/drawingml/2006/main">
            <a:off x="609600" y="1181100"/>
            <a:ext cx="895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7F9FC"/>
                </a:solidFill>
                <a:latin typeface="Aptos"/>
                <a:ea typeface="Aptos"/>
                <a:cs typeface="Aptos"/>
              </a:defRPr>
            </a:pPr>
            <a:r>
              <a:rPr sz="3300" b="1">
                <a:solidFill>
                  <a:srgbClr val="F7F9FC"/>
                </a:solidFill>
                <a:latin typeface="Aptos"/>
                <a:ea typeface="Aptos"/>
                <a:cs typeface="Aptos"/>
              </a:rPr>
              <a:t>A sample downloadable report</a:t>
            </a:r>
          </a:p>
        </p:txBody>
      </p:sp>
      <p:sp>
        <p:nvSpPr>
          <p:cNvPr id="4" name="">
            <a:extLst xmlns:a="http://schemas.openxmlformats.org/drawingml/2006/main">
              <a:ext uri="{FF2B5EF4-FFF2-40B4-BE49-F238E27FC236}">
                <a16:creationId xmlns:a16="http://schemas.microsoft.com/office/drawing/2014/main" id="{FCA5251A-A502-42FA-A689-3A19BB10582F}"/>
              </a:ext>
            </a:extLst>
          </p:cNvPr>
          <p:cNvSpPr>
            <a:spLocks xmlns:a="http://schemas.openxmlformats.org/drawingml/2006/main" noGrp="1"/>
          </p:cNvSpPr>
          <p:nvPr/>
        </p:nvSpPr>
        <p:spPr>
          <a:xfrm xmlns:a="http://schemas.openxmlformats.org/drawingml/2006/main">
            <a:off x="8877300" y="93916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718096"/>
                </a:solidFill>
                <a:latin typeface="Aptos"/>
                <a:ea typeface="Aptos"/>
                <a:cs typeface="Aptos"/>
              </a:defRPr>
            </a:pPr>
            <a:r>
              <a:rPr sz="1050" b="1">
                <a:solidFill>
                  <a:srgbClr val="718096"/>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F068E4C1-B92E-41DE-996D-96DC5AD18A05}"/>
              </a:ext>
            </a:extLst>
          </p:cNvPr>
          <p:cNvSpPr>
            <a:spLocks xmlns:a="http://schemas.openxmlformats.org/drawingml/2006/main" noGrp="1"/>
          </p:cNvSpPr>
          <p:nvPr/>
        </p:nvSpPr>
        <p:spPr>
          <a:xfrm xmlns:a="http://schemas.openxmlformats.org/drawingml/2006/main">
            <a:off x="609600" y="93916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18096"/>
                </a:solidFill>
                <a:latin typeface="Aptos"/>
                <a:ea typeface="Aptos"/>
                <a:cs typeface="Aptos"/>
              </a:defRPr>
            </a:pPr>
            <a:r>
              <a:rPr sz="1050" b="0">
                <a:solidFill>
                  <a:srgbClr val="718096"/>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9A594A7A-23F9-4286-BDE1-D6D81A808F9B}"/>
              </a:ext>
            </a:extLst>
          </p:cNvPr>
          <p:cNvSpPr>
            <a:spLocks xmlns:a="http://schemas.openxmlformats.org/drawingml/2006/main" noGrp="1"/>
          </p:cNvSpPr>
          <p:nvPr/>
        </p:nvSpPr>
        <p:spPr>
          <a:xfrm xmlns:a="http://schemas.openxmlformats.org/drawingml/2006/main">
            <a:off x="628650" y="233362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C3D4"/>
                </a:solidFill>
                <a:latin typeface="Aptos"/>
                <a:ea typeface="Aptos"/>
                <a:cs typeface="Aptos"/>
              </a:defRPr>
            </a:pPr>
            <a:r>
              <a:rPr sz="1800" b="0">
                <a:solidFill>
                  <a:srgbClr val="B9C3D4"/>
                </a:solidFill>
                <a:latin typeface="Aptos"/>
                <a:ea typeface="Aptos"/>
                <a:cs typeface="Aptos"/>
              </a:rPr>
              <a:t>The PDF appears only when the supporting evidence meets the full-report standard.</a:t>
            </a:r>
          </a:p>
        </p:txBody>
      </p:sp>
      <p:sp>
        <p:nvSpPr>
          <p:cNvPr id="7" name="">
            <a:extLst xmlns:a="http://schemas.openxmlformats.org/drawingml/2006/main">
              <a:ext uri="{FF2B5EF4-FFF2-40B4-BE49-F238E27FC236}">
                <a16:creationId xmlns:a16="http://schemas.microsoft.com/office/drawing/2014/main" id="{72B7E7F2-E9B2-47F0-8934-4B60FC768883}"/>
              </a:ext>
            </a:extLst>
          </p:cNvPr>
          <p:cNvSpPr>
            <a:spLocks xmlns:a="http://schemas.openxmlformats.org/drawingml/2006/main" noGrp="1"/>
          </p:cNvSpPr>
          <p:nvPr/>
        </p:nvSpPr>
        <p:spPr>
          <a:xfrm xmlns:a="http://schemas.openxmlformats.org/drawingml/2006/main">
            <a:off x="590550" y="3067050"/>
            <a:ext cx="4057650" cy="5848350"/>
          </a:xfrm>
          <a:prstGeom xmlns:a="http://schemas.openxmlformats.org/drawingml/2006/main" prst="rect">
            <a:avLst/>
          </a:prstGeom>
          <a:solidFill xmlns:a="http://schemas.openxmlformats.org/drawingml/2006/main">
            <a:srgbClr val="F7F9FC"/>
          </a:solidFill>
          <a:ln xmlns:a="http://schemas.openxmlformats.org/drawingml/2006/main" w="9525">
            <a:solidFill>
              <a:srgbClr val="D8AA3D"/>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d8c61b59ff44e3a"/>
          <a:stretch xmlns:a="http://schemas.openxmlformats.org/drawingml/2006/main"/>
        </p:blipFill>
        <p:spPr>
          <a:xfrm xmlns:a="http://schemas.openxmlformats.org/drawingml/2006/main">
            <a:off x="666750" y="3229655"/>
            <a:ext cx="3905250" cy="552313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FABC964-C601-4D14-BCC5-9358EC95644A}"/>
              </a:ext>
            </a:extLst>
          </p:cNvPr>
          <p:cNvSpPr>
            <a:spLocks xmlns:a="http://schemas.openxmlformats.org/drawingml/2006/main" noGrp="1"/>
          </p:cNvSpPr>
          <p:nvPr/>
        </p:nvSpPr>
        <p:spPr>
          <a:xfrm xmlns:a="http://schemas.openxmlformats.org/drawingml/2006/main">
            <a:off x="5238750" y="33337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COMPANY SNAPSHOT</a:t>
            </a:r>
          </a:p>
        </p:txBody>
      </p:sp>
      <p:sp>
        <p:nvSpPr>
          <p:cNvPr id="10" name="">
            <a:extLst xmlns:a="http://schemas.openxmlformats.org/drawingml/2006/main">
              <a:ext uri="{FF2B5EF4-FFF2-40B4-BE49-F238E27FC236}">
                <a16:creationId xmlns:a16="http://schemas.microsoft.com/office/drawing/2014/main" id="{3555B994-1954-4940-A4DA-46122EFC0B3B}"/>
              </a:ext>
            </a:extLst>
          </p:cNvPr>
          <p:cNvSpPr>
            <a:spLocks xmlns:a="http://schemas.openxmlformats.org/drawingml/2006/main" noGrp="1"/>
          </p:cNvSpPr>
          <p:nvPr/>
        </p:nvSpPr>
        <p:spPr>
          <a:xfrm xmlns:a="http://schemas.openxmlformats.org/drawingml/2006/main">
            <a:off x="5238750" y="3714750"/>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A concise description of the business and its principal watch item.</a:t>
            </a:r>
          </a:p>
        </p:txBody>
      </p:sp>
      <p:sp>
        <p:nvSpPr>
          <p:cNvPr id="11" name="">
            <a:extLst xmlns:a="http://schemas.openxmlformats.org/drawingml/2006/main">
              <a:ext uri="{FF2B5EF4-FFF2-40B4-BE49-F238E27FC236}">
                <a16:creationId xmlns:a16="http://schemas.microsoft.com/office/drawing/2014/main" id="{5BDC02D8-BAF7-49DF-A732-591C4AA0CBF1}"/>
              </a:ext>
            </a:extLst>
          </p:cNvPr>
          <p:cNvSpPr>
            <a:spLocks xmlns:a="http://schemas.openxmlformats.org/drawingml/2006/main" noGrp="1"/>
          </p:cNvSpPr>
          <p:nvPr/>
        </p:nvSpPr>
        <p:spPr>
          <a:xfrm xmlns:a="http://schemas.openxmlformats.org/drawingml/2006/main">
            <a:off x="5238750" y="48101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22D3C5"/>
                </a:solidFill>
                <a:latin typeface="Aptos"/>
                <a:ea typeface="Aptos"/>
                <a:cs typeface="Aptos"/>
              </a:defRPr>
            </a:pPr>
            <a:r>
              <a:rPr sz="1050" b="1">
                <a:solidFill>
                  <a:srgbClr val="22D3C5"/>
                </a:solidFill>
                <a:latin typeface="Aptos"/>
                <a:ea typeface="Aptos"/>
                <a:cs typeface="Aptos"/>
              </a:rPr>
              <a:t>LIFECYCLE AND BMS</a:t>
            </a:r>
          </a:p>
        </p:txBody>
      </p:sp>
      <p:sp>
        <p:nvSpPr>
          <p:cNvPr id="12" name="">
            <a:extLst xmlns:a="http://schemas.openxmlformats.org/drawingml/2006/main">
              <a:ext uri="{FF2B5EF4-FFF2-40B4-BE49-F238E27FC236}">
                <a16:creationId xmlns:a16="http://schemas.microsoft.com/office/drawing/2014/main" id="{214044F0-F946-482F-8B6B-2A211A9B2FE5}"/>
              </a:ext>
            </a:extLst>
          </p:cNvPr>
          <p:cNvSpPr>
            <a:spLocks xmlns:a="http://schemas.openxmlformats.org/drawingml/2006/main" noGrp="1"/>
          </p:cNvSpPr>
          <p:nvPr/>
        </p:nvSpPr>
        <p:spPr>
          <a:xfrm xmlns:a="http://schemas.openxmlformats.org/drawingml/2006/main">
            <a:off x="5238750" y="5191125"/>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The recorded lifecycle, score and evidence coverage appear together.</a:t>
            </a:r>
          </a:p>
        </p:txBody>
      </p:sp>
      <p:sp>
        <p:nvSpPr>
          <p:cNvPr id="13" name="">
            <a:extLst xmlns:a="http://schemas.openxmlformats.org/drawingml/2006/main">
              <a:ext uri="{FF2B5EF4-FFF2-40B4-BE49-F238E27FC236}">
                <a16:creationId xmlns:a16="http://schemas.microsoft.com/office/drawing/2014/main" id="{788B5EEA-D4FE-4E22-A9A5-72F4E971789F}"/>
              </a:ext>
            </a:extLst>
          </p:cNvPr>
          <p:cNvSpPr>
            <a:spLocks xmlns:a="http://schemas.openxmlformats.org/drawingml/2006/main" noGrp="1"/>
          </p:cNvSpPr>
          <p:nvPr/>
        </p:nvSpPr>
        <p:spPr>
          <a:xfrm xmlns:a="http://schemas.openxmlformats.org/drawingml/2006/main">
            <a:off x="5238750" y="62865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AA3D"/>
                </a:solidFill>
                <a:latin typeface="Aptos"/>
                <a:ea typeface="Aptos"/>
                <a:cs typeface="Aptos"/>
              </a:defRPr>
            </a:pPr>
            <a:r>
              <a:rPr sz="1050" b="1">
                <a:solidFill>
                  <a:srgbClr val="D8AA3D"/>
                </a:solidFill>
                <a:latin typeface="Aptos"/>
                <a:ea typeface="Aptos"/>
                <a:cs typeface="Aptos"/>
              </a:rPr>
              <a:t>SUPPORTING EXPLANATION</a:t>
            </a:r>
          </a:p>
        </p:txBody>
      </p:sp>
      <p:sp>
        <p:nvSpPr>
          <p:cNvPr id="14" name="">
            <a:extLst xmlns:a="http://schemas.openxmlformats.org/drawingml/2006/main">
              <a:ext uri="{FF2B5EF4-FFF2-40B4-BE49-F238E27FC236}">
                <a16:creationId xmlns:a16="http://schemas.microsoft.com/office/drawing/2014/main" id="{972FE28F-830F-48A5-8988-A94C23F8E799}"/>
              </a:ext>
            </a:extLst>
          </p:cNvPr>
          <p:cNvSpPr>
            <a:spLocks xmlns:a="http://schemas.openxmlformats.org/drawingml/2006/main" noGrp="1"/>
          </p:cNvSpPr>
          <p:nvPr/>
        </p:nvSpPr>
        <p:spPr>
          <a:xfrm xmlns:a="http://schemas.openxmlformats.org/drawingml/2006/main">
            <a:off x="5238750" y="6667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7F9FC"/>
                </a:solidFill>
                <a:latin typeface="Aptos"/>
                <a:ea typeface="Aptos"/>
                <a:cs typeface="Aptos"/>
              </a:defRPr>
            </a:pPr>
            <a:r>
              <a:rPr sz="1575" b="1">
                <a:solidFill>
                  <a:srgbClr val="F7F9FC"/>
                </a:solidFill>
                <a:latin typeface="Aptos"/>
                <a:ea typeface="Aptos"/>
                <a:cs typeface="Aptos"/>
              </a:rPr>
              <a:t>Later pages explain the factors, subsequent result checks, management history and source evidence.</a:t>
            </a:r>
          </a:p>
        </p:txBody>
      </p:sp>
      <p:sp>
        <p:nvSpPr>
          <p:cNvPr id="15" name="">
            <a:extLst xmlns:a="http://schemas.openxmlformats.org/drawingml/2006/main">
              <a:ext uri="{FF2B5EF4-FFF2-40B4-BE49-F238E27FC236}">
                <a16:creationId xmlns:a16="http://schemas.microsoft.com/office/drawing/2014/main" id="{B2135040-9FAD-4A54-A05F-2EBD32DAB58B}"/>
              </a:ext>
            </a:extLst>
          </p:cNvPr>
          <p:cNvSpPr>
            <a:spLocks xmlns:a="http://schemas.openxmlformats.org/drawingml/2006/main" noGrp="1"/>
          </p:cNvSpPr>
          <p:nvPr/>
        </p:nvSpPr>
        <p:spPr>
          <a:xfrm xmlns:a="http://schemas.openxmlformats.org/drawingml/2006/main">
            <a:off x="5238750" y="823912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3D4"/>
                </a:solidFill>
                <a:latin typeface="Aptos"/>
                <a:ea typeface="Aptos"/>
                <a:cs typeface="Aptos"/>
              </a:defRPr>
            </a:pPr>
            <a:r>
              <a:rPr sz="1350" b="0">
                <a:solidFill>
                  <a:srgbClr val="B9C3D4"/>
                </a:solidFill>
                <a:latin typeface="Aptos"/>
                <a:ea typeface="Aptos"/>
                <a:cs typeface="Aptos"/>
              </a:rPr>
              <a:t>Illustrative sample: Radico Khaitan. Research aid only. No buy or sell recommendation.</a:t>
            </a:r>
          </a:p>
        </p:txBody>
      </p:sp>
      <p:sp>
        <p:nvSpPr>
          <p:cNvPr id="16" name="">
            <a:extLst xmlns:a="http://schemas.openxmlformats.org/drawingml/2006/main">
              <a:ext uri="{FF2B5EF4-FFF2-40B4-BE49-F238E27FC236}">
                <a16:creationId xmlns:a16="http://schemas.microsoft.com/office/drawing/2014/main" id="{15845753-A6FA-4ACC-84DF-0EBDEE3B2C07}"/>
              </a:ext>
            </a:extLst>
          </p:cNvPr>
          <p:cNvSpPr>
            <a:spLocks xmlns:a="http://schemas.openxmlformats.org/drawingml/2006/main" noGrp="1"/>
          </p:cNvSpPr>
          <p:nvPr/>
        </p:nvSpPr>
        <p:spPr>
          <a:xfrm xmlns:a="http://schemas.openxmlformats.org/drawingml/2006/main">
            <a:off x="5238750" y="90106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22D3C5"/>
                </a:solidFill>
                <a:latin typeface="Aptos"/>
                <a:ea typeface="Aptos"/>
                <a:cs typeface="Aptos"/>
              </a:defRPr>
            </a:pPr>
            <a:r>
              <a:rPr sz="900" b="0">
                <a:solidFill>
                  <a:srgbClr val="22D3C5"/>
                </a:solidFill>
                <a:latin typeface="Aptos"/>
                <a:ea typeface="Aptos"/>
                <a:cs typeface="Aptos"/>
              </a:rPr>
              <a:t>expectation-pilot---alphasynth-equity-oqc2y4ogda-uc.a.run.app</a:t>
            </a:r>
          </a:p>
        </p:txBody>
      </p:sp>
    </p:spTree>
    <p:extLst>
      <p:ext uri="{BB962C8B-B14F-4D97-AF65-F5344CB8AC3E}">
        <p14:creationId xmlns:p14="http://schemas.microsoft.com/office/powerpoint/2010/main" val="20352956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2026-09-15T06:06:30.5530000Z</dcterms:created>
  <dcterms:modified xsi:type="dcterms:W3CDTF">2026-09-15T06:06:30.5530000Z</dcterms:modified>
</coreProperties>
</file>