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982cebd05a476b" /><Relationship Type="http://schemas.openxmlformats.org/officeDocument/2006/relationships/extended-properties" Target="/docProps/app.xml" Id="R84ee999b256e4416" /><Relationship Type="http://schemas.openxmlformats.org/officeDocument/2006/relationships/officeDocument" Target="/ppt/presentation.xml" Id="R9dea52d026034f93" /></Relationships>
</file>

<file path=ppt/presentation.xml><?xml version="1.0" encoding="utf-8"?>
<p:presentation xmlns:p="http://schemas.openxmlformats.org/presentationml/2006/main">
  <p:sldMasterIdLst>
    <p:sldMasterId xmlns:r="http://schemas.openxmlformats.org/officeDocument/2006/relationships" id="2147483648" r:id="Rf0fb61889cb24f9b"/>
  </p:sldMasterIdLst>
  <p:notesMasterIdLst>
    <p:notesMasterId xmlns:r="http://schemas.openxmlformats.org/officeDocument/2006/relationships" r:id="R174c6a42587c4582"/>
  </p:notesMasterIdLst>
  <p:sldIdLst>
    <p:sldId xmlns:r="http://schemas.openxmlformats.org/officeDocument/2006/relationships" id="256" r:id="R762a949a7653440e"/>
    <p:sldId xmlns:r="http://schemas.openxmlformats.org/officeDocument/2006/relationships" id="257" r:id="Rfda6308aa80b4c9c"/>
    <p:sldId xmlns:r="http://schemas.openxmlformats.org/officeDocument/2006/relationships" id="258" r:id="R072e96f56fcb4cf8"/>
    <p:sldId xmlns:r="http://schemas.openxmlformats.org/officeDocument/2006/relationships" id="259" r:id="R5f4572e1096344f1"/>
    <p:sldId xmlns:r="http://schemas.openxmlformats.org/officeDocument/2006/relationships" id="260" r:id="R1a274b36bc4c48eb"/>
    <p:sldId xmlns:r="http://schemas.openxmlformats.org/officeDocument/2006/relationships" id="261" r:id="R4f7f986df22c4b9a"/>
    <p:sldId xmlns:r="http://schemas.openxmlformats.org/officeDocument/2006/relationships" id="262" r:id="R6368b4ab0dcf4884"/>
    <p:sldId xmlns:r="http://schemas.openxmlformats.org/officeDocument/2006/relationships" id="263" r:id="Rb4f07a5a2e654bac"/>
    <p:sldId xmlns:r="http://schemas.openxmlformats.org/officeDocument/2006/relationships" id="264" r:id="R18f41f010b3b4dc8"/>
    <p:sldId xmlns:r="http://schemas.openxmlformats.org/officeDocument/2006/relationships" id="265" r:id="R61d5d38ba2ca42c0"/>
    <p:sldId xmlns:r="http://schemas.openxmlformats.org/officeDocument/2006/relationships" id="266" r:id="Rd8f67a6d1a9a456a"/>
    <p:sldId xmlns:r="http://schemas.openxmlformats.org/officeDocument/2006/relationships" id="267" r:id="R2f83a8f9772843b5"/>
    <p:sldId xmlns:r="http://schemas.openxmlformats.org/officeDocument/2006/relationships" id="268" r:id="R56e11c0513b44498"/>
  </p:sldIdLst>
  <p:sldSz cx="10287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c06629d6db4875" /><Relationship Type="http://schemas.openxmlformats.org/officeDocument/2006/relationships/slideMaster" Target="/ppt/slideMasters/slideMaster1.xml" Id="Rf0fb61889cb24f9b" /><Relationship Type="http://schemas.openxmlformats.org/officeDocument/2006/relationships/notesMaster" Target="/ppt/notesMasters/notesMaster1.xml" Id="R174c6a42587c4582" /><Relationship Type="http://schemas.openxmlformats.org/officeDocument/2006/relationships/presProps" Target="/ppt/presProps.xml" Id="R3a7f2da1e6f9486a" /><Relationship Type="http://schemas.openxmlformats.org/officeDocument/2006/relationships/tableStyles" Target="/ppt/tableStyles.xml" Id="R509de12fc74542c1" /><Relationship Type="http://schemas.openxmlformats.org/officeDocument/2006/relationships/slide" Target="/ppt/slides/slide1.xml" Id="R762a949a7653440e" /><Relationship Type="http://schemas.openxmlformats.org/officeDocument/2006/relationships/slide" Target="/ppt/slides/slide2.xml" Id="Rfda6308aa80b4c9c" /><Relationship Type="http://schemas.openxmlformats.org/officeDocument/2006/relationships/slide" Target="/ppt/slides/slide3.xml" Id="R072e96f56fcb4cf8" /><Relationship Type="http://schemas.openxmlformats.org/officeDocument/2006/relationships/slide" Target="/ppt/slides/slide4.xml" Id="R5f4572e1096344f1" /><Relationship Type="http://schemas.openxmlformats.org/officeDocument/2006/relationships/slide" Target="/ppt/slides/slide5.xml" Id="R1a274b36bc4c48eb" /><Relationship Type="http://schemas.openxmlformats.org/officeDocument/2006/relationships/slide" Target="/ppt/slides/slide6.xml" Id="R4f7f986df22c4b9a" /><Relationship Type="http://schemas.openxmlformats.org/officeDocument/2006/relationships/slide" Target="/ppt/slides/slide7.xml" Id="R6368b4ab0dcf4884" /><Relationship Type="http://schemas.openxmlformats.org/officeDocument/2006/relationships/slide" Target="/ppt/slides/slide8.xml" Id="Rb4f07a5a2e654bac" /><Relationship Type="http://schemas.openxmlformats.org/officeDocument/2006/relationships/slide" Target="/ppt/slides/slide9.xml" Id="R18f41f010b3b4dc8" /><Relationship Type="http://schemas.openxmlformats.org/officeDocument/2006/relationships/slide" Target="/ppt/slides/slide10.xml" Id="R61d5d38ba2ca42c0" /><Relationship Type="http://schemas.openxmlformats.org/officeDocument/2006/relationships/slide" Target="/ppt/slides/slide11.xml" Id="Rd8f67a6d1a9a456a" /><Relationship Type="http://schemas.openxmlformats.org/officeDocument/2006/relationships/slide" Target="/ppt/slides/slide12.xml" Id="R2f83a8f9772843b5" /><Relationship Type="http://schemas.openxmlformats.org/officeDocument/2006/relationships/slide" Target="/ppt/slides/slide13.xml" Id="R56e11c0513b444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98039a1a9440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aa970c9c17f4976" /><Relationship Type="http://schemas.openxmlformats.org/officeDocument/2006/relationships/notesMaster" Target="/ppt/notesMasters/notesMaster1.xml" Id="R1699e469bd744e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2714f006294467" /><Relationship Type="http://schemas.openxmlformats.org/officeDocument/2006/relationships/notesMaster" Target="/ppt/notesMasters/notesMaster1.xml" Id="R8e03c250a7f841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89501c8f254be7" /><Relationship Type="http://schemas.openxmlformats.org/officeDocument/2006/relationships/notesMaster" Target="/ppt/notesMasters/notesMaster1.xml" Id="Rc3d0ece436a84dc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72b889c32440cd" /><Relationship Type="http://schemas.openxmlformats.org/officeDocument/2006/relationships/notesMaster" Target="/ppt/notesMasters/notesMaster1.xml" Id="R92bf3479cc7f4318" /></Relationships>
</file>

<file path=ppt/notesSlides/_rels/notesSlide5.xml.rels>&#65279;<?xml version="1.0" encoding="utf-8"?><Relationships xmlns="http://schemas.openxmlformats.org/package/2006/relationships"><Relationship Type="http://schemas.openxmlformats.org/officeDocument/2006/relationships/slide" Target="/ppt/slides/slide5.xml" Id="R6c58157bd89e472c" /><Relationship Type="http://schemas.openxmlformats.org/officeDocument/2006/relationships/notesMaster" Target="/ppt/notesMasters/notesMaster1.xml" Id="R1e7096c7c48c4b5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85f74ccfbe418b" /><Relationship Type="http://schemas.openxmlformats.org/officeDocument/2006/relationships/notesMaster" Target="/ppt/notesMasters/notesMaster1.xml" Id="Rce8f1a70775441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bee2908d1f4524" /><Relationship Type="http://schemas.openxmlformats.org/officeDocument/2006/relationships/notesMaster" Target="/ppt/notesMasters/notesMaster1.xml" Id="Rb6b5684e799949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ff670b896e4055" /><Relationship Type="http://schemas.openxmlformats.org/officeDocument/2006/relationships/notesMaster" Target="/ppt/notesMasters/notesMaster1.xml" Id="Rdf2e5abf8b5a4f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036282fcb54100" /><Relationship Type="http://schemas.openxmlformats.org/officeDocument/2006/relationships/notesMaster" Target="/ppt/notesMasters/notesMaster1.xml" Id="R3fe4c284897e45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8d8d23e7e342a2" /><Relationship Type="http://schemas.openxmlformats.org/officeDocument/2006/relationships/notesMaster" Target="/ppt/notesMasters/notesMaster1.xml" Id="Rc4f85ee8685149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de092c7fac4eba" /><Relationship Type="http://schemas.openxmlformats.org/officeDocument/2006/relationships/notesMaster" Target="/ppt/notesMasters/notesMaster1.xml" Id="Rf27412a7484440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0acb832eedf434b" /><Relationship Type="http://schemas.openxmlformats.org/officeDocument/2006/relationships/notesMaster" Target="/ppt/notesMasters/notesMaster1.xml" Id="Rdfdcd8e363894bf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ad9128b8534d9f" /><Relationship Type="http://schemas.openxmlformats.org/officeDocument/2006/relationships/notesMaster" Target="/ppt/notesMasters/notesMaster1.xml" Id="R04e818c76b4343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State the product boundary before demonstrating it. The URL points to the current AlphaSynth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tracker, evidence workspace, later-results check and Deep Dive form one research journey. Coverage differs between the BMS tracker and the wider Deep Dive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from 15 September 2026. The redundant Research Signal action shown in this capture has been removed from the final code. Evidence Report and Deep Dive remain the two clear next 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Explain that score direction and evidence confidence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explain the former 100 score and medium-confidence confusion. Direction and confidence must remain visibly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Management commentary and delivery remain separate but connected. The ledger needs at least three matured, verifiable commitments before producing a reliability score.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only PDF sample in the carousel. The PDF remains a selective output, not the main product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Deep Dive coverage exceeds the 477-company BMS universe, but the research result does not itself assign a BMS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The code now uses plainer research-review terminology and removes unsupported decorative 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live app capture. Do not interpret a single call or quarter as a management reliability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capture cropped before the obsolete fixed metric cards. Those cards were not company-specific and have been removed from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filing screenshot used older technical terminology, so this slide presents the final user-facing labels directly. Replace it with a fresh live capture after the corrected build is deployed.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 live demonstration rather than a separate ready-for-peer-review claim. The cohort measured workflow completion and evidence readiness, not investment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e05c6d4ff94f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b9be2881ed4680" /><Relationship Type="http://schemas.openxmlformats.org/officeDocument/2006/relationships/slideLayout" Target="/ppt/slideLayouts/slideLayout1.xml" Id="R26b62f143a6a49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b62f143a6a49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c108d117d45437f" /><Relationship Type="http://schemas.openxmlformats.org/officeDocument/2006/relationships/notesSlide" Target="/ppt/notesSlides/notesSlide1.xml" Id="R81fa6c65edbb46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32351c9bf64286" /><Relationship Type="http://schemas.openxmlformats.org/officeDocument/2006/relationships/notesSlide" Target="/ppt/notesSlides/notesSlide2.xml" Id="R606235cee50f46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6e1082000e4cf2" /><Relationship Type="http://schemas.openxmlformats.org/officeDocument/2006/relationships/image" Target="/ppt/media/image.png" Id="R409c61e797ba4cf1" /><Relationship Type="http://schemas.openxmlformats.org/officeDocument/2006/relationships/notesSlide" Target="/ppt/notesSlides/notesSlide3.xml" Id="R3040947be48a4e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4409e23d4b409e" /><Relationship Type="http://schemas.openxmlformats.org/officeDocument/2006/relationships/image" Target="/ppt/media/image2.png" Id="R34a6950d46354069" /><Relationship Type="http://schemas.openxmlformats.org/officeDocument/2006/relationships/notesSlide" Target="/ppt/notesSlides/notesSlide4.xml" Id="R1b38c2f2c17744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2002253c1a4e54" /><Relationship Type="http://schemas.openxmlformats.org/officeDocument/2006/relationships/notesSlide" Target="/ppt/notesSlides/notesSlide5.xml" Id="R29b529267bdf47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89a4bf254640e9" /><Relationship Type="http://schemas.openxmlformats.org/officeDocument/2006/relationships/notesSlide" Target="/ppt/notesSlides/notesSlide6.xml" Id="Rfd19024691b449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5653812285c4bbf" /><Relationship Type="http://schemas.openxmlformats.org/officeDocument/2006/relationships/image" Target="/ppt/media/image3.png" Id="R4847cd2d19294011" /><Relationship Type="http://schemas.openxmlformats.org/officeDocument/2006/relationships/notesSlide" Target="/ppt/notesSlides/notesSlide7.xml" Id="R1d939aa7cace4e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285971c39a432b" /><Relationship Type="http://schemas.openxmlformats.org/officeDocument/2006/relationships/image" Target="/ppt/media/image4.png" Id="Rec6605a21c0b4106" /><Relationship Type="http://schemas.openxmlformats.org/officeDocument/2006/relationships/notesSlide" Target="/ppt/notesSlides/notesSlide8.xml" Id="R3615d4348d3941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96b730209a48ae" /><Relationship Type="http://schemas.openxmlformats.org/officeDocument/2006/relationships/image" Target="/ppt/media/image5.png" Id="Rdf3ff78eb8bf4f29" /><Relationship Type="http://schemas.openxmlformats.org/officeDocument/2006/relationships/notesSlide" Target="/ppt/notesSlides/notesSlide9.xml" Id="Rea311404628349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1f8a5dd70e45ab" /><Relationship Type="http://schemas.openxmlformats.org/officeDocument/2006/relationships/image" Target="/ppt/media/image6.png" Id="R80a28c8b62964277" /><Relationship Type="http://schemas.openxmlformats.org/officeDocument/2006/relationships/notesSlide" Target="/ppt/notesSlides/notesSlide10.xml" Id="R3de1eb6ed4484d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94f0840af674a80" /><Relationship Type="http://schemas.openxmlformats.org/officeDocument/2006/relationships/image" Target="/ppt/media/image7.png" Id="Rd67900fe160e4ff3" /><Relationship Type="http://schemas.openxmlformats.org/officeDocument/2006/relationships/notesSlide" Target="/ppt/notesSlides/notesSlide11.xml" Id="Rf53492a6f02342f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e708427119e4be3" /><Relationship Type="http://schemas.openxmlformats.org/officeDocument/2006/relationships/notesSlide" Target="/ppt/notesSlides/notesSlide12.xml" Id="R791d65d5924e48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ae5498a1a714017" /><Relationship Type="http://schemas.openxmlformats.org/officeDocument/2006/relationships/notesSlide" Target="/ppt/notesSlides/notesSlide13.xml" Id="R125ebd9e91704e83" /></Relationships>
</file>

<file path=ppt/slides/slide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6E468C-84F2-48EA-B7D4-3E088232B389}"/>
              </a:ext>
            </a:extLst>
          </p:cNvPr>
          <p:cNvSpPr>
            <a:spLocks xmlns:a="http://schemas.openxmlformats.org/drawingml/2006/main" noGrp="1"/>
          </p:cNvSpPr>
          <p:nvPr/>
        </p:nvSpPr>
        <p:spPr>
          <a:xfrm xmlns:a="http://schemas.openxmlformats.org/drawingml/2006/main">
            <a:off x="666750" y="723900"/>
            <a:ext cx="838200" cy="66675"/>
          </a:xfrm>
          <a:prstGeom xmlns:a="http://schemas.openxmlformats.org/drawingml/2006/main" prst="rect">
            <a:avLst/>
          </a:prstGeom>
          <a:solidFill xmlns:a="http://schemas.openxmlformats.org/drawingml/2006/main">
            <a:srgbClr val="E7B64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875E77-FBB0-44CB-B76D-E05C7A0C7EE6}"/>
              </a:ext>
            </a:extLst>
          </p:cNvPr>
          <p:cNvSpPr>
            <a:spLocks xmlns:a="http://schemas.openxmlformats.org/drawingml/2006/main" noGrp="1"/>
          </p:cNvSpPr>
          <p:nvPr/>
        </p:nvSpPr>
        <p:spPr>
          <a:xfrm xmlns:a="http://schemas.openxmlformats.org/drawingml/2006/main">
            <a:off x="666750" y="1009650"/>
            <a:ext cx="581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ALPHASYNTH INTELLIGENCE</a:t>
            </a:r>
          </a:p>
        </p:txBody>
      </p:sp>
      <p:sp>
        <p:nvSpPr>
          <p:cNvPr id="3" name="">
            <a:extLst xmlns:a="http://schemas.openxmlformats.org/drawingml/2006/main">
              <a:ext uri="{FF2B5EF4-FFF2-40B4-BE49-F238E27FC236}">
                <a16:creationId xmlns:a16="http://schemas.microsoft.com/office/drawing/2014/main" id="{ED20BCF9-4DB9-45D8-809E-6479BB3F13AD}"/>
              </a:ext>
            </a:extLst>
          </p:cNvPr>
          <p:cNvSpPr>
            <a:spLocks xmlns:a="http://schemas.openxmlformats.org/drawingml/2006/main" noGrp="1"/>
          </p:cNvSpPr>
          <p:nvPr/>
        </p:nvSpPr>
        <p:spPr>
          <a:xfrm xmlns:a="http://schemas.openxmlformats.org/drawingml/2006/main">
            <a:off x="666750" y="2047875"/>
            <a:ext cx="8286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8FAFC"/>
                </a:solidFill>
                <a:latin typeface="Aptos"/>
                <a:ea typeface="Aptos"/>
                <a:cs typeface="Aptos"/>
              </a:defRPr>
            </a:pPr>
            <a:r>
              <a:rPr sz="3675" b="1">
                <a:solidFill>
                  <a:srgbClr val="F8FAFC"/>
                </a:solidFill>
                <a:latin typeface="Aptos"/>
                <a:ea typeface="Aptos"/>
                <a:cs typeface="Aptos"/>
              </a:rPr>
              <a:t>Business momentum with an evidence trail</a:t>
            </a:r>
          </a:p>
        </p:txBody>
      </p:sp>
      <p:sp>
        <p:nvSpPr>
          <p:cNvPr id="4" name="">
            <a:extLst xmlns:a="http://schemas.openxmlformats.org/drawingml/2006/main">
              <a:ext uri="{FF2B5EF4-FFF2-40B4-BE49-F238E27FC236}">
                <a16:creationId xmlns:a16="http://schemas.microsoft.com/office/drawing/2014/main" id="{8E44E98C-B4FF-429D-8C67-867471A01724}"/>
              </a:ext>
            </a:extLst>
          </p:cNvPr>
          <p:cNvSpPr>
            <a:spLocks xmlns:a="http://schemas.openxmlformats.org/drawingml/2006/main" noGrp="1"/>
          </p:cNvSpPr>
          <p:nvPr/>
        </p:nvSpPr>
        <p:spPr>
          <a:xfrm xmlns:a="http://schemas.openxmlformats.org/drawingml/2006/main">
            <a:off x="666750" y="3581400"/>
            <a:ext cx="809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7D9C8"/>
                </a:solidFill>
                <a:latin typeface="Aptos"/>
                <a:ea typeface="Aptos"/>
                <a:cs typeface="Aptos"/>
              </a:defRPr>
            </a:pPr>
            <a:r>
              <a:rPr sz="1800" b="1">
                <a:solidFill>
                  <a:srgbClr val="27D9C8"/>
                </a:solidFill>
                <a:latin typeface="Aptos"/>
                <a:ea typeface="Aptos"/>
                <a:cs typeface="Aptos"/>
              </a:rPr>
              <a:t>A product walkthrough for AI builders and market researchers</a:t>
            </a:r>
          </a:p>
        </p:txBody>
      </p:sp>
      <p:sp>
        <p:nvSpPr>
          <p:cNvPr id="5" name="">
            <a:extLst xmlns:a="http://schemas.openxmlformats.org/drawingml/2006/main">
              <a:ext uri="{FF2B5EF4-FFF2-40B4-BE49-F238E27FC236}">
                <a16:creationId xmlns:a16="http://schemas.microsoft.com/office/drawing/2014/main" id="{3F6878B5-DCDE-4A72-8023-2D46C8E800ED}"/>
              </a:ext>
            </a:extLst>
          </p:cNvPr>
          <p:cNvSpPr>
            <a:spLocks xmlns:a="http://schemas.openxmlformats.org/drawingml/2006/main" noGrp="1"/>
          </p:cNvSpPr>
          <p:nvPr/>
        </p:nvSpPr>
        <p:spPr>
          <a:xfrm xmlns:a="http://schemas.openxmlformats.org/drawingml/2006/main">
            <a:off x="666750" y="4552950"/>
            <a:ext cx="857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4DDEA"/>
                </a:solidFill>
                <a:latin typeface="Aptos"/>
                <a:ea typeface="Aptos"/>
                <a:cs typeface="Aptos"/>
              </a:defRPr>
            </a:pPr>
            <a:r>
              <a:rPr sz="1650" b="0">
                <a:solidFill>
                  <a:srgbClr val="D4DDEA"/>
                </a:solidFill>
                <a:latin typeface="Aptos"/>
                <a:ea typeface="Aptos"/>
                <a:cs typeface="Aptos"/>
              </a:rPr>
              <a:t>AlphaSynth monitors a 477-company BMS universe, explains why a signal appeared, checks later results and opens a broader company review when more research is needed.</a:t>
            </a:r>
          </a:p>
        </p:txBody>
      </p:sp>
      <p:sp>
        <p:nvSpPr>
          <p:cNvPr id="6" name="">
            <a:extLst xmlns:a="http://schemas.openxmlformats.org/drawingml/2006/main">
              <a:ext uri="{FF2B5EF4-FFF2-40B4-BE49-F238E27FC236}">
                <a16:creationId xmlns:a16="http://schemas.microsoft.com/office/drawing/2014/main" id="{9F4F5A6F-660B-4988-8C00-A02D5F26736C}"/>
              </a:ext>
            </a:extLst>
          </p:cNvPr>
          <p:cNvSpPr>
            <a:spLocks xmlns:a="http://schemas.openxmlformats.org/drawingml/2006/main" noGrp="1"/>
          </p:cNvSpPr>
          <p:nvPr/>
        </p:nvSpPr>
        <p:spPr>
          <a:xfrm xmlns:a="http://schemas.openxmlformats.org/drawingml/2006/main">
            <a:off x="666750" y="6496050"/>
            <a:ext cx="8953500" cy="1504950"/>
          </a:xfrm>
          <a:prstGeom xmlns:a="http://schemas.openxmlformats.org/drawingml/2006/main" prst="roundRect">
            <a:avLst>
              <a:gd name="adj" fmla="val 10127"/>
            </a:avLst>
          </a:prstGeom>
          <a:solidFill xmlns:a="http://schemas.openxmlformats.org/drawingml/2006/main">
            <a:srgbClr val="0D2430"/>
          </a:solidFill>
          <a:ln xmlns:a="http://schemas.openxmlformats.org/drawingml/2006/main" w="9525">
            <a:solidFill>
              <a:srgbClr val="27D9C8"/>
            </a:solidFill>
          </a:ln>
        </p:spPr>
      </p:sp>
      <p:sp>
        <p:nvSpPr>
          <p:cNvPr id="7" name="">
            <a:extLst xmlns:a="http://schemas.openxmlformats.org/drawingml/2006/main">
              <a:ext uri="{FF2B5EF4-FFF2-40B4-BE49-F238E27FC236}">
                <a16:creationId xmlns:a16="http://schemas.microsoft.com/office/drawing/2014/main" id="{248562CA-6A88-4C7D-9068-162CDED647A3}"/>
              </a:ext>
            </a:extLst>
          </p:cNvPr>
          <p:cNvSpPr>
            <a:spLocks xmlns:a="http://schemas.openxmlformats.org/drawingml/2006/main" noGrp="1"/>
          </p:cNvSpPr>
          <p:nvPr/>
        </p:nvSpPr>
        <p:spPr>
          <a:xfrm xmlns:a="http://schemas.openxmlformats.org/drawingml/2006/main">
            <a:off x="952500" y="6781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27D9C8"/>
                </a:solidFill>
                <a:latin typeface="Aptos"/>
                <a:ea typeface="Aptos"/>
                <a:cs typeface="Aptos"/>
              </a:defRPr>
            </a:pPr>
            <a:r>
              <a:rPr sz="1275" b="1">
                <a:solidFill>
                  <a:srgbClr val="27D9C8"/>
                </a:solidFill>
                <a:latin typeface="Aptos"/>
                <a:ea typeface="Aptos"/>
                <a:cs typeface="Aptos"/>
              </a:rPr>
              <a:t>What it does</a:t>
            </a:r>
          </a:p>
        </p:txBody>
      </p:sp>
      <p:sp>
        <p:nvSpPr>
          <p:cNvPr id="8" name="">
            <a:extLst xmlns:a="http://schemas.openxmlformats.org/drawingml/2006/main">
              <a:ext uri="{FF2B5EF4-FFF2-40B4-BE49-F238E27FC236}">
                <a16:creationId xmlns:a16="http://schemas.microsoft.com/office/drawing/2014/main" id="{5290996A-AE33-4BD8-BD40-7C1B073E1C86}"/>
              </a:ext>
            </a:extLst>
          </p:cNvPr>
          <p:cNvSpPr>
            <a:spLocks xmlns:a="http://schemas.openxmlformats.org/drawingml/2006/main" noGrp="1"/>
          </p:cNvSpPr>
          <p:nvPr/>
        </p:nvSpPr>
        <p:spPr>
          <a:xfrm xmlns:a="http://schemas.openxmlformats.org/drawingml/2006/main">
            <a:off x="952500" y="71437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8FAFC"/>
                </a:solidFill>
                <a:latin typeface="Aptos"/>
                <a:ea typeface="Aptos"/>
                <a:cs typeface="Aptos"/>
              </a:defRPr>
            </a:pPr>
            <a:r>
              <a:rPr sz="1275" b="0">
                <a:solidFill>
                  <a:srgbClr val="F8FAFC"/>
                </a:solidFill>
                <a:latin typeface="Aptos"/>
                <a:ea typeface="Aptos"/>
                <a:cs typeface="Aptos"/>
              </a:rPr>
              <a:t>Prioritises companies whose reported business momentum may deserve further research.</a:t>
            </a:r>
          </a:p>
        </p:txBody>
      </p:sp>
      <p:sp>
        <p:nvSpPr>
          <p:cNvPr id="9" name="">
            <a:extLst xmlns:a="http://schemas.openxmlformats.org/drawingml/2006/main">
              <a:ext uri="{FF2B5EF4-FFF2-40B4-BE49-F238E27FC236}">
                <a16:creationId xmlns:a16="http://schemas.microsoft.com/office/drawing/2014/main" id="{599D7C50-8DDE-4271-ADB9-D5BDD5B6645B}"/>
              </a:ext>
            </a:extLst>
          </p:cNvPr>
          <p:cNvSpPr>
            <a:spLocks xmlns:a="http://schemas.openxmlformats.org/drawingml/2006/main" noGrp="1"/>
          </p:cNvSpPr>
          <p:nvPr/>
        </p:nvSpPr>
        <p:spPr>
          <a:xfrm xmlns:a="http://schemas.openxmlformats.org/drawingml/2006/main">
            <a:off x="5238750" y="67818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7B640"/>
                </a:solidFill>
                <a:latin typeface="Aptos"/>
                <a:ea typeface="Aptos"/>
                <a:cs typeface="Aptos"/>
              </a:defRPr>
            </a:pPr>
            <a:r>
              <a:rPr sz="1275" b="1">
                <a:solidFill>
                  <a:srgbClr val="E7B640"/>
                </a:solidFill>
                <a:latin typeface="Aptos"/>
                <a:ea typeface="Aptos"/>
                <a:cs typeface="Aptos"/>
              </a:rPr>
              <a:t>What it does not claim</a:t>
            </a:r>
          </a:p>
        </p:txBody>
      </p:sp>
      <p:sp>
        <p:nvSpPr>
          <p:cNvPr id="10" name="">
            <a:extLst xmlns:a="http://schemas.openxmlformats.org/drawingml/2006/main">
              <a:ext uri="{FF2B5EF4-FFF2-40B4-BE49-F238E27FC236}">
                <a16:creationId xmlns:a16="http://schemas.microsoft.com/office/drawing/2014/main" id="{CCBF1FF0-1FC0-4473-8D6E-C277DF42317B}"/>
              </a:ext>
            </a:extLst>
          </p:cNvPr>
          <p:cNvSpPr>
            <a:spLocks xmlns:a="http://schemas.openxmlformats.org/drawingml/2006/main" noGrp="1"/>
          </p:cNvSpPr>
          <p:nvPr/>
        </p:nvSpPr>
        <p:spPr>
          <a:xfrm xmlns:a="http://schemas.openxmlformats.org/drawingml/2006/main">
            <a:off x="5238750" y="7143750"/>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F8FAFC"/>
                </a:solidFill>
                <a:latin typeface="Aptos"/>
                <a:ea typeface="Aptos"/>
                <a:cs typeface="Aptos"/>
              </a:defRPr>
            </a:pPr>
            <a:r>
              <a:rPr sz="1275" b="0">
                <a:solidFill>
                  <a:srgbClr val="F8FAFC"/>
                </a:solidFill>
                <a:latin typeface="Aptos"/>
                <a:ea typeface="Aptos"/>
                <a:cs typeface="Aptos"/>
              </a:rPr>
              <a:t>It does not predict returns, set a target price or provide a buy or sell recommendation.</a:t>
            </a:r>
          </a:p>
        </p:txBody>
      </p:sp>
      <p:sp>
        <p:nvSpPr>
          <p:cNvPr id="11" name="">
            <a:extLst xmlns:a="http://schemas.openxmlformats.org/drawingml/2006/main">
              <a:ext uri="{FF2B5EF4-FFF2-40B4-BE49-F238E27FC236}">
                <a16:creationId xmlns:a16="http://schemas.microsoft.com/office/drawing/2014/main" id="{00D589E1-A079-41F9-95B5-63FC69078780}"/>
              </a:ext>
            </a:extLst>
          </p:cNvPr>
          <p:cNvSpPr>
            <a:spLocks xmlns:a="http://schemas.openxmlformats.org/drawingml/2006/main" noGrp="1"/>
          </p:cNvSpPr>
          <p:nvPr/>
        </p:nvSpPr>
        <p:spPr>
          <a:xfrm xmlns:a="http://schemas.openxmlformats.org/drawingml/2006/main">
            <a:off x="666750" y="8810625"/>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E7B640"/>
                </a:solidFill>
                <a:latin typeface="Aptos"/>
                <a:ea typeface="Aptos"/>
                <a:cs typeface="Aptos"/>
              </a:defRPr>
            </a:pPr>
            <a:r>
              <a:rPr sz="1275" b="1">
                <a:solidFill>
                  <a:srgbClr val="E7B640"/>
                </a:solidFill>
                <a:latin typeface="Aptos"/>
                <a:ea typeface="Aptos"/>
                <a:cs typeface="Aptos"/>
              </a:rPr>
              <a:t>Live pilot: expectation-pilot---alphasynth-equity-oqc2y4ogda-uc.a.run.app</a:t>
            </a:r>
          </a:p>
        </p:txBody>
      </p:sp>
    </p:spTree>
    <p:extLst>
      <p:ext uri="{BB962C8B-B14F-4D97-AF65-F5344CB8AC3E}">
        <p14:creationId xmlns:p14="http://schemas.microsoft.com/office/powerpoint/2010/main" val="1150362524"/>
      </p:ext>
    </p:extLst>
  </p:cSld>
</p:sld>
</file>

<file path=ppt/slides/slide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E91FD98-E9FD-40A8-9603-6DD7A44BE9B8}"/>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FA5781-CE4A-4751-A435-E393443286DF}"/>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3A55AACF-9918-49A1-8D96-FE5324586CCD}"/>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The research journey</a:t>
            </a:r>
          </a:p>
        </p:txBody>
      </p:sp>
      <p:sp>
        <p:nvSpPr>
          <p:cNvPr id="4" name="">
            <a:extLst xmlns:a="http://schemas.openxmlformats.org/drawingml/2006/main">
              <a:ext uri="{FF2B5EF4-FFF2-40B4-BE49-F238E27FC236}">
                <a16:creationId xmlns:a16="http://schemas.microsoft.com/office/drawing/2014/main" id="{41D7EFAB-47DC-4DD2-9153-4C728AE9160C}"/>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Each layer answers a separate question. A user can stop after any layer.</a:t>
            </a:r>
          </a:p>
        </p:txBody>
      </p:sp>
      <p:sp>
        <p:nvSpPr>
          <p:cNvPr id="5" name="">
            <a:extLst xmlns:a="http://schemas.openxmlformats.org/drawingml/2006/main">
              <a:ext uri="{FF2B5EF4-FFF2-40B4-BE49-F238E27FC236}">
                <a16:creationId xmlns:a16="http://schemas.microsoft.com/office/drawing/2014/main" id="{B2D0A789-918E-41B5-9F37-CBC99CC2F03D}"/>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7F49BDCF-E635-45E3-95E7-92E36D67EBBF}"/>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02</a:t>
            </a:r>
          </a:p>
        </p:txBody>
      </p:sp>
      <p:sp>
        <p:nvSpPr>
          <p:cNvPr id="7" name="">
            <a:extLst xmlns:a="http://schemas.openxmlformats.org/drawingml/2006/main">
              <a:ext uri="{FF2B5EF4-FFF2-40B4-BE49-F238E27FC236}">
                <a16:creationId xmlns:a16="http://schemas.microsoft.com/office/drawing/2014/main" id="{D7234B58-7375-4E8B-A239-18F46059C281}"/>
              </a:ext>
            </a:extLst>
          </p:cNvPr>
          <p:cNvSpPr>
            <a:spLocks xmlns:a="http://schemas.openxmlformats.org/drawingml/2006/main" noGrp="1"/>
          </p:cNvSpPr>
          <p:nvPr/>
        </p:nvSpPr>
        <p:spPr>
          <a:xfrm xmlns:a="http://schemas.openxmlformats.org/drawingml/2006/main">
            <a:off x="762000" y="2724150"/>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7D9C8"/>
                </a:solidFill>
                <a:latin typeface="Aptos"/>
                <a:ea typeface="Aptos"/>
                <a:cs typeface="Aptos"/>
              </a:defRPr>
            </a:pPr>
            <a:r>
              <a:rPr sz="2850" b="1">
                <a:solidFill>
                  <a:srgbClr val="27D9C8"/>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BBC7F8B5-F5E7-4555-9808-8E87FD36F423}"/>
              </a:ext>
            </a:extLst>
          </p:cNvPr>
          <p:cNvSpPr>
            <a:spLocks xmlns:a="http://schemas.openxmlformats.org/drawingml/2006/main" noGrp="1"/>
          </p:cNvSpPr>
          <p:nvPr/>
        </p:nvSpPr>
        <p:spPr>
          <a:xfrm xmlns:a="http://schemas.openxmlformats.org/drawingml/2006/main">
            <a:off x="1714500" y="272415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Signal Tracker</a:t>
            </a:r>
          </a:p>
        </p:txBody>
      </p:sp>
      <p:sp>
        <p:nvSpPr>
          <p:cNvPr id="9" name="">
            <a:extLst xmlns:a="http://schemas.openxmlformats.org/drawingml/2006/main">
              <a:ext uri="{FF2B5EF4-FFF2-40B4-BE49-F238E27FC236}">
                <a16:creationId xmlns:a16="http://schemas.microsoft.com/office/drawing/2014/main" id="{2140F566-3EC7-406F-B57D-0BE593EC044A}"/>
              </a:ext>
            </a:extLst>
          </p:cNvPr>
          <p:cNvSpPr>
            <a:spLocks xmlns:a="http://schemas.openxmlformats.org/drawingml/2006/main" noGrp="1"/>
          </p:cNvSpPr>
          <p:nvPr/>
        </p:nvSpPr>
        <p:spPr>
          <a:xfrm xmlns:a="http://schemas.openxmlformats.org/drawingml/2006/main">
            <a:off x="4572000" y="272415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Which companies show a change in reported business momentum?</a:t>
            </a:r>
          </a:p>
        </p:txBody>
      </p:sp>
      <p:sp>
        <p:nvSpPr>
          <p:cNvPr id="10" name="">
            <a:extLst xmlns:a="http://schemas.openxmlformats.org/drawingml/2006/main">
              <a:ext uri="{FF2B5EF4-FFF2-40B4-BE49-F238E27FC236}">
                <a16:creationId xmlns:a16="http://schemas.microsoft.com/office/drawing/2014/main" id="{6C127F3A-9A7E-44E4-857C-B2D28AE62E53}"/>
              </a:ext>
            </a:extLst>
          </p:cNvPr>
          <p:cNvSpPr>
            <a:spLocks xmlns:a="http://schemas.openxmlformats.org/drawingml/2006/main" noGrp="1"/>
          </p:cNvSpPr>
          <p:nvPr/>
        </p:nvSpPr>
        <p:spPr>
          <a:xfrm xmlns:a="http://schemas.openxmlformats.org/drawingml/2006/main">
            <a:off x="1028700" y="3505200"/>
            <a:ext cx="38100" cy="523875"/>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0E0A307-2FC6-4296-9DEF-4D773EAD7910}"/>
              </a:ext>
            </a:extLst>
          </p:cNvPr>
          <p:cNvSpPr>
            <a:spLocks xmlns:a="http://schemas.openxmlformats.org/drawingml/2006/main" noGrp="1"/>
          </p:cNvSpPr>
          <p:nvPr/>
        </p:nvSpPr>
        <p:spPr>
          <a:xfrm xmlns:a="http://schemas.openxmlformats.org/drawingml/2006/main">
            <a:off x="762000" y="4200525"/>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7D9C8"/>
                </a:solidFill>
                <a:latin typeface="Aptos"/>
                <a:ea typeface="Aptos"/>
                <a:cs typeface="Aptos"/>
              </a:defRPr>
            </a:pPr>
            <a:r>
              <a:rPr sz="2850" b="1">
                <a:solidFill>
                  <a:srgbClr val="27D9C8"/>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E41466BD-37D5-4A78-8A2A-0265BD8C1E52}"/>
              </a:ext>
            </a:extLst>
          </p:cNvPr>
          <p:cNvSpPr>
            <a:spLocks xmlns:a="http://schemas.openxmlformats.org/drawingml/2006/main" noGrp="1"/>
          </p:cNvSpPr>
          <p:nvPr/>
        </p:nvSpPr>
        <p:spPr>
          <a:xfrm xmlns:a="http://schemas.openxmlformats.org/drawingml/2006/main">
            <a:off x="1714500" y="42005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Evidence Report</a:t>
            </a:r>
          </a:p>
        </p:txBody>
      </p:sp>
      <p:sp>
        <p:nvSpPr>
          <p:cNvPr id="13" name="">
            <a:extLst xmlns:a="http://schemas.openxmlformats.org/drawingml/2006/main">
              <a:ext uri="{FF2B5EF4-FFF2-40B4-BE49-F238E27FC236}">
                <a16:creationId xmlns:a16="http://schemas.microsoft.com/office/drawing/2014/main" id="{97B1ABCE-8ACD-462E-A3F6-FD5B94608A94}"/>
              </a:ext>
            </a:extLst>
          </p:cNvPr>
          <p:cNvSpPr>
            <a:spLocks xmlns:a="http://schemas.openxmlformats.org/drawingml/2006/main" noGrp="1"/>
          </p:cNvSpPr>
          <p:nvPr/>
        </p:nvSpPr>
        <p:spPr>
          <a:xfrm xmlns:a="http://schemas.openxmlformats.org/drawingml/2006/main">
            <a:off x="4572000" y="4200525"/>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What inputs support the signal and where is the evidence incomplete?</a:t>
            </a:r>
          </a:p>
        </p:txBody>
      </p:sp>
      <p:sp>
        <p:nvSpPr>
          <p:cNvPr id="14" name="">
            <a:extLst xmlns:a="http://schemas.openxmlformats.org/drawingml/2006/main">
              <a:ext uri="{FF2B5EF4-FFF2-40B4-BE49-F238E27FC236}">
                <a16:creationId xmlns:a16="http://schemas.microsoft.com/office/drawing/2014/main" id="{0C93F27F-CDD2-4454-BC91-EE3B88EF96A1}"/>
              </a:ext>
            </a:extLst>
          </p:cNvPr>
          <p:cNvSpPr>
            <a:spLocks xmlns:a="http://schemas.openxmlformats.org/drawingml/2006/main" noGrp="1"/>
          </p:cNvSpPr>
          <p:nvPr/>
        </p:nvSpPr>
        <p:spPr>
          <a:xfrm xmlns:a="http://schemas.openxmlformats.org/drawingml/2006/main">
            <a:off x="1028700" y="4981575"/>
            <a:ext cx="38100" cy="523875"/>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0A43875E-5C58-4CD5-AD3B-DB5711B0AA8A}"/>
              </a:ext>
            </a:extLst>
          </p:cNvPr>
          <p:cNvSpPr>
            <a:spLocks xmlns:a="http://schemas.openxmlformats.org/drawingml/2006/main" noGrp="1"/>
          </p:cNvSpPr>
          <p:nvPr/>
        </p:nvSpPr>
        <p:spPr>
          <a:xfrm xmlns:a="http://schemas.openxmlformats.org/drawingml/2006/main">
            <a:off x="762000" y="5676900"/>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7D9C8"/>
                </a:solidFill>
                <a:latin typeface="Aptos"/>
                <a:ea typeface="Aptos"/>
                <a:cs typeface="Aptos"/>
              </a:defRPr>
            </a:pPr>
            <a:r>
              <a:rPr sz="2850" b="1">
                <a:solidFill>
                  <a:srgbClr val="27D9C8"/>
                </a:solidFill>
                <a:latin typeface="Aptos"/>
                <a:ea typeface="Aptos"/>
                <a:cs typeface="Aptos"/>
              </a:rPr>
              <a:t>3</a:t>
            </a:r>
          </a:p>
        </p:txBody>
      </p:sp>
      <p:sp>
        <p:nvSpPr>
          <p:cNvPr id="16" name="">
            <a:extLst xmlns:a="http://schemas.openxmlformats.org/drawingml/2006/main">
              <a:ext uri="{FF2B5EF4-FFF2-40B4-BE49-F238E27FC236}">
                <a16:creationId xmlns:a16="http://schemas.microsoft.com/office/drawing/2014/main" id="{F4919971-5D89-48F7-8DB3-0872BD80313D}"/>
              </a:ext>
            </a:extLst>
          </p:cNvPr>
          <p:cNvSpPr>
            <a:spLocks xmlns:a="http://schemas.openxmlformats.org/drawingml/2006/main" noGrp="1"/>
          </p:cNvSpPr>
          <p:nvPr/>
        </p:nvSpPr>
        <p:spPr>
          <a:xfrm xmlns:a="http://schemas.openxmlformats.org/drawingml/2006/main">
            <a:off x="1714500" y="5676900"/>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Later Results</a:t>
            </a:r>
          </a:p>
        </p:txBody>
      </p:sp>
      <p:sp>
        <p:nvSpPr>
          <p:cNvPr id="17" name="">
            <a:extLst xmlns:a="http://schemas.openxmlformats.org/drawingml/2006/main">
              <a:ext uri="{FF2B5EF4-FFF2-40B4-BE49-F238E27FC236}">
                <a16:creationId xmlns:a16="http://schemas.microsoft.com/office/drawing/2014/main" id="{3A130C82-DBEE-441B-B17D-3A7FA29EC85D}"/>
              </a:ext>
            </a:extLst>
          </p:cNvPr>
          <p:cNvSpPr>
            <a:spLocks xmlns:a="http://schemas.openxmlformats.org/drawingml/2006/main" noGrp="1"/>
          </p:cNvSpPr>
          <p:nvPr/>
        </p:nvSpPr>
        <p:spPr>
          <a:xfrm xmlns:a="http://schemas.openxmlformats.org/drawingml/2006/main">
            <a:off x="4572000" y="5676900"/>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Do subsequent results still support the earlier lifecycle reading?</a:t>
            </a:r>
          </a:p>
        </p:txBody>
      </p:sp>
      <p:sp>
        <p:nvSpPr>
          <p:cNvPr id="18" name="">
            <a:extLst xmlns:a="http://schemas.openxmlformats.org/drawingml/2006/main">
              <a:ext uri="{FF2B5EF4-FFF2-40B4-BE49-F238E27FC236}">
                <a16:creationId xmlns:a16="http://schemas.microsoft.com/office/drawing/2014/main" id="{A41EBCC4-1ADD-4EC0-9FF4-4A8F2D0BEE24}"/>
              </a:ext>
            </a:extLst>
          </p:cNvPr>
          <p:cNvSpPr>
            <a:spLocks xmlns:a="http://schemas.openxmlformats.org/drawingml/2006/main" noGrp="1"/>
          </p:cNvSpPr>
          <p:nvPr/>
        </p:nvSpPr>
        <p:spPr>
          <a:xfrm xmlns:a="http://schemas.openxmlformats.org/drawingml/2006/main">
            <a:off x="1028700" y="6457950"/>
            <a:ext cx="38100" cy="523875"/>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08117BE-590C-4639-84D0-54AEB8F77068}"/>
              </a:ext>
            </a:extLst>
          </p:cNvPr>
          <p:cNvSpPr>
            <a:spLocks xmlns:a="http://schemas.openxmlformats.org/drawingml/2006/main" noGrp="1"/>
          </p:cNvSpPr>
          <p:nvPr/>
        </p:nvSpPr>
        <p:spPr>
          <a:xfrm xmlns:a="http://schemas.openxmlformats.org/drawingml/2006/main">
            <a:off x="762000" y="7153275"/>
            <a:ext cx="60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E7B640"/>
                </a:solidFill>
                <a:latin typeface="Aptos"/>
                <a:ea typeface="Aptos"/>
                <a:cs typeface="Aptos"/>
              </a:defRPr>
            </a:pPr>
            <a:r>
              <a:rPr sz="2850" b="1">
                <a:solidFill>
                  <a:srgbClr val="E7B640"/>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137EE074-3454-4D50-B5AA-F9315B40216F}"/>
              </a:ext>
            </a:extLst>
          </p:cNvPr>
          <p:cNvSpPr>
            <a:spLocks xmlns:a="http://schemas.openxmlformats.org/drawingml/2006/main" noGrp="1"/>
          </p:cNvSpPr>
          <p:nvPr/>
        </p:nvSpPr>
        <p:spPr>
          <a:xfrm xmlns:a="http://schemas.openxmlformats.org/drawingml/2006/main">
            <a:off x="1714500" y="715327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8FAFC"/>
                </a:solidFill>
                <a:latin typeface="Aptos"/>
                <a:ea typeface="Aptos"/>
                <a:cs typeface="Aptos"/>
              </a:defRPr>
            </a:pPr>
            <a:r>
              <a:rPr sz="1800" b="1">
                <a:solidFill>
                  <a:srgbClr val="F8FAFC"/>
                </a:solidFill>
                <a:latin typeface="Aptos"/>
                <a:ea typeface="Aptos"/>
                <a:cs typeface="Aptos"/>
              </a:rPr>
              <a:t>Deep Dive</a:t>
            </a:r>
          </a:p>
        </p:txBody>
      </p:sp>
      <p:sp>
        <p:nvSpPr>
          <p:cNvPr id="21" name="">
            <a:extLst xmlns:a="http://schemas.openxmlformats.org/drawingml/2006/main">
              <a:ext uri="{FF2B5EF4-FFF2-40B4-BE49-F238E27FC236}">
                <a16:creationId xmlns:a16="http://schemas.microsoft.com/office/drawing/2014/main" id="{8CFCA029-D6AD-44ED-B417-3BF8875FFCB5}"/>
              </a:ext>
            </a:extLst>
          </p:cNvPr>
          <p:cNvSpPr>
            <a:spLocks xmlns:a="http://schemas.openxmlformats.org/drawingml/2006/main" noGrp="1"/>
          </p:cNvSpPr>
          <p:nvPr/>
        </p:nvSpPr>
        <p:spPr>
          <a:xfrm xmlns:a="http://schemas.openxmlformats.org/drawingml/2006/main">
            <a:off x="4572000" y="7153275"/>
            <a:ext cx="4762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What does a broader company, valuation and risk review reveal?</a:t>
            </a:r>
          </a:p>
        </p:txBody>
      </p:sp>
      <p:sp>
        <p:nvSpPr>
          <p:cNvPr id="22" name="">
            <a:extLst xmlns:a="http://schemas.openxmlformats.org/drawingml/2006/main">
              <a:ext uri="{FF2B5EF4-FFF2-40B4-BE49-F238E27FC236}">
                <a16:creationId xmlns:a16="http://schemas.microsoft.com/office/drawing/2014/main" id="{900456D0-375E-4496-AB5F-F29D9462DBD6}"/>
              </a:ext>
            </a:extLst>
          </p:cNvPr>
          <p:cNvSpPr>
            <a:spLocks xmlns:a="http://schemas.openxmlformats.org/drawingml/2006/main" noGrp="1"/>
          </p:cNvSpPr>
          <p:nvPr/>
        </p:nvSpPr>
        <p:spPr>
          <a:xfrm xmlns:a="http://schemas.openxmlformats.org/drawingml/2006/main">
            <a:off x="857250" y="88106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The 477-company BMS tracker and the broader on-demand Deep Dive have different coverage. A Deep Dive result does not create a BMS lifecycle by itself.</a:t>
            </a:r>
          </a:p>
        </p:txBody>
      </p:sp>
    </p:spTree>
    <p:extLst>
      <p:ext uri="{BB962C8B-B14F-4D97-AF65-F5344CB8AC3E}">
        <p14:creationId xmlns:p14="http://schemas.microsoft.com/office/powerpoint/2010/main" val="1516004589"/>
      </p:ext>
    </p:extLst>
  </p:cSld>
</p:sld>
</file>

<file path=ppt/slides/slide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A9F72F7-D959-497B-B8E0-06093818C0FD}"/>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1049AA-3728-44D9-BBCC-CDA9D76B92D5}"/>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5C89BEA8-728F-421A-BFF4-FA9C124F614F}"/>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Signal Tracker</a:t>
            </a:r>
          </a:p>
        </p:txBody>
      </p:sp>
      <p:sp>
        <p:nvSpPr>
          <p:cNvPr id="4" name="">
            <a:extLst xmlns:a="http://schemas.openxmlformats.org/drawingml/2006/main">
              <a:ext uri="{FF2B5EF4-FFF2-40B4-BE49-F238E27FC236}">
                <a16:creationId xmlns:a16="http://schemas.microsoft.com/office/drawing/2014/main" id="{08047A04-FF8D-45B3-B350-2C4E055DB042}"/>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lifecycle filter and company list turn the universe into a research queue.</a:t>
            </a:r>
          </a:p>
        </p:txBody>
      </p:sp>
      <p:sp>
        <p:nvSpPr>
          <p:cNvPr id="5" name="">
            <a:extLst xmlns:a="http://schemas.openxmlformats.org/drawingml/2006/main">
              <a:ext uri="{FF2B5EF4-FFF2-40B4-BE49-F238E27FC236}">
                <a16:creationId xmlns:a16="http://schemas.microsoft.com/office/drawing/2014/main" id="{59D84918-2A0D-4C08-A667-B088882666D2}"/>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5C6C38A1-E438-4C36-BD56-FE4099404238}"/>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03</a:t>
            </a:r>
          </a:p>
        </p:txBody>
      </p:sp>
      <p:sp>
        <p:nvSpPr>
          <p:cNvPr id="7" name="">
            <a:extLst xmlns:a="http://schemas.openxmlformats.org/drawingml/2006/main">
              <a:ext uri="{FF2B5EF4-FFF2-40B4-BE49-F238E27FC236}">
                <a16:creationId xmlns:a16="http://schemas.microsoft.com/office/drawing/2014/main" id="{6D527ABC-B091-48B0-A61E-F57631ACBF3F}"/>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09c61e797ba4cf1"/>
          <a:stretch xmlns:a="http://schemas.openxmlformats.org/drawingml/2006/main"/>
        </p:blipFill>
        <p:spPr>
          <a:xfrm xmlns:a="http://schemas.openxmlformats.org/drawingml/2006/main">
            <a:off x="928181" y="2333625"/>
            <a:ext cx="8430638"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16730E7-36CA-4C23-9B74-036455F776C5}"/>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What the user sees</a:t>
            </a:r>
          </a:p>
        </p:txBody>
      </p:sp>
      <p:sp>
        <p:nvSpPr>
          <p:cNvPr id="10" name="">
            <a:extLst xmlns:a="http://schemas.openxmlformats.org/drawingml/2006/main">
              <a:ext uri="{FF2B5EF4-FFF2-40B4-BE49-F238E27FC236}">
                <a16:creationId xmlns:a16="http://schemas.microsoft.com/office/drawing/2014/main" id="{F66FD562-7D27-437D-9A70-0F790E6FD8A0}"/>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Several companies remain visible while the selected company shows its current BMS reading, change since the previous result and a plain-language research brief.</a:t>
            </a:r>
          </a:p>
        </p:txBody>
      </p:sp>
    </p:spTree>
    <p:extLst>
      <p:ext uri="{BB962C8B-B14F-4D97-AF65-F5344CB8AC3E}">
        <p14:creationId xmlns:p14="http://schemas.microsoft.com/office/powerpoint/2010/main" val="1480448141"/>
      </p:ext>
    </p:extLst>
  </p:cSld>
</p:sld>
</file>

<file path=ppt/slides/slide4.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9DF520-81B6-4CFF-A5F7-B783544A1D4E}"/>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5D34AE-C053-44B0-A387-4EEAE4536F2A}"/>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2A6DBFC6-870E-406A-B9FC-17DC0B1FAFD9}"/>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Why this signal?</a:t>
            </a:r>
          </a:p>
        </p:txBody>
      </p:sp>
      <p:sp>
        <p:nvSpPr>
          <p:cNvPr id="4" name="">
            <a:extLst xmlns:a="http://schemas.openxmlformats.org/drawingml/2006/main">
              <a:ext uri="{FF2B5EF4-FFF2-40B4-BE49-F238E27FC236}">
                <a16:creationId xmlns:a16="http://schemas.microsoft.com/office/drawing/2014/main" id="{38674DEF-F8AA-43F3-B065-4E84BC3759F9}"/>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evidence workspace separates the recorded BMS score from the strength of evidence supporting it.</a:t>
            </a:r>
          </a:p>
        </p:txBody>
      </p:sp>
      <p:sp>
        <p:nvSpPr>
          <p:cNvPr id="5" name="">
            <a:extLst xmlns:a="http://schemas.openxmlformats.org/drawingml/2006/main">
              <a:ext uri="{FF2B5EF4-FFF2-40B4-BE49-F238E27FC236}">
                <a16:creationId xmlns:a16="http://schemas.microsoft.com/office/drawing/2014/main" id="{57B5815D-7665-4B49-8676-35391FAAB20F}"/>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6C504F16-1010-422E-A928-3792EA87E7EA}"/>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04</a:t>
            </a:r>
          </a:p>
        </p:txBody>
      </p:sp>
      <p:sp>
        <p:nvSpPr>
          <p:cNvPr id="7" name="">
            <a:extLst xmlns:a="http://schemas.openxmlformats.org/drawingml/2006/main">
              <a:ext uri="{FF2B5EF4-FFF2-40B4-BE49-F238E27FC236}">
                <a16:creationId xmlns:a16="http://schemas.microsoft.com/office/drawing/2014/main" id="{6B58984B-1211-44A0-8BAB-940D9E0C52FB}"/>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34a6950d46354069"/>
          <a:stretch xmlns:a="http://schemas.openxmlformats.org/drawingml/2006/main"/>
        </p:blipFill>
        <p:spPr>
          <a:xfrm xmlns:a="http://schemas.openxmlformats.org/drawingml/2006/main">
            <a:off x="928181" y="2333625"/>
            <a:ext cx="8430638"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18E3B0F3-F2DA-4B77-AB52-422EE948626C}"/>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Inspectable inputs</a:t>
            </a:r>
          </a:p>
        </p:txBody>
      </p:sp>
      <p:sp>
        <p:nvSpPr>
          <p:cNvPr id="10" name="">
            <a:extLst xmlns:a="http://schemas.openxmlformats.org/drawingml/2006/main">
              <a:ext uri="{FF2B5EF4-FFF2-40B4-BE49-F238E27FC236}">
                <a16:creationId xmlns:a16="http://schemas.microsoft.com/office/drawing/2014/main" id="{B99863D6-E145-4C33-9977-709A828A7391}"/>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Previous and current periods, rupee crore units, percentages and evidence confidence remain visible. Missing factors stay unavailable rather than becoming neutral scores.</a:t>
            </a:r>
          </a:p>
        </p:txBody>
      </p:sp>
    </p:spTree>
    <p:extLst>
      <p:ext uri="{BB962C8B-B14F-4D97-AF65-F5344CB8AC3E}">
        <p14:creationId xmlns:p14="http://schemas.microsoft.com/office/powerpoint/2010/main" val="1570349503"/>
      </p:ext>
    </p:extLst>
  </p:cSld>
</p:sld>
</file>

<file path=ppt/slides/slide5.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FD930B-0490-458C-85C7-3CD802520135}"/>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EFA343-DF75-4E10-94C4-BB2AA43D66CF}"/>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1D7799D0-53AB-4817-9145-F8343FC00ED9}"/>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How to read the lifecycle</a:t>
            </a:r>
          </a:p>
        </p:txBody>
      </p:sp>
      <p:sp>
        <p:nvSpPr>
          <p:cNvPr id="4" name="">
            <a:extLst xmlns:a="http://schemas.openxmlformats.org/drawingml/2006/main">
              <a:ext uri="{FF2B5EF4-FFF2-40B4-BE49-F238E27FC236}">
                <a16:creationId xmlns:a16="http://schemas.microsoft.com/office/drawing/2014/main" id="{AF4A67FF-E430-4D0D-BF09-AE726AF9D60C}"/>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score describes the measured direction. A lifecycle describes how that evidence has behaved over successive results.</a:t>
            </a:r>
          </a:p>
        </p:txBody>
      </p:sp>
      <p:sp>
        <p:nvSpPr>
          <p:cNvPr id="5" name="">
            <a:extLst xmlns:a="http://schemas.openxmlformats.org/drawingml/2006/main">
              <a:ext uri="{FF2B5EF4-FFF2-40B4-BE49-F238E27FC236}">
                <a16:creationId xmlns:a16="http://schemas.microsoft.com/office/drawing/2014/main" id="{05A5F75C-E9E3-48F6-87A4-CE6270A9CF35}"/>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851B6210-D4FA-46AA-8489-0025C162AC3C}"/>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05</a:t>
            </a:r>
          </a:p>
        </p:txBody>
      </p:sp>
      <p:sp>
        <p:nvSpPr>
          <p:cNvPr id="7" name="">
            <a:extLst xmlns:a="http://schemas.openxmlformats.org/drawingml/2006/main">
              <a:ext uri="{FF2B5EF4-FFF2-40B4-BE49-F238E27FC236}">
                <a16:creationId xmlns:a16="http://schemas.microsoft.com/office/drawing/2014/main" id="{00FD46E3-CCB1-4A6D-B0E3-4593BB0D0C8E}"/>
              </a:ext>
            </a:extLst>
          </p:cNvPr>
          <p:cNvSpPr>
            <a:spLocks xmlns:a="http://schemas.openxmlformats.org/drawingml/2006/main" noGrp="1"/>
          </p:cNvSpPr>
          <p:nvPr/>
        </p:nvSpPr>
        <p:spPr>
          <a:xfrm xmlns:a="http://schemas.openxmlformats.org/drawingml/2006/main">
            <a:off x="52387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WATCH</a:t>
            </a:r>
          </a:p>
        </p:txBody>
      </p:sp>
      <p:sp>
        <p:nvSpPr>
          <p:cNvPr id="8" name="">
            <a:extLst xmlns:a="http://schemas.openxmlformats.org/drawingml/2006/main">
              <a:ext uri="{FF2B5EF4-FFF2-40B4-BE49-F238E27FC236}">
                <a16:creationId xmlns:a16="http://schemas.microsoft.com/office/drawing/2014/main" id="{90F3C8F4-325C-403C-B24C-6BB97AEA754F}"/>
              </a:ext>
            </a:extLst>
          </p:cNvPr>
          <p:cNvSpPr>
            <a:spLocks xmlns:a="http://schemas.openxmlformats.org/drawingml/2006/main" noGrp="1"/>
          </p:cNvSpPr>
          <p:nvPr/>
        </p:nvSpPr>
        <p:spPr>
          <a:xfrm xmlns:a="http://schemas.openxmlformats.org/drawingml/2006/main">
            <a:off x="52387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A baseline or early reading</a:t>
            </a:r>
          </a:p>
        </p:txBody>
      </p:sp>
      <p:sp>
        <p:nvSpPr>
          <p:cNvPr id="9" name="">
            <a:extLst xmlns:a="http://schemas.openxmlformats.org/drawingml/2006/main">
              <a:ext uri="{FF2B5EF4-FFF2-40B4-BE49-F238E27FC236}">
                <a16:creationId xmlns:a16="http://schemas.microsoft.com/office/drawing/2014/main" id="{8DD776EF-A932-43C2-B07A-CA0C464F470B}"/>
              </a:ext>
            </a:extLst>
          </p:cNvPr>
          <p:cNvSpPr>
            <a:spLocks xmlns:a="http://schemas.openxmlformats.org/drawingml/2006/main" noGrp="1"/>
          </p:cNvSpPr>
          <p:nvPr/>
        </p:nvSpPr>
        <p:spPr>
          <a:xfrm xmlns:a="http://schemas.openxmlformats.org/drawingml/2006/main">
            <a:off x="244792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EMERGING</a:t>
            </a:r>
          </a:p>
        </p:txBody>
      </p:sp>
      <p:sp>
        <p:nvSpPr>
          <p:cNvPr id="10" name="">
            <a:extLst xmlns:a="http://schemas.openxmlformats.org/drawingml/2006/main">
              <a:ext uri="{FF2B5EF4-FFF2-40B4-BE49-F238E27FC236}">
                <a16:creationId xmlns:a16="http://schemas.microsoft.com/office/drawing/2014/main" id="{E0E18F4D-3DCF-4292-B604-7E8914C88E62}"/>
              </a:ext>
            </a:extLst>
          </p:cNvPr>
          <p:cNvSpPr>
            <a:spLocks xmlns:a="http://schemas.openxmlformats.org/drawingml/2006/main" noGrp="1"/>
          </p:cNvSpPr>
          <p:nvPr/>
        </p:nvSpPr>
        <p:spPr>
          <a:xfrm xmlns:a="http://schemas.openxmlformats.org/drawingml/2006/main">
            <a:off x="244792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A positive inflection begins</a:t>
            </a:r>
          </a:p>
        </p:txBody>
      </p:sp>
      <p:sp>
        <p:nvSpPr>
          <p:cNvPr id="11" name="">
            <a:extLst xmlns:a="http://schemas.openxmlformats.org/drawingml/2006/main">
              <a:ext uri="{FF2B5EF4-FFF2-40B4-BE49-F238E27FC236}">
                <a16:creationId xmlns:a16="http://schemas.microsoft.com/office/drawing/2014/main" id="{2A28FC5F-A45B-4AA5-9F99-9EE395DACBF8}"/>
              </a:ext>
            </a:extLst>
          </p:cNvPr>
          <p:cNvSpPr>
            <a:spLocks xmlns:a="http://schemas.openxmlformats.org/drawingml/2006/main" noGrp="1"/>
          </p:cNvSpPr>
          <p:nvPr/>
        </p:nvSpPr>
        <p:spPr>
          <a:xfrm xmlns:a="http://schemas.openxmlformats.org/drawingml/2006/main">
            <a:off x="437197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BUILDING</a:t>
            </a:r>
          </a:p>
        </p:txBody>
      </p:sp>
      <p:sp>
        <p:nvSpPr>
          <p:cNvPr id="12" name="">
            <a:extLst xmlns:a="http://schemas.openxmlformats.org/drawingml/2006/main">
              <a:ext uri="{FF2B5EF4-FFF2-40B4-BE49-F238E27FC236}">
                <a16:creationId xmlns:a16="http://schemas.microsoft.com/office/drawing/2014/main" id="{1C3168CD-D011-49C2-BFF8-DD428A5F01D0}"/>
              </a:ext>
            </a:extLst>
          </p:cNvPr>
          <p:cNvSpPr>
            <a:spLocks xmlns:a="http://schemas.openxmlformats.org/drawingml/2006/main" noGrp="1"/>
          </p:cNvSpPr>
          <p:nvPr/>
        </p:nvSpPr>
        <p:spPr>
          <a:xfrm xmlns:a="http://schemas.openxmlformats.org/drawingml/2006/main">
            <a:off x="437197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More results or factors confirm it</a:t>
            </a:r>
          </a:p>
        </p:txBody>
      </p:sp>
      <p:sp>
        <p:nvSpPr>
          <p:cNvPr id="13" name="">
            <a:extLst xmlns:a="http://schemas.openxmlformats.org/drawingml/2006/main">
              <a:ext uri="{FF2B5EF4-FFF2-40B4-BE49-F238E27FC236}">
                <a16:creationId xmlns:a16="http://schemas.microsoft.com/office/drawing/2014/main" id="{84B19E9F-5E9A-43D6-BE29-97F6801FE164}"/>
              </a:ext>
            </a:extLst>
          </p:cNvPr>
          <p:cNvSpPr>
            <a:spLocks xmlns:a="http://schemas.openxmlformats.org/drawingml/2006/main" noGrp="1"/>
          </p:cNvSpPr>
          <p:nvPr/>
        </p:nvSpPr>
        <p:spPr>
          <a:xfrm xmlns:a="http://schemas.openxmlformats.org/drawingml/2006/main">
            <a:off x="629602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27D9C8"/>
                </a:solidFill>
                <a:latin typeface="Aptos"/>
                <a:ea typeface="Aptos"/>
                <a:cs typeface="Aptos"/>
              </a:defRPr>
            </a:pPr>
            <a:r>
              <a:rPr sz="1350" b="1">
                <a:solidFill>
                  <a:srgbClr val="27D9C8"/>
                </a:solidFill>
                <a:latin typeface="Aptos"/>
                <a:ea typeface="Aptos"/>
                <a:cs typeface="Aptos"/>
              </a:rPr>
              <a:t>ESTABLISHED</a:t>
            </a:r>
          </a:p>
        </p:txBody>
      </p:sp>
      <p:sp>
        <p:nvSpPr>
          <p:cNvPr id="14" name="">
            <a:extLst xmlns:a="http://schemas.openxmlformats.org/drawingml/2006/main">
              <a:ext uri="{FF2B5EF4-FFF2-40B4-BE49-F238E27FC236}">
                <a16:creationId xmlns:a16="http://schemas.microsoft.com/office/drawing/2014/main" id="{FA42BDD6-5479-4CA8-B636-E3C90E1FFED0}"/>
              </a:ext>
            </a:extLst>
          </p:cNvPr>
          <p:cNvSpPr>
            <a:spLocks xmlns:a="http://schemas.openxmlformats.org/drawingml/2006/main" noGrp="1"/>
          </p:cNvSpPr>
          <p:nvPr/>
        </p:nvSpPr>
        <p:spPr>
          <a:xfrm xmlns:a="http://schemas.openxmlformats.org/drawingml/2006/main">
            <a:off x="629602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The improvement persists</a:t>
            </a:r>
          </a:p>
        </p:txBody>
      </p:sp>
      <p:sp>
        <p:nvSpPr>
          <p:cNvPr id="15" name="">
            <a:extLst xmlns:a="http://schemas.openxmlformats.org/drawingml/2006/main">
              <a:ext uri="{FF2B5EF4-FFF2-40B4-BE49-F238E27FC236}">
                <a16:creationId xmlns:a16="http://schemas.microsoft.com/office/drawing/2014/main" id="{97CBF252-7F66-4A2B-B07D-9D0F7E352F5C}"/>
              </a:ext>
            </a:extLst>
          </p:cNvPr>
          <p:cNvSpPr>
            <a:spLocks xmlns:a="http://schemas.openxmlformats.org/drawingml/2006/main" noGrp="1"/>
          </p:cNvSpPr>
          <p:nvPr/>
        </p:nvSpPr>
        <p:spPr>
          <a:xfrm xmlns:a="http://schemas.openxmlformats.org/drawingml/2006/main">
            <a:off x="8220075" y="3190875"/>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FADING</a:t>
            </a:r>
          </a:p>
        </p:txBody>
      </p:sp>
      <p:sp>
        <p:nvSpPr>
          <p:cNvPr id="16" name="">
            <a:extLst xmlns:a="http://schemas.openxmlformats.org/drawingml/2006/main">
              <a:ext uri="{FF2B5EF4-FFF2-40B4-BE49-F238E27FC236}">
                <a16:creationId xmlns:a16="http://schemas.microsoft.com/office/drawing/2014/main" id="{A6547C68-F9A8-4209-9B0F-AD4E99E4B1AF}"/>
              </a:ext>
            </a:extLst>
          </p:cNvPr>
          <p:cNvSpPr>
            <a:spLocks xmlns:a="http://schemas.openxmlformats.org/drawingml/2006/main" noGrp="1"/>
          </p:cNvSpPr>
          <p:nvPr/>
        </p:nvSpPr>
        <p:spPr>
          <a:xfrm xmlns:a="http://schemas.openxmlformats.org/drawingml/2006/main">
            <a:off x="8220075" y="3543300"/>
            <a:ext cx="1619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4DDEA"/>
                </a:solidFill>
                <a:latin typeface="Aptos"/>
                <a:ea typeface="Aptos"/>
                <a:cs typeface="Aptos"/>
              </a:defRPr>
            </a:pPr>
            <a:r>
              <a:rPr sz="1125" b="0">
                <a:solidFill>
                  <a:srgbClr val="D4DDEA"/>
                </a:solidFill>
                <a:latin typeface="Aptos"/>
                <a:ea typeface="Aptos"/>
                <a:cs typeface="Aptos"/>
              </a:rPr>
              <a:t>Earlier momentum is weakening</a:t>
            </a:r>
          </a:p>
        </p:txBody>
      </p:sp>
      <p:sp>
        <p:nvSpPr>
          <p:cNvPr id="17" name="">
            <a:extLst xmlns:a="http://schemas.openxmlformats.org/drawingml/2006/main">
              <a:ext uri="{FF2B5EF4-FFF2-40B4-BE49-F238E27FC236}">
                <a16:creationId xmlns:a16="http://schemas.microsoft.com/office/drawing/2014/main" id="{82B85AAB-399B-42F3-AAD1-DDC879CA3269}"/>
              </a:ext>
            </a:extLst>
          </p:cNvPr>
          <p:cNvSpPr>
            <a:spLocks xmlns:a="http://schemas.openxmlformats.org/drawingml/2006/main" noGrp="1"/>
          </p:cNvSpPr>
          <p:nvPr/>
        </p:nvSpPr>
        <p:spPr>
          <a:xfrm xmlns:a="http://schemas.openxmlformats.org/drawingml/2006/main">
            <a:off x="781050" y="4810125"/>
            <a:ext cx="8724900" cy="19050"/>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C1587E8-6425-4483-9CA7-59824482FDE0}"/>
              </a:ext>
            </a:extLst>
          </p:cNvPr>
          <p:cNvSpPr>
            <a:spLocks xmlns:a="http://schemas.openxmlformats.org/drawingml/2006/main" noGrp="1"/>
          </p:cNvSpPr>
          <p:nvPr/>
        </p:nvSpPr>
        <p:spPr>
          <a:xfrm xmlns:a="http://schemas.openxmlformats.org/drawingml/2006/main">
            <a:off x="857250" y="55721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8FAFC"/>
                </a:solidFill>
                <a:latin typeface="Aptos"/>
                <a:ea typeface="Aptos"/>
                <a:cs typeface="Aptos"/>
              </a:defRPr>
            </a:pPr>
            <a:r>
              <a:rPr sz="1950" b="1">
                <a:solidFill>
                  <a:srgbClr val="F8FAFC"/>
                </a:solidFill>
                <a:latin typeface="Aptos"/>
                <a:ea typeface="Aptos"/>
                <a:cs typeface="Aptos"/>
              </a:rPr>
              <a:t>Score</a:t>
            </a:r>
          </a:p>
        </p:txBody>
      </p:sp>
      <p:sp>
        <p:nvSpPr>
          <p:cNvPr id="19" name="">
            <a:extLst xmlns:a="http://schemas.openxmlformats.org/drawingml/2006/main">
              <a:ext uri="{FF2B5EF4-FFF2-40B4-BE49-F238E27FC236}">
                <a16:creationId xmlns:a16="http://schemas.microsoft.com/office/drawing/2014/main" id="{C57EDFA2-C21B-4371-98CD-DFE1D887E4F5}"/>
              </a:ext>
            </a:extLst>
          </p:cNvPr>
          <p:cNvSpPr>
            <a:spLocks xmlns:a="http://schemas.openxmlformats.org/drawingml/2006/main" noGrp="1"/>
          </p:cNvSpPr>
          <p:nvPr/>
        </p:nvSpPr>
        <p:spPr>
          <a:xfrm xmlns:a="http://schemas.openxmlformats.org/drawingml/2006/main">
            <a:off x="857250" y="6048375"/>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D4DDEA"/>
                </a:solidFill>
                <a:latin typeface="Aptos"/>
                <a:ea typeface="Aptos"/>
                <a:cs typeface="Aptos"/>
              </a:defRPr>
            </a:pPr>
            <a:r>
              <a:rPr sz="1425" b="0">
                <a:solidFill>
                  <a:srgbClr val="D4DDEA"/>
                </a:solidFill>
                <a:latin typeface="Aptos"/>
                <a:ea typeface="Aptos"/>
                <a:cs typeface="Aptos"/>
              </a:rPr>
              <a:t>Direction within the factors that have comparable previous and current evidence.</a:t>
            </a:r>
          </a:p>
        </p:txBody>
      </p:sp>
      <p:sp>
        <p:nvSpPr>
          <p:cNvPr id="20" name="">
            <a:extLst xmlns:a="http://schemas.openxmlformats.org/drawingml/2006/main">
              <a:ext uri="{FF2B5EF4-FFF2-40B4-BE49-F238E27FC236}">
                <a16:creationId xmlns:a16="http://schemas.microsoft.com/office/drawing/2014/main" id="{6674596A-4F65-4AC4-A567-B61B0A3370F7}"/>
              </a:ext>
            </a:extLst>
          </p:cNvPr>
          <p:cNvSpPr>
            <a:spLocks xmlns:a="http://schemas.openxmlformats.org/drawingml/2006/main" noGrp="1"/>
          </p:cNvSpPr>
          <p:nvPr/>
        </p:nvSpPr>
        <p:spPr>
          <a:xfrm xmlns:a="http://schemas.openxmlformats.org/drawingml/2006/main">
            <a:off x="5429250" y="55721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8FAFC"/>
                </a:solidFill>
                <a:latin typeface="Aptos"/>
                <a:ea typeface="Aptos"/>
                <a:cs typeface="Aptos"/>
              </a:defRPr>
            </a:pPr>
            <a:r>
              <a:rPr sz="1950" b="1">
                <a:solidFill>
                  <a:srgbClr val="F8FAFC"/>
                </a:solidFill>
                <a:latin typeface="Aptos"/>
                <a:ea typeface="Aptos"/>
                <a:cs typeface="Aptos"/>
              </a:rPr>
              <a:t>Evidence confidence</a:t>
            </a:r>
          </a:p>
        </p:txBody>
      </p:sp>
      <p:sp>
        <p:nvSpPr>
          <p:cNvPr id="21" name="">
            <a:extLst xmlns:a="http://schemas.openxmlformats.org/drawingml/2006/main">
              <a:ext uri="{FF2B5EF4-FFF2-40B4-BE49-F238E27FC236}">
                <a16:creationId xmlns:a16="http://schemas.microsoft.com/office/drawing/2014/main" id="{90B9915E-6145-4AD0-89FF-A2440B68718D}"/>
              </a:ext>
            </a:extLst>
          </p:cNvPr>
          <p:cNvSpPr>
            <a:spLocks xmlns:a="http://schemas.openxmlformats.org/drawingml/2006/main" noGrp="1"/>
          </p:cNvSpPr>
          <p:nvPr/>
        </p:nvSpPr>
        <p:spPr>
          <a:xfrm xmlns:a="http://schemas.openxmlformats.org/drawingml/2006/main">
            <a:off x="5429250" y="6048375"/>
            <a:ext cx="3714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D4DDEA"/>
                </a:solidFill>
                <a:latin typeface="Aptos"/>
                <a:ea typeface="Aptos"/>
                <a:cs typeface="Aptos"/>
              </a:defRPr>
            </a:pPr>
            <a:r>
              <a:rPr sz="1425" b="0">
                <a:solidFill>
                  <a:srgbClr val="D4DDEA"/>
                </a:solidFill>
                <a:latin typeface="Aptos"/>
                <a:ea typeface="Aptos"/>
                <a:cs typeface="Aptos"/>
              </a:rPr>
              <a:t>Completeness, comparability and source quality. Medium confidence can accompany strong direction when only part of the model is populated.</a:t>
            </a:r>
          </a:p>
        </p:txBody>
      </p:sp>
      <p:sp>
        <p:nvSpPr>
          <p:cNvPr id="22" name="">
            <a:extLst xmlns:a="http://schemas.openxmlformats.org/drawingml/2006/main">
              <a:ext uri="{FF2B5EF4-FFF2-40B4-BE49-F238E27FC236}">
                <a16:creationId xmlns:a16="http://schemas.microsoft.com/office/drawing/2014/main" id="{20A27148-B844-4309-A488-0269F4D65313}"/>
              </a:ext>
            </a:extLst>
          </p:cNvPr>
          <p:cNvSpPr>
            <a:spLocks xmlns:a="http://schemas.openxmlformats.org/drawingml/2006/main" noGrp="1"/>
          </p:cNvSpPr>
          <p:nvPr/>
        </p:nvSpPr>
        <p:spPr>
          <a:xfrm xmlns:a="http://schemas.openxmlformats.org/drawingml/2006/main">
            <a:off x="857250" y="7848600"/>
            <a:ext cx="8286750" cy="952500"/>
          </a:xfrm>
          <a:prstGeom xmlns:a="http://schemas.openxmlformats.org/drawingml/2006/main" prst="roundRect">
            <a:avLst>
              <a:gd name="adj" fmla="val 14000"/>
            </a:avLst>
          </a:prstGeom>
          <a:solidFill xmlns:a="http://schemas.openxmlformats.org/drawingml/2006/main">
            <a:srgbClr val="0D2430"/>
          </a:solidFill>
          <a:ln xmlns:a="http://schemas.openxmlformats.org/drawingml/2006/main" w="9525">
            <a:solidFill>
              <a:srgbClr val="27D9C8"/>
            </a:solidFill>
          </a:ln>
        </p:spPr>
      </p:sp>
      <p:sp>
        <p:nvSpPr>
          <p:cNvPr id="23" name="">
            <a:extLst xmlns:a="http://schemas.openxmlformats.org/drawingml/2006/main">
              <a:ext uri="{FF2B5EF4-FFF2-40B4-BE49-F238E27FC236}">
                <a16:creationId xmlns:a16="http://schemas.microsoft.com/office/drawing/2014/main" id="{6B1287D4-ABF9-469D-89D0-3B5FCBF82AFD}"/>
              </a:ext>
            </a:extLst>
          </p:cNvPr>
          <p:cNvSpPr>
            <a:spLocks xmlns:a="http://schemas.openxmlformats.org/drawingml/2006/main" noGrp="1"/>
          </p:cNvSpPr>
          <p:nvPr/>
        </p:nvSpPr>
        <p:spPr>
          <a:xfrm xmlns:a="http://schemas.openxmlformats.org/drawingml/2006/main">
            <a:off x="1238250" y="8134350"/>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8FAFC"/>
                </a:solidFill>
                <a:latin typeface="Aptos"/>
                <a:ea typeface="Aptos"/>
                <a:cs typeface="Aptos"/>
              </a:defRPr>
            </a:pPr>
            <a:r>
              <a:rPr sz="1500" b="1">
                <a:solidFill>
                  <a:srgbClr val="F8FAFC"/>
                </a:solidFill>
                <a:latin typeface="Aptos"/>
                <a:ea typeface="Aptos"/>
                <a:cs typeface="Aptos"/>
              </a:rPr>
              <a:t>N/A means no comparable evidence. It never means zero, neutral or poor performance.</a:t>
            </a:r>
          </a:p>
        </p:txBody>
      </p:sp>
    </p:spTree>
    <p:extLst>
      <p:ext uri="{BB962C8B-B14F-4D97-AF65-F5344CB8AC3E}">
        <p14:creationId xmlns:p14="http://schemas.microsoft.com/office/powerpoint/2010/main" val="917306981"/>
      </p:ext>
    </p:extLst>
  </p:cSld>
</p:sld>
</file>

<file path=ppt/slides/slide6.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7BD63A7-E0A4-44C3-8297-3980DCAC1F7F}"/>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D2DA66-ECA0-4DE2-BCE0-4C87AF259BBF}"/>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D5642009-66F3-4112-81F6-3A69D95C0E54}"/>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Later results and management delivery</a:t>
            </a:r>
          </a:p>
        </p:txBody>
      </p:sp>
      <p:sp>
        <p:nvSpPr>
          <p:cNvPr id="4" name="">
            <a:extLst xmlns:a="http://schemas.openxmlformats.org/drawingml/2006/main">
              <a:ext uri="{FF2B5EF4-FFF2-40B4-BE49-F238E27FC236}">
                <a16:creationId xmlns:a16="http://schemas.microsoft.com/office/drawing/2014/main" id="{0604F08F-F100-4AE3-8B26-D243AB6BE931}"/>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confirmation layer tests an earlier lifecycle without rewriting the historical record.</a:t>
            </a:r>
          </a:p>
        </p:txBody>
      </p:sp>
      <p:sp>
        <p:nvSpPr>
          <p:cNvPr id="5" name="">
            <a:extLst xmlns:a="http://schemas.openxmlformats.org/drawingml/2006/main">
              <a:ext uri="{FF2B5EF4-FFF2-40B4-BE49-F238E27FC236}">
                <a16:creationId xmlns:a16="http://schemas.microsoft.com/office/drawing/2014/main" id="{D3C8E6EC-5CBE-4730-850E-470E997C6F4A}"/>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93933DDB-BB5D-4444-AF24-6177B13F68E2}"/>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06</a:t>
            </a:r>
          </a:p>
        </p:txBody>
      </p:sp>
      <p:sp>
        <p:nvSpPr>
          <p:cNvPr id="7" name="">
            <a:extLst xmlns:a="http://schemas.openxmlformats.org/drawingml/2006/main">
              <a:ext uri="{FF2B5EF4-FFF2-40B4-BE49-F238E27FC236}">
                <a16:creationId xmlns:a16="http://schemas.microsoft.com/office/drawing/2014/main" id="{4109C902-1156-40D0-A670-ED94730E228E}"/>
              </a:ext>
            </a:extLst>
          </p:cNvPr>
          <p:cNvSpPr>
            <a:spLocks xmlns:a="http://schemas.openxmlformats.org/drawingml/2006/main" noGrp="1"/>
          </p:cNvSpPr>
          <p:nvPr/>
        </p:nvSpPr>
        <p:spPr>
          <a:xfrm xmlns:a="http://schemas.openxmlformats.org/drawingml/2006/main">
            <a:off x="762000" y="2857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D9C8"/>
                </a:solidFill>
                <a:latin typeface="Aptos"/>
                <a:ea typeface="Aptos"/>
                <a:cs typeface="Aptos"/>
              </a:defRPr>
            </a:pPr>
            <a:r>
              <a:rPr sz="2550" b="1">
                <a:solidFill>
                  <a:srgbClr val="27D9C8"/>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36A8C08A-2F29-4618-80B5-70299A3CE7F2}"/>
              </a:ext>
            </a:extLst>
          </p:cNvPr>
          <p:cNvSpPr>
            <a:spLocks xmlns:a="http://schemas.openxmlformats.org/drawingml/2006/main" noGrp="1"/>
          </p:cNvSpPr>
          <p:nvPr/>
        </p:nvSpPr>
        <p:spPr>
          <a:xfrm xmlns:a="http://schemas.openxmlformats.org/drawingml/2006/main">
            <a:off x="1762125" y="28575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Record</a:t>
            </a:r>
          </a:p>
        </p:txBody>
      </p:sp>
      <p:sp>
        <p:nvSpPr>
          <p:cNvPr id="9" name="">
            <a:extLst xmlns:a="http://schemas.openxmlformats.org/drawingml/2006/main">
              <a:ext uri="{FF2B5EF4-FFF2-40B4-BE49-F238E27FC236}">
                <a16:creationId xmlns:a16="http://schemas.microsoft.com/office/drawing/2014/main" id="{7A62A133-79B9-45A4-9AED-BF01407B55D0}"/>
              </a:ext>
            </a:extLst>
          </p:cNvPr>
          <p:cNvSpPr>
            <a:spLocks xmlns:a="http://schemas.openxmlformats.org/drawingml/2006/main" noGrp="1"/>
          </p:cNvSpPr>
          <p:nvPr/>
        </p:nvSpPr>
        <p:spPr>
          <a:xfrm xmlns:a="http://schemas.openxmlformats.org/drawingml/2006/main">
            <a:off x="4095750" y="28575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Store the original lifecycle, period and supporting evidence.</a:t>
            </a:r>
          </a:p>
        </p:txBody>
      </p:sp>
      <p:sp>
        <p:nvSpPr>
          <p:cNvPr id="10" name="">
            <a:extLst xmlns:a="http://schemas.openxmlformats.org/drawingml/2006/main">
              <a:ext uri="{FF2B5EF4-FFF2-40B4-BE49-F238E27FC236}">
                <a16:creationId xmlns:a16="http://schemas.microsoft.com/office/drawing/2014/main" id="{D0A53FA7-40A4-4037-9139-964A56A11AA3}"/>
              </a:ext>
            </a:extLst>
          </p:cNvPr>
          <p:cNvSpPr>
            <a:spLocks xmlns:a="http://schemas.openxmlformats.org/drawingml/2006/main" noGrp="1"/>
          </p:cNvSpPr>
          <p:nvPr/>
        </p:nvSpPr>
        <p:spPr>
          <a:xfrm xmlns:a="http://schemas.openxmlformats.org/drawingml/2006/main">
            <a:off x="762000" y="4286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D9C8"/>
                </a:solidFill>
                <a:latin typeface="Aptos"/>
                <a:ea typeface="Aptos"/>
                <a:cs typeface="Aptos"/>
              </a:defRPr>
            </a:pPr>
            <a:r>
              <a:rPr sz="2550" b="1">
                <a:solidFill>
                  <a:srgbClr val="27D9C8"/>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43B99691-1B78-4C3D-967C-FFA3C0AD4166}"/>
              </a:ext>
            </a:extLst>
          </p:cNvPr>
          <p:cNvSpPr>
            <a:spLocks xmlns:a="http://schemas.openxmlformats.org/drawingml/2006/main" noGrp="1"/>
          </p:cNvSpPr>
          <p:nvPr/>
        </p:nvSpPr>
        <p:spPr>
          <a:xfrm xmlns:a="http://schemas.openxmlformats.org/drawingml/2006/main">
            <a:off x="1762125" y="42862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Remember</a:t>
            </a:r>
          </a:p>
        </p:txBody>
      </p:sp>
      <p:sp>
        <p:nvSpPr>
          <p:cNvPr id="12" name="">
            <a:extLst xmlns:a="http://schemas.openxmlformats.org/drawingml/2006/main">
              <a:ext uri="{FF2B5EF4-FFF2-40B4-BE49-F238E27FC236}">
                <a16:creationId xmlns:a16="http://schemas.microsoft.com/office/drawing/2014/main" id="{9D13319E-0F08-4D7E-9FB9-86D1AC1B5C7B}"/>
              </a:ext>
            </a:extLst>
          </p:cNvPr>
          <p:cNvSpPr>
            <a:spLocks xmlns:a="http://schemas.openxmlformats.org/drawingml/2006/main" noGrp="1"/>
          </p:cNvSpPr>
          <p:nvPr/>
        </p:nvSpPr>
        <p:spPr>
          <a:xfrm xmlns:a="http://schemas.openxmlformats.org/drawingml/2006/main">
            <a:off x="4095750" y="42862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Save dated, measurable management commitments quarter by quarter.</a:t>
            </a:r>
          </a:p>
        </p:txBody>
      </p:sp>
      <p:sp>
        <p:nvSpPr>
          <p:cNvPr id="13" name="">
            <a:extLst xmlns:a="http://schemas.openxmlformats.org/drawingml/2006/main">
              <a:ext uri="{FF2B5EF4-FFF2-40B4-BE49-F238E27FC236}">
                <a16:creationId xmlns:a16="http://schemas.microsoft.com/office/drawing/2014/main" id="{F08379F9-326D-487C-A4AA-6C84A801B50A}"/>
              </a:ext>
            </a:extLst>
          </p:cNvPr>
          <p:cNvSpPr>
            <a:spLocks xmlns:a="http://schemas.openxmlformats.org/drawingml/2006/main" noGrp="1"/>
          </p:cNvSpPr>
          <p:nvPr/>
        </p:nvSpPr>
        <p:spPr>
          <a:xfrm xmlns:a="http://schemas.openxmlformats.org/drawingml/2006/main">
            <a:off x="762000" y="57150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7D9C8"/>
                </a:solidFill>
                <a:latin typeface="Aptos"/>
                <a:ea typeface="Aptos"/>
                <a:cs typeface="Aptos"/>
              </a:defRPr>
            </a:pPr>
            <a:r>
              <a:rPr sz="2550" b="1">
                <a:solidFill>
                  <a:srgbClr val="27D9C8"/>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61DFF72B-B562-480F-8126-12B45C7ABA0C}"/>
              </a:ext>
            </a:extLst>
          </p:cNvPr>
          <p:cNvSpPr>
            <a:spLocks xmlns:a="http://schemas.openxmlformats.org/drawingml/2006/main" noGrp="1"/>
          </p:cNvSpPr>
          <p:nvPr/>
        </p:nvSpPr>
        <p:spPr>
          <a:xfrm xmlns:a="http://schemas.openxmlformats.org/drawingml/2006/main">
            <a:off x="1762125" y="5715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Compare</a:t>
            </a:r>
          </a:p>
        </p:txBody>
      </p:sp>
      <p:sp>
        <p:nvSpPr>
          <p:cNvPr id="15" name="">
            <a:extLst xmlns:a="http://schemas.openxmlformats.org/drawingml/2006/main">
              <a:ext uri="{FF2B5EF4-FFF2-40B4-BE49-F238E27FC236}">
                <a16:creationId xmlns:a16="http://schemas.microsoft.com/office/drawing/2014/main" id="{3086260D-0899-4E42-A0DF-0F221077EF80}"/>
              </a:ext>
            </a:extLst>
          </p:cNvPr>
          <p:cNvSpPr>
            <a:spLocks xmlns:a="http://schemas.openxmlformats.org/drawingml/2006/main" noGrp="1"/>
          </p:cNvSpPr>
          <p:nvPr/>
        </p:nvSpPr>
        <p:spPr>
          <a:xfrm xmlns:a="http://schemas.openxmlformats.org/drawingml/2006/main">
            <a:off x="4095750" y="57150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Check later reported outcomes against financial factors and matured commitments.</a:t>
            </a:r>
          </a:p>
        </p:txBody>
      </p:sp>
      <p:sp>
        <p:nvSpPr>
          <p:cNvPr id="16" name="">
            <a:extLst xmlns:a="http://schemas.openxmlformats.org/drawingml/2006/main">
              <a:ext uri="{FF2B5EF4-FFF2-40B4-BE49-F238E27FC236}">
                <a16:creationId xmlns:a16="http://schemas.microsoft.com/office/drawing/2014/main" id="{8A225961-1C76-4A93-BA09-E2C264901BA4}"/>
              </a:ext>
            </a:extLst>
          </p:cNvPr>
          <p:cNvSpPr>
            <a:spLocks xmlns:a="http://schemas.openxmlformats.org/drawingml/2006/main" noGrp="1"/>
          </p:cNvSpPr>
          <p:nvPr/>
        </p:nvSpPr>
        <p:spPr>
          <a:xfrm xmlns:a="http://schemas.openxmlformats.org/drawingml/2006/main">
            <a:off x="762000" y="7143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640"/>
                </a:solidFill>
                <a:latin typeface="Aptos"/>
                <a:ea typeface="Aptos"/>
                <a:cs typeface="Aptos"/>
              </a:defRPr>
            </a:pPr>
            <a:r>
              <a:rPr sz="2550" b="1">
                <a:solidFill>
                  <a:srgbClr val="E7B640"/>
                </a:solidFill>
                <a:latin typeface="Aptos"/>
                <a:ea typeface="Aptos"/>
                <a:cs typeface="Aptos"/>
              </a:rPr>
              <a:t>4</a:t>
            </a:r>
          </a:p>
        </p:txBody>
      </p:sp>
      <p:sp>
        <p:nvSpPr>
          <p:cNvPr id="17" name="">
            <a:extLst xmlns:a="http://schemas.openxmlformats.org/drawingml/2006/main">
              <a:ext uri="{FF2B5EF4-FFF2-40B4-BE49-F238E27FC236}">
                <a16:creationId xmlns:a16="http://schemas.microsoft.com/office/drawing/2014/main" id="{74AA3CF3-4144-41F0-9E70-2C6A54834780}"/>
              </a:ext>
            </a:extLst>
          </p:cNvPr>
          <p:cNvSpPr>
            <a:spLocks xmlns:a="http://schemas.openxmlformats.org/drawingml/2006/main" noGrp="1"/>
          </p:cNvSpPr>
          <p:nvPr/>
        </p:nvSpPr>
        <p:spPr>
          <a:xfrm xmlns:a="http://schemas.openxmlformats.org/drawingml/2006/main">
            <a:off x="1762125" y="71437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8FAFC"/>
                </a:solidFill>
                <a:latin typeface="Aptos"/>
                <a:ea typeface="Aptos"/>
                <a:cs typeface="Aptos"/>
              </a:defRPr>
            </a:pPr>
            <a:r>
              <a:rPr sz="1725" b="1">
                <a:solidFill>
                  <a:srgbClr val="F8FAFC"/>
                </a:solidFill>
                <a:latin typeface="Aptos"/>
                <a:ea typeface="Aptos"/>
                <a:cs typeface="Aptos"/>
              </a:rPr>
              <a:t>Qualify</a:t>
            </a:r>
          </a:p>
        </p:txBody>
      </p:sp>
      <p:sp>
        <p:nvSpPr>
          <p:cNvPr id="18" name="">
            <a:extLst xmlns:a="http://schemas.openxmlformats.org/drawingml/2006/main">
              <a:ext uri="{FF2B5EF4-FFF2-40B4-BE49-F238E27FC236}">
                <a16:creationId xmlns:a16="http://schemas.microsoft.com/office/drawing/2014/main" id="{377375C9-FB9D-4D29-8698-727425133066}"/>
              </a:ext>
            </a:extLst>
          </p:cNvPr>
          <p:cNvSpPr>
            <a:spLocks xmlns:a="http://schemas.openxmlformats.org/drawingml/2006/main" noGrp="1"/>
          </p:cNvSpPr>
          <p:nvPr/>
        </p:nvSpPr>
        <p:spPr>
          <a:xfrm xmlns:a="http://schemas.openxmlformats.org/drawingml/2006/main">
            <a:off x="4095750" y="71437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Raise, lower or defer today’s research priority according to evidence coverage.</a:t>
            </a:r>
          </a:p>
        </p:txBody>
      </p:sp>
      <p:sp>
        <p:nvSpPr>
          <p:cNvPr id="19" name="">
            <a:extLst xmlns:a="http://schemas.openxmlformats.org/drawingml/2006/main">
              <a:ext uri="{FF2B5EF4-FFF2-40B4-BE49-F238E27FC236}">
                <a16:creationId xmlns:a16="http://schemas.microsoft.com/office/drawing/2014/main" id="{3CD32C7E-864D-4956-A390-A975C2377D7F}"/>
              </a:ext>
            </a:extLst>
          </p:cNvPr>
          <p:cNvSpPr>
            <a:spLocks xmlns:a="http://schemas.openxmlformats.org/drawingml/2006/main" noGrp="1"/>
          </p:cNvSpPr>
          <p:nvPr/>
        </p:nvSpPr>
        <p:spPr>
          <a:xfrm xmlns:a="http://schemas.openxmlformats.org/drawingml/2006/main">
            <a:off x="857250" y="8810625"/>
            <a:ext cx="8572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Management commentary records what was said. Management delivery checks what happened after the commitment matured.</a:t>
            </a:r>
          </a:p>
        </p:txBody>
      </p:sp>
    </p:spTree>
    <p:extLst>
      <p:ext uri="{BB962C8B-B14F-4D97-AF65-F5344CB8AC3E}">
        <p14:creationId xmlns:p14="http://schemas.microsoft.com/office/powerpoint/2010/main" val="1075355477"/>
      </p:ext>
    </p:extLst>
  </p:cSld>
</p:sld>
</file>

<file path=ppt/slides/slide7.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563BF6D-476E-4D4D-83E5-F24A225EDAB5}"/>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98A58F3-E3C3-4524-AA57-53786ED49431}"/>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471DBDEC-FD04-4A50-93BB-98FDBBBCF3E7}"/>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Selective PDF output</a:t>
            </a:r>
          </a:p>
        </p:txBody>
      </p:sp>
      <p:sp>
        <p:nvSpPr>
          <p:cNvPr id="4" name="">
            <a:extLst xmlns:a="http://schemas.openxmlformats.org/drawingml/2006/main">
              <a:ext uri="{FF2B5EF4-FFF2-40B4-BE49-F238E27FC236}">
                <a16:creationId xmlns:a16="http://schemas.microsoft.com/office/drawing/2014/main" id="{F54FBAF3-6255-45FB-B14B-D3B0E7AE6DE2}"/>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downloadable report appears only when the evidence-readiness checks pass.</a:t>
            </a:r>
          </a:p>
        </p:txBody>
      </p:sp>
      <p:sp>
        <p:nvSpPr>
          <p:cNvPr id="5" name="">
            <a:extLst xmlns:a="http://schemas.openxmlformats.org/drawingml/2006/main">
              <a:ext uri="{FF2B5EF4-FFF2-40B4-BE49-F238E27FC236}">
                <a16:creationId xmlns:a16="http://schemas.microsoft.com/office/drawing/2014/main" id="{E837897D-1ECB-4E12-B9A1-94F6674C6B02}"/>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FE123F73-B2C2-4168-AAEB-7B8A31D2ADA6}"/>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07</a:t>
            </a:r>
          </a:p>
        </p:txBody>
      </p:sp>
      <p:sp>
        <p:nvSpPr>
          <p:cNvPr id="7" name="">
            <a:extLst xmlns:a="http://schemas.openxmlformats.org/drawingml/2006/main">
              <a:ext uri="{FF2B5EF4-FFF2-40B4-BE49-F238E27FC236}">
                <a16:creationId xmlns:a16="http://schemas.microsoft.com/office/drawing/2014/main" id="{414BA54E-ECBB-41B3-BFEC-CB9F6DDBD6C4}"/>
              </a:ext>
            </a:extLst>
          </p:cNvPr>
          <p:cNvSpPr>
            <a:spLocks xmlns:a="http://schemas.openxmlformats.org/drawingml/2006/main" noGrp="1"/>
          </p:cNvSpPr>
          <p:nvPr/>
        </p:nvSpPr>
        <p:spPr>
          <a:xfrm xmlns:a="http://schemas.openxmlformats.org/drawingml/2006/main">
            <a:off x="685800" y="2362200"/>
            <a:ext cx="5191125" cy="6800850"/>
          </a:xfrm>
          <a:prstGeom xmlns:a="http://schemas.openxmlformats.org/drawingml/2006/main" prst="roundRect">
            <a:avLst>
              <a:gd name="adj" fmla="val 1835"/>
            </a:avLst>
          </a:prstGeom>
          <a:solidFill xmlns:a="http://schemas.openxmlformats.org/drawingml/2006/main">
            <a:srgbClr val="FFFFFF"/>
          </a:solidFill>
          <a:ln xmlns:a="http://schemas.openxmlformats.org/drawingml/2006/main" w="9525">
            <a:solidFill>
              <a:srgbClr val="33445F"/>
            </a:solid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847cd2d19294011"/>
          <a:stretch xmlns:a="http://schemas.openxmlformats.org/drawingml/2006/main"/>
        </p:blipFill>
        <p:spPr>
          <a:xfrm xmlns:a="http://schemas.openxmlformats.org/drawingml/2006/main">
            <a:off x="930900" y="2438400"/>
            <a:ext cx="4700924" cy="66484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E2B6532-E410-41CF-8047-91D39D170D65}"/>
              </a:ext>
            </a:extLst>
          </p:cNvPr>
          <p:cNvSpPr>
            <a:spLocks xmlns:a="http://schemas.openxmlformats.org/drawingml/2006/main" noGrp="1"/>
          </p:cNvSpPr>
          <p:nvPr/>
        </p:nvSpPr>
        <p:spPr>
          <a:xfrm xmlns:a="http://schemas.openxmlformats.org/drawingml/2006/main">
            <a:off x="6381750" y="28575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7D9C8"/>
                </a:solidFill>
                <a:latin typeface="Aptos"/>
                <a:ea typeface="Aptos"/>
                <a:cs typeface="Aptos"/>
              </a:defRPr>
            </a:pPr>
            <a:r>
              <a:rPr sz="1500" b="1">
                <a:solidFill>
                  <a:srgbClr val="27D9C8"/>
                </a:solidFill>
                <a:latin typeface="Aptos"/>
                <a:ea typeface="Aptos"/>
                <a:cs typeface="Aptos"/>
              </a:rPr>
              <a:t>What this page demonstrates</a:t>
            </a:r>
          </a:p>
        </p:txBody>
      </p:sp>
      <p:sp>
        <p:nvSpPr>
          <p:cNvPr id="10" name="">
            <a:extLst xmlns:a="http://schemas.openxmlformats.org/drawingml/2006/main">
              <a:ext uri="{FF2B5EF4-FFF2-40B4-BE49-F238E27FC236}">
                <a16:creationId xmlns:a16="http://schemas.microsoft.com/office/drawing/2014/main" id="{2A7687D6-62A3-47A8-BD42-52870DD2C29D}"/>
              </a:ext>
            </a:extLst>
          </p:cNvPr>
          <p:cNvSpPr>
            <a:spLocks xmlns:a="http://schemas.openxmlformats.org/drawingml/2006/main" noGrp="1"/>
          </p:cNvSpPr>
          <p:nvPr/>
        </p:nvSpPr>
        <p:spPr>
          <a:xfrm xmlns:a="http://schemas.openxmlformats.org/drawingml/2006/main">
            <a:off x="6381750" y="3524250"/>
            <a:ext cx="3143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The five BMS factors</a:t>
            </a:r>
          </a:p>
          <a:p xmlns:a="http://schemas.openxmlformats.org/drawingml/2006/main">
            <a:r>
              <a:t/>
            </a:r>
          </a:p>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Previous and current evidence</a:t>
            </a:r>
          </a:p>
          <a:p xmlns:a="http://schemas.openxmlformats.org/drawingml/2006/main">
            <a:r>
              <a:t/>
            </a:r>
          </a:p>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Factor weight and evidence confidence</a:t>
            </a:r>
          </a:p>
          <a:p xmlns:a="http://schemas.openxmlformats.org/drawingml/2006/main">
            <a:r>
              <a:t/>
            </a:r>
          </a:p>
          <a:p xmlns:a="http://schemas.openxmlformats.org/drawingml/2006/main">
            <a:pPr>
              <a:defRPr sz="1425" b="0">
                <a:solidFill>
                  <a:srgbClr val="F8FAFC"/>
                </a:solidFill>
                <a:latin typeface="Aptos"/>
                <a:ea typeface="Aptos"/>
                <a:cs typeface="Aptos"/>
              </a:defRPr>
            </a:pPr>
            <a:r>
              <a:rPr sz="1425" b="0">
                <a:solidFill>
                  <a:srgbClr val="F8FAFC"/>
                </a:solidFill>
                <a:latin typeface="Aptos"/>
                <a:ea typeface="Aptos"/>
                <a:cs typeface="Aptos"/>
              </a:rPr>
              <a:t>Unavailable evidence shown honestly</a:t>
            </a:r>
          </a:p>
        </p:txBody>
      </p:sp>
      <p:sp>
        <p:nvSpPr>
          <p:cNvPr id="11" name="">
            <a:extLst xmlns:a="http://schemas.openxmlformats.org/drawingml/2006/main">
              <a:ext uri="{FF2B5EF4-FFF2-40B4-BE49-F238E27FC236}">
                <a16:creationId xmlns:a16="http://schemas.microsoft.com/office/drawing/2014/main" id="{3775F588-2C7B-4397-989E-A18B23A393F5}"/>
              </a:ext>
            </a:extLst>
          </p:cNvPr>
          <p:cNvSpPr>
            <a:spLocks xmlns:a="http://schemas.openxmlformats.org/drawingml/2006/main" noGrp="1"/>
          </p:cNvSpPr>
          <p:nvPr/>
        </p:nvSpPr>
        <p:spPr>
          <a:xfrm xmlns:a="http://schemas.openxmlformats.org/drawingml/2006/main">
            <a:off x="6286500" y="6858000"/>
            <a:ext cx="3333750" cy="1143000"/>
          </a:xfrm>
          <a:prstGeom xmlns:a="http://schemas.openxmlformats.org/drawingml/2006/main" prst="roundRect">
            <a:avLst>
              <a:gd name="adj" fmla="val 11667"/>
            </a:avLst>
          </a:prstGeom>
          <a:solidFill xmlns:a="http://schemas.openxmlformats.org/drawingml/2006/main">
            <a:srgbClr val="0D2430"/>
          </a:solidFill>
          <a:ln xmlns:a="http://schemas.openxmlformats.org/drawingml/2006/main" w="9525">
            <a:solidFill>
              <a:srgbClr val="E7B640"/>
            </a:solidFill>
          </a:ln>
        </p:spPr>
      </p:sp>
      <p:sp>
        <p:nvSpPr>
          <p:cNvPr id="12" name="">
            <a:extLst xmlns:a="http://schemas.openxmlformats.org/drawingml/2006/main">
              <a:ext uri="{FF2B5EF4-FFF2-40B4-BE49-F238E27FC236}">
                <a16:creationId xmlns:a16="http://schemas.microsoft.com/office/drawing/2014/main" id="{38A0299C-4DC0-4261-84CF-F249A2C79575}"/>
              </a:ext>
            </a:extLst>
          </p:cNvPr>
          <p:cNvSpPr>
            <a:spLocks xmlns:a="http://schemas.openxmlformats.org/drawingml/2006/main" noGrp="1"/>
          </p:cNvSpPr>
          <p:nvPr/>
        </p:nvSpPr>
        <p:spPr>
          <a:xfrm xmlns:a="http://schemas.openxmlformats.org/drawingml/2006/main">
            <a:off x="6572250" y="7143750"/>
            <a:ext cx="276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E7B640"/>
                </a:solidFill>
                <a:latin typeface="Aptos"/>
                <a:ea typeface="Aptos"/>
                <a:cs typeface="Aptos"/>
              </a:defRPr>
            </a:pPr>
            <a:r>
              <a:rPr sz="1350" b="1">
                <a:solidFill>
                  <a:srgbClr val="E7B640"/>
                </a:solidFill>
                <a:latin typeface="Aptos"/>
                <a:ea typeface="Aptos"/>
                <a:cs typeface="Aptos"/>
              </a:rPr>
              <a:t>When evidence is too thin, the on-screen report remains available but the PDF is withheld.</a:t>
            </a:r>
          </a:p>
        </p:txBody>
      </p:sp>
    </p:spTree>
    <p:extLst>
      <p:ext uri="{BB962C8B-B14F-4D97-AF65-F5344CB8AC3E}">
        <p14:creationId xmlns:p14="http://schemas.microsoft.com/office/powerpoint/2010/main" val="908183424"/>
      </p:ext>
    </p:extLst>
  </p:cSld>
</p:sld>
</file>

<file path=ppt/slides/slide8.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C21877A-A753-445F-9D46-7BBCB15CEFE9}"/>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E15397-3C69-4DAE-BA65-2839C8C47E3B}"/>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82BEE744-B25E-424A-B682-8D184A254BB3}"/>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Deep Dive handoff</a:t>
            </a:r>
          </a:p>
        </p:txBody>
      </p:sp>
      <p:sp>
        <p:nvSpPr>
          <p:cNvPr id="4" name="">
            <a:extLst xmlns:a="http://schemas.openxmlformats.org/drawingml/2006/main">
              <a:ext uri="{FF2B5EF4-FFF2-40B4-BE49-F238E27FC236}">
                <a16:creationId xmlns:a16="http://schemas.microsoft.com/office/drawing/2014/main" id="{812A8C4F-9338-4A00-8830-45D3FC8CCDDA}"/>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chosen company carries from the BMS tracker into the broader AlphaSynth research workflow.</a:t>
            </a:r>
          </a:p>
        </p:txBody>
      </p:sp>
      <p:sp>
        <p:nvSpPr>
          <p:cNvPr id="5" name="">
            <a:extLst xmlns:a="http://schemas.openxmlformats.org/drawingml/2006/main">
              <a:ext uri="{FF2B5EF4-FFF2-40B4-BE49-F238E27FC236}">
                <a16:creationId xmlns:a16="http://schemas.microsoft.com/office/drawing/2014/main" id="{E6E877B8-9530-4516-8A0F-9F0A5337B66F}"/>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1D07CF76-A5A1-4E35-B6ED-C1499209DDC8}"/>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08</a:t>
            </a:r>
          </a:p>
        </p:txBody>
      </p:sp>
      <p:sp>
        <p:nvSpPr>
          <p:cNvPr id="7" name="">
            <a:extLst xmlns:a="http://schemas.openxmlformats.org/drawingml/2006/main">
              <a:ext uri="{FF2B5EF4-FFF2-40B4-BE49-F238E27FC236}">
                <a16:creationId xmlns:a16="http://schemas.microsoft.com/office/drawing/2014/main" id="{450D4E6C-B1A5-4B6E-8D7D-0DEEA9D0E177}"/>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c6605a21c0b4106"/>
          <a:stretch xmlns:a="http://schemas.openxmlformats.org/drawingml/2006/main"/>
        </p:blipFill>
        <p:spPr>
          <a:xfrm xmlns:a="http://schemas.openxmlformats.org/drawingml/2006/main">
            <a:off x="928181" y="2333625"/>
            <a:ext cx="8430638"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E420CC7C-2B49-43FB-98C4-78711F68FC42}"/>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A deliberate next step</a:t>
            </a:r>
          </a:p>
        </p:txBody>
      </p:sp>
      <p:sp>
        <p:nvSpPr>
          <p:cNvPr id="10" name="">
            <a:extLst xmlns:a="http://schemas.openxmlformats.org/drawingml/2006/main">
              <a:ext uri="{FF2B5EF4-FFF2-40B4-BE49-F238E27FC236}">
                <a16:creationId xmlns:a16="http://schemas.microsoft.com/office/drawing/2014/main" id="{19555CE6-1F44-43AC-BE8F-5A4B17DD76B7}"/>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The user decides whether the signal deserves a fuller company review. Deep Dive covers a broader universe, including additional small and mid-cap companies when data is available.</a:t>
            </a:r>
          </a:p>
        </p:txBody>
      </p:sp>
    </p:spTree>
    <p:extLst>
      <p:ext uri="{BB962C8B-B14F-4D97-AF65-F5344CB8AC3E}">
        <p14:creationId xmlns:p14="http://schemas.microsoft.com/office/powerpoint/2010/main" val="1439695431"/>
      </p:ext>
    </p:extLst>
  </p:cSld>
</p:sld>
</file>

<file path=ppt/slides/slide9.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2CAF8AC-3654-4778-8216-64B0C696D58D}"/>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233F9B9-4522-4123-83F3-5FE7DCD69072}"/>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8387E362-7058-4C69-A743-2B4B1DE190AF}"/>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Broader company review</a:t>
            </a:r>
          </a:p>
        </p:txBody>
      </p:sp>
      <p:sp>
        <p:nvSpPr>
          <p:cNvPr id="4" name="">
            <a:extLst xmlns:a="http://schemas.openxmlformats.org/drawingml/2006/main">
              <a:ext uri="{FF2B5EF4-FFF2-40B4-BE49-F238E27FC236}">
                <a16:creationId xmlns:a16="http://schemas.microsoft.com/office/drawing/2014/main" id="{8EBDBEA4-69EF-4F80-9D3B-4807519252C4}"/>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full report adds company context, risks and an independent check against the recorded BMS direction.</a:t>
            </a:r>
          </a:p>
        </p:txBody>
      </p:sp>
      <p:sp>
        <p:nvSpPr>
          <p:cNvPr id="5" name="">
            <a:extLst xmlns:a="http://schemas.openxmlformats.org/drawingml/2006/main">
              <a:ext uri="{FF2B5EF4-FFF2-40B4-BE49-F238E27FC236}">
                <a16:creationId xmlns:a16="http://schemas.microsoft.com/office/drawing/2014/main" id="{28498567-0D8E-4678-A032-D00A0AF13CE1}"/>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6F9FD47B-731A-4B26-8D84-81EE685CE1BD}"/>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09</a:t>
            </a:r>
          </a:p>
        </p:txBody>
      </p:sp>
      <p:sp>
        <p:nvSpPr>
          <p:cNvPr id="7" name="">
            <a:extLst xmlns:a="http://schemas.openxmlformats.org/drawingml/2006/main">
              <a:ext uri="{FF2B5EF4-FFF2-40B4-BE49-F238E27FC236}">
                <a16:creationId xmlns:a16="http://schemas.microsoft.com/office/drawing/2014/main" id="{CD9913FD-5174-498E-B8BD-AE93EF25D6C3}"/>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f3ff78eb8bf4f29"/>
          <a:stretch xmlns:a="http://schemas.openxmlformats.org/drawingml/2006/main"/>
        </p:blipFill>
        <p:spPr>
          <a:xfrm xmlns:a="http://schemas.openxmlformats.org/drawingml/2006/main">
            <a:off x="1379501" y="2333625"/>
            <a:ext cx="7527997"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7D0F5D3-6CC4-44BC-BB04-3A9D5C5961D2}"/>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Two readings stay separate</a:t>
            </a:r>
          </a:p>
        </p:txBody>
      </p:sp>
      <p:sp>
        <p:nvSpPr>
          <p:cNvPr id="10" name="">
            <a:extLst xmlns:a="http://schemas.openxmlformats.org/drawingml/2006/main">
              <a:ext uri="{FF2B5EF4-FFF2-40B4-BE49-F238E27FC236}">
                <a16:creationId xmlns:a16="http://schemas.microsoft.com/office/drawing/2014/main" id="{8CD133F5-D15E-49E9-9A96-1C17A021CB60}"/>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BMS preserves the multi-quarter momentum record. Deep Dive examines the company using the latest evidence and states whether that evidence supports or challenges the earlier direction.</a:t>
            </a:r>
          </a:p>
        </p:txBody>
      </p:sp>
    </p:spTree>
    <p:extLst>
      <p:ext uri="{BB962C8B-B14F-4D97-AF65-F5344CB8AC3E}">
        <p14:creationId xmlns:p14="http://schemas.microsoft.com/office/powerpoint/2010/main" val="27402948"/>
      </p:ext>
    </p:extLst>
  </p:cSld>
</p:sld>
</file>

<file path=ppt/slides/slide10.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0F996F6-1E63-4C08-93EB-DE05D637D8D8}"/>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C63C070-1BF0-4204-A43E-32854976EE4A}"/>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18BD6E39-DC05-421F-ABD1-66B9D8EFCBC4}"/>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Earnings and management commentary</a:t>
            </a:r>
          </a:p>
        </p:txBody>
      </p:sp>
      <p:sp>
        <p:nvSpPr>
          <p:cNvPr id="4" name="">
            <a:extLst xmlns:a="http://schemas.openxmlformats.org/drawingml/2006/main">
              <a:ext uri="{FF2B5EF4-FFF2-40B4-BE49-F238E27FC236}">
                <a16:creationId xmlns:a16="http://schemas.microsoft.com/office/drawing/2014/main" id="{A9ECCA15-B073-4A09-A965-6F1143509954}"/>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earnings view brings quarterly results, management statements and analyst questions into one review.</a:t>
            </a:r>
          </a:p>
        </p:txBody>
      </p:sp>
      <p:sp>
        <p:nvSpPr>
          <p:cNvPr id="5" name="">
            <a:extLst xmlns:a="http://schemas.openxmlformats.org/drawingml/2006/main">
              <a:ext uri="{FF2B5EF4-FFF2-40B4-BE49-F238E27FC236}">
                <a16:creationId xmlns:a16="http://schemas.microsoft.com/office/drawing/2014/main" id="{3DC01181-D1A7-4E1D-942A-60E8C9321FB0}"/>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D06BFD94-00D5-4DCA-815F-D7F5B4974928}"/>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1028ACFB-5377-4FE1-BFF9-036EBD75D74C}"/>
              </a:ext>
            </a:extLst>
          </p:cNvPr>
          <p:cNvSpPr>
            <a:spLocks xmlns:a="http://schemas.openxmlformats.org/drawingml/2006/main" noGrp="1"/>
          </p:cNvSpPr>
          <p:nvPr/>
        </p:nvSpPr>
        <p:spPr>
          <a:xfrm xmlns:a="http://schemas.openxmlformats.org/drawingml/2006/main">
            <a:off x="457200" y="2257425"/>
            <a:ext cx="9372600" cy="6343650"/>
          </a:xfrm>
          <a:prstGeom xmlns:a="http://schemas.openxmlformats.org/drawingml/2006/main" prst="roundRect">
            <a:avLst>
              <a:gd name="adj" fmla="val 1952"/>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0a28c8b62964277"/>
          <a:stretch xmlns:a="http://schemas.openxmlformats.org/drawingml/2006/main"/>
        </p:blipFill>
        <p:spPr>
          <a:xfrm xmlns:a="http://schemas.openxmlformats.org/drawingml/2006/main">
            <a:off x="1379501" y="2333625"/>
            <a:ext cx="7527997" cy="6191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1D5CE2A-2A33-4D5D-94C0-3BF570CA9B16}"/>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A history-dependent score</a:t>
            </a:r>
          </a:p>
        </p:txBody>
      </p:sp>
      <p:sp>
        <p:nvSpPr>
          <p:cNvPr id="10" name="">
            <a:extLst xmlns:a="http://schemas.openxmlformats.org/drawingml/2006/main">
              <a:ext uri="{FF2B5EF4-FFF2-40B4-BE49-F238E27FC236}">
                <a16:creationId xmlns:a16="http://schemas.microsoft.com/office/drawing/2014/main" id="{99843EDC-4D66-4B1E-8BEB-5DC693A7A827}"/>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Management reliability should appear only after enough dated commitments have matured and can be checked against reported outcomes. Otherwise the app shows insufficient history.</a:t>
            </a:r>
          </a:p>
        </p:txBody>
      </p:sp>
    </p:spTree>
    <p:extLst>
      <p:ext uri="{BB962C8B-B14F-4D97-AF65-F5344CB8AC3E}">
        <p14:creationId xmlns:p14="http://schemas.microsoft.com/office/powerpoint/2010/main" val="1359394570"/>
      </p:ext>
    </p:extLst>
  </p:cSld>
</p:sld>
</file>

<file path=ppt/slides/slide11.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B18EC13-EFFA-49FF-982D-6499E63F8216}"/>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593A0BE-D41F-47D1-9E6F-263F6BD09B03}"/>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DF8EF17E-7121-45D6-807D-67BA979362CC}"/>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Explain the Move</a:t>
            </a:r>
          </a:p>
        </p:txBody>
      </p:sp>
      <p:sp>
        <p:nvSpPr>
          <p:cNvPr id="4" name="">
            <a:extLst xmlns:a="http://schemas.openxmlformats.org/drawingml/2006/main">
              <a:ext uri="{FF2B5EF4-FFF2-40B4-BE49-F238E27FC236}">
                <a16:creationId xmlns:a16="http://schemas.microsoft.com/office/drawing/2014/main" id="{2B820446-A71A-472B-B2EC-5C52A10DEF92}"/>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This research view asks what public catalysts and market context may explain a recent price move.</a:t>
            </a:r>
          </a:p>
        </p:txBody>
      </p:sp>
      <p:sp>
        <p:nvSpPr>
          <p:cNvPr id="5" name="">
            <a:extLst xmlns:a="http://schemas.openxmlformats.org/drawingml/2006/main">
              <a:ext uri="{FF2B5EF4-FFF2-40B4-BE49-F238E27FC236}">
                <a16:creationId xmlns:a16="http://schemas.microsoft.com/office/drawing/2014/main" id="{5BCAC2C8-4DB1-48DC-8E2D-64EAA902AF17}"/>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4C800638-B481-4379-A0F2-7BE016A70F5E}"/>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E03BFB97-B3CB-4C62-803C-BD2D0F95A811}"/>
              </a:ext>
            </a:extLst>
          </p:cNvPr>
          <p:cNvSpPr>
            <a:spLocks xmlns:a="http://schemas.openxmlformats.org/drawingml/2006/main" noGrp="1"/>
          </p:cNvSpPr>
          <p:nvPr/>
        </p:nvSpPr>
        <p:spPr>
          <a:xfrm xmlns:a="http://schemas.openxmlformats.org/drawingml/2006/main">
            <a:off x="457200" y="2352675"/>
            <a:ext cx="9372600" cy="5772150"/>
          </a:xfrm>
          <a:prstGeom xmlns:a="http://schemas.openxmlformats.org/drawingml/2006/main" prst="roundRect">
            <a:avLst>
              <a:gd name="adj" fmla="val 2145"/>
            </a:avLst>
          </a:prstGeom>
          <a:solidFill xmlns:a="http://schemas.openxmlformats.org/drawingml/2006/main">
            <a:srgbClr val="0A1220"/>
          </a:solidFill>
          <a:ln xmlns:a="http://schemas.openxmlformats.org/drawingml/2006/main" w="9525">
            <a:solidFill>
              <a:srgbClr val="33445F"/>
            </a:solid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67900fe160e4ff3"/>
          <a:stretch xmlns:a="http://schemas.openxmlformats.org/drawingml/2006/main"/>
        </p:blipFill>
        <p:spPr>
          <a:xfrm xmlns:a="http://schemas.openxmlformats.org/drawingml/2006/main">
            <a:off x="533400" y="2438222"/>
            <a:ext cx="9220200" cy="5601056"/>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91EC340C-09D2-46ED-AFB2-F2A09CA6B6A6}"/>
              </a:ext>
            </a:extLst>
          </p:cNvPr>
          <p:cNvSpPr>
            <a:spLocks xmlns:a="http://schemas.openxmlformats.org/drawingml/2006/main" noGrp="1"/>
          </p:cNvSpPr>
          <p:nvPr/>
        </p:nvSpPr>
        <p:spPr>
          <a:xfrm xmlns:a="http://schemas.openxmlformats.org/drawingml/2006/main">
            <a:off x="685800" y="8724900"/>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E7B640"/>
                </a:solidFill>
                <a:latin typeface="Aptos"/>
                <a:ea typeface="Aptos"/>
                <a:cs typeface="Aptos"/>
              </a:defRPr>
            </a:pPr>
            <a:r>
              <a:rPr sz="1200" b="1">
                <a:solidFill>
                  <a:srgbClr val="E7B640"/>
                </a:solidFill>
                <a:latin typeface="Aptos"/>
                <a:ea typeface="Aptos"/>
                <a:cs typeface="Aptos"/>
              </a:rPr>
              <a:t>Evidence before labels</a:t>
            </a:r>
          </a:p>
        </p:txBody>
      </p:sp>
      <p:sp>
        <p:nvSpPr>
          <p:cNvPr id="10" name="">
            <a:extLst xmlns:a="http://schemas.openxmlformats.org/drawingml/2006/main">
              <a:ext uri="{FF2B5EF4-FFF2-40B4-BE49-F238E27FC236}">
                <a16:creationId xmlns:a16="http://schemas.microsoft.com/office/drawing/2014/main" id="{0BFC8A7B-5D57-4778-84AE-DB99AA67E460}"/>
              </a:ext>
            </a:extLst>
          </p:cNvPr>
          <p:cNvSpPr>
            <a:spLocks xmlns:a="http://schemas.openxmlformats.org/drawingml/2006/main" noGrp="1"/>
          </p:cNvSpPr>
          <p:nvPr/>
        </p:nvSpPr>
        <p:spPr>
          <a:xfrm xmlns:a="http://schemas.openxmlformats.org/drawingml/2006/main">
            <a:off x="3352800" y="8686800"/>
            <a:ext cx="6248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D4DDEA"/>
                </a:solidFill>
                <a:latin typeface="Aptos"/>
                <a:ea typeface="Aptos"/>
                <a:cs typeface="Aptos"/>
              </a:defRPr>
            </a:pPr>
            <a:r>
              <a:rPr sz="1275" b="0">
                <a:solidFill>
                  <a:srgbClr val="D4DDEA"/>
                </a:solidFill>
                <a:latin typeface="Aptos"/>
                <a:ea typeface="Aptos"/>
                <a:cs typeface="Aptos"/>
              </a:rPr>
              <a:t>The final code removes the previous fixed RSI, delivery-ratio and breakout cards. The screen now relies on retrieved report evidence instead of reusable placeholder values.</a:t>
            </a:r>
          </a:p>
        </p:txBody>
      </p:sp>
    </p:spTree>
    <p:extLst>
      <p:ext uri="{BB962C8B-B14F-4D97-AF65-F5344CB8AC3E}">
        <p14:creationId xmlns:p14="http://schemas.microsoft.com/office/powerpoint/2010/main" val="1099285025"/>
      </p:ext>
    </p:extLst>
  </p:cSld>
</p:sld>
</file>

<file path=ppt/slides/slide12.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576EA7-CB1A-4D9B-A1B2-CA2313CDB936}"/>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9A72AE9-21E5-42E3-97E0-9E68488E69EC}"/>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1BDC02D6-69BF-4DA0-A1DF-9EAB2C73FE3A}"/>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Filings and management commentary</a:t>
            </a:r>
          </a:p>
        </p:txBody>
      </p:sp>
      <p:sp>
        <p:nvSpPr>
          <p:cNvPr id="4" name="">
            <a:extLst xmlns:a="http://schemas.openxmlformats.org/drawingml/2006/main">
              <a:ext uri="{FF2B5EF4-FFF2-40B4-BE49-F238E27FC236}">
                <a16:creationId xmlns:a16="http://schemas.microsoft.com/office/drawing/2014/main" id="{DE86D729-41B6-4522-8D5B-3FCDC32664DD}"/>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The filings view reviews dated disclosures and tracks whether management language changes over time.</a:t>
            </a:r>
          </a:p>
        </p:txBody>
      </p:sp>
      <p:sp>
        <p:nvSpPr>
          <p:cNvPr id="5" name="">
            <a:extLst xmlns:a="http://schemas.openxmlformats.org/drawingml/2006/main">
              <a:ext uri="{FF2B5EF4-FFF2-40B4-BE49-F238E27FC236}">
                <a16:creationId xmlns:a16="http://schemas.microsoft.com/office/drawing/2014/main" id="{6FCDA9C7-D615-4E41-8019-F6B1993E777A}"/>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804503BA-90C6-4591-AF58-A687B38CF89E}"/>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E8BB930F-9320-42EC-BDD7-77228D2C22F3}"/>
              </a:ext>
            </a:extLst>
          </p:cNvPr>
          <p:cNvSpPr>
            <a:spLocks xmlns:a="http://schemas.openxmlformats.org/drawingml/2006/main" noGrp="1"/>
          </p:cNvSpPr>
          <p:nvPr/>
        </p:nvSpPr>
        <p:spPr>
          <a:xfrm xmlns:a="http://schemas.openxmlformats.org/drawingml/2006/main">
            <a:off x="666750" y="2857500"/>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8" name="">
            <a:extLst xmlns:a="http://schemas.openxmlformats.org/drawingml/2006/main">
              <a:ext uri="{FF2B5EF4-FFF2-40B4-BE49-F238E27FC236}">
                <a16:creationId xmlns:a16="http://schemas.microsoft.com/office/drawing/2014/main" id="{764E0724-EEE3-41F2-8262-A0E43B762E6D}"/>
              </a:ext>
            </a:extLst>
          </p:cNvPr>
          <p:cNvSpPr>
            <a:spLocks xmlns:a="http://schemas.openxmlformats.org/drawingml/2006/main" noGrp="1"/>
          </p:cNvSpPr>
          <p:nvPr/>
        </p:nvSpPr>
        <p:spPr>
          <a:xfrm xmlns:a="http://schemas.openxmlformats.org/drawingml/2006/main">
            <a:off x="666750" y="2857500"/>
            <a:ext cx="66675" cy="18097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C62925D-C06E-4112-ADDA-3BE3FE31B218}"/>
              </a:ext>
            </a:extLst>
          </p:cNvPr>
          <p:cNvSpPr>
            <a:spLocks xmlns:a="http://schemas.openxmlformats.org/drawingml/2006/main" noGrp="1"/>
          </p:cNvSpPr>
          <p:nvPr/>
        </p:nvSpPr>
        <p:spPr>
          <a:xfrm xmlns:a="http://schemas.openxmlformats.org/drawingml/2006/main">
            <a:off x="952500" y="3124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7D9C8"/>
                </a:solidFill>
                <a:latin typeface="Aptos"/>
                <a:ea typeface="Aptos"/>
                <a:cs typeface="Aptos"/>
              </a:defRPr>
            </a:pPr>
            <a:r>
              <a:rPr sz="1650" b="1">
                <a:solidFill>
                  <a:srgbClr val="27D9C8"/>
                </a:solidFill>
                <a:latin typeface="Aptos"/>
                <a:ea typeface="Aptos"/>
                <a:cs typeface="Aptos"/>
              </a:rPr>
              <a:t>Transcript clarity</a:t>
            </a:r>
          </a:p>
        </p:txBody>
      </p:sp>
      <p:sp>
        <p:nvSpPr>
          <p:cNvPr id="10" name="">
            <a:extLst xmlns:a="http://schemas.openxmlformats.org/drawingml/2006/main">
              <a:ext uri="{FF2B5EF4-FFF2-40B4-BE49-F238E27FC236}">
                <a16:creationId xmlns:a16="http://schemas.microsoft.com/office/drawing/2014/main" id="{C62F6915-6958-47E3-87D1-664113FEAE93}"/>
              </a:ext>
            </a:extLst>
          </p:cNvPr>
          <p:cNvSpPr>
            <a:spLocks xmlns:a="http://schemas.openxmlformats.org/drawingml/2006/main" noGrp="1"/>
          </p:cNvSpPr>
          <p:nvPr/>
        </p:nvSpPr>
        <p:spPr>
          <a:xfrm xmlns:a="http://schemas.openxmlformats.org/drawingml/2006/main">
            <a:off x="952500" y="361950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Did management answer material analyst questions directly?</a:t>
            </a:r>
          </a:p>
        </p:txBody>
      </p:sp>
      <p:sp>
        <p:nvSpPr>
          <p:cNvPr id="11" name="">
            <a:extLst xmlns:a="http://schemas.openxmlformats.org/drawingml/2006/main">
              <a:ext uri="{FF2B5EF4-FFF2-40B4-BE49-F238E27FC236}">
                <a16:creationId xmlns:a16="http://schemas.microsoft.com/office/drawing/2014/main" id="{AEE5F276-12C7-4A0E-955F-A081D1CC44BA}"/>
              </a:ext>
            </a:extLst>
          </p:cNvPr>
          <p:cNvSpPr>
            <a:spLocks xmlns:a="http://schemas.openxmlformats.org/drawingml/2006/main" noGrp="1"/>
          </p:cNvSpPr>
          <p:nvPr/>
        </p:nvSpPr>
        <p:spPr>
          <a:xfrm xmlns:a="http://schemas.openxmlformats.org/drawingml/2006/main">
            <a:off x="5381625" y="2857500"/>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12" name="">
            <a:extLst xmlns:a="http://schemas.openxmlformats.org/drawingml/2006/main">
              <a:ext uri="{FF2B5EF4-FFF2-40B4-BE49-F238E27FC236}">
                <a16:creationId xmlns:a16="http://schemas.microsoft.com/office/drawing/2014/main" id="{4F0A2F61-6BC7-4ECD-97CF-C1A349D0E329}"/>
              </a:ext>
            </a:extLst>
          </p:cNvPr>
          <p:cNvSpPr>
            <a:spLocks xmlns:a="http://schemas.openxmlformats.org/drawingml/2006/main" noGrp="1"/>
          </p:cNvSpPr>
          <p:nvPr/>
        </p:nvSpPr>
        <p:spPr>
          <a:xfrm xmlns:a="http://schemas.openxmlformats.org/drawingml/2006/main">
            <a:off x="5381625" y="2857500"/>
            <a:ext cx="66675" cy="1809750"/>
          </a:xfrm>
          <a:prstGeom xmlns:a="http://schemas.openxmlformats.org/drawingml/2006/main" prst="rect">
            <a:avLst/>
          </a:prstGeom>
          <a:solidFill xmlns:a="http://schemas.openxmlformats.org/drawingml/2006/main">
            <a:srgbClr val="67E0A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A6D5EB2-EEAA-46D9-995B-78606DCAECDA}"/>
              </a:ext>
            </a:extLst>
          </p:cNvPr>
          <p:cNvSpPr>
            <a:spLocks xmlns:a="http://schemas.openxmlformats.org/drawingml/2006/main" noGrp="1"/>
          </p:cNvSpPr>
          <p:nvPr/>
        </p:nvSpPr>
        <p:spPr>
          <a:xfrm xmlns:a="http://schemas.openxmlformats.org/drawingml/2006/main">
            <a:off x="5667375" y="31242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7E0A1"/>
                </a:solidFill>
                <a:latin typeface="Aptos"/>
                <a:ea typeface="Aptos"/>
                <a:cs typeface="Aptos"/>
              </a:defRPr>
            </a:pPr>
            <a:r>
              <a:rPr sz="1650" b="1">
                <a:solidFill>
                  <a:srgbClr val="67E0A1"/>
                </a:solidFill>
                <a:latin typeface="Aptos"/>
                <a:ea typeface="Aptos"/>
                <a:cs typeface="Aptos"/>
              </a:rPr>
              <a:t>Disclosure completeness</a:t>
            </a:r>
          </a:p>
        </p:txBody>
      </p:sp>
      <p:sp>
        <p:nvSpPr>
          <p:cNvPr id="14" name="">
            <a:extLst xmlns:a="http://schemas.openxmlformats.org/drawingml/2006/main">
              <a:ext uri="{FF2B5EF4-FFF2-40B4-BE49-F238E27FC236}">
                <a16:creationId xmlns:a16="http://schemas.microsoft.com/office/drawing/2014/main" id="{41B6DAE9-328D-4350-859B-26A0AED39F2B}"/>
              </a:ext>
            </a:extLst>
          </p:cNvPr>
          <p:cNvSpPr>
            <a:spLocks xmlns:a="http://schemas.openxmlformats.org/drawingml/2006/main" noGrp="1"/>
          </p:cNvSpPr>
          <p:nvPr/>
        </p:nvSpPr>
        <p:spPr>
          <a:xfrm xmlns:a="http://schemas.openxmlformats.org/drawingml/2006/main">
            <a:off x="5667375" y="3619500"/>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Are the required facts and periods available in dated filings?</a:t>
            </a:r>
          </a:p>
        </p:txBody>
      </p:sp>
      <p:sp>
        <p:nvSpPr>
          <p:cNvPr id="15" name="">
            <a:extLst xmlns:a="http://schemas.openxmlformats.org/drawingml/2006/main">
              <a:ext uri="{FF2B5EF4-FFF2-40B4-BE49-F238E27FC236}">
                <a16:creationId xmlns:a16="http://schemas.microsoft.com/office/drawing/2014/main" id="{51F24201-023E-46E0-A106-590E56B448B3}"/>
              </a:ext>
            </a:extLst>
          </p:cNvPr>
          <p:cNvSpPr>
            <a:spLocks xmlns:a="http://schemas.openxmlformats.org/drawingml/2006/main" noGrp="1"/>
          </p:cNvSpPr>
          <p:nvPr/>
        </p:nvSpPr>
        <p:spPr>
          <a:xfrm xmlns:a="http://schemas.openxmlformats.org/drawingml/2006/main">
            <a:off x="666750" y="5191125"/>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16" name="">
            <a:extLst xmlns:a="http://schemas.openxmlformats.org/drawingml/2006/main">
              <a:ext uri="{FF2B5EF4-FFF2-40B4-BE49-F238E27FC236}">
                <a16:creationId xmlns:a16="http://schemas.microsoft.com/office/drawing/2014/main" id="{1C1327AF-5259-45F0-9F84-D4DDC95F17D1}"/>
              </a:ext>
            </a:extLst>
          </p:cNvPr>
          <p:cNvSpPr>
            <a:spLocks xmlns:a="http://schemas.openxmlformats.org/drawingml/2006/main" noGrp="1"/>
          </p:cNvSpPr>
          <p:nvPr/>
        </p:nvSpPr>
        <p:spPr>
          <a:xfrm xmlns:a="http://schemas.openxmlformats.org/drawingml/2006/main">
            <a:off x="666750" y="5191125"/>
            <a:ext cx="66675" cy="1809750"/>
          </a:xfrm>
          <a:prstGeom xmlns:a="http://schemas.openxmlformats.org/drawingml/2006/main" prst="rect">
            <a:avLst/>
          </a:prstGeom>
          <a:solidFill xmlns:a="http://schemas.openxmlformats.org/drawingml/2006/main">
            <a:srgbClr val="E7B64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0633EAE-F1CC-4467-840C-9A5F98DD2770}"/>
              </a:ext>
            </a:extLst>
          </p:cNvPr>
          <p:cNvSpPr>
            <a:spLocks xmlns:a="http://schemas.openxmlformats.org/drawingml/2006/main" noGrp="1"/>
          </p:cNvSpPr>
          <p:nvPr/>
        </p:nvSpPr>
        <p:spPr>
          <a:xfrm xmlns:a="http://schemas.openxmlformats.org/drawingml/2006/main">
            <a:off x="952500" y="54578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E7B640"/>
                </a:solidFill>
                <a:latin typeface="Aptos"/>
                <a:ea typeface="Aptos"/>
                <a:cs typeface="Aptos"/>
              </a:defRPr>
            </a:pPr>
            <a:r>
              <a:rPr sz="1650" b="1">
                <a:solidFill>
                  <a:srgbClr val="E7B640"/>
                </a:solidFill>
                <a:latin typeface="Aptos"/>
                <a:ea typeface="Aptos"/>
                <a:cs typeface="Aptos"/>
              </a:rPr>
              <a:t>Guidance realism</a:t>
            </a:r>
          </a:p>
        </p:txBody>
      </p:sp>
      <p:sp>
        <p:nvSpPr>
          <p:cNvPr id="18" name="">
            <a:extLst xmlns:a="http://schemas.openxmlformats.org/drawingml/2006/main">
              <a:ext uri="{FF2B5EF4-FFF2-40B4-BE49-F238E27FC236}">
                <a16:creationId xmlns:a16="http://schemas.microsoft.com/office/drawing/2014/main" id="{B814F3A3-6853-47BD-9171-ACB940E9E635}"/>
              </a:ext>
            </a:extLst>
          </p:cNvPr>
          <p:cNvSpPr>
            <a:spLocks xmlns:a="http://schemas.openxmlformats.org/drawingml/2006/main" noGrp="1"/>
          </p:cNvSpPr>
          <p:nvPr/>
        </p:nvSpPr>
        <p:spPr>
          <a:xfrm xmlns:a="http://schemas.openxmlformats.org/drawingml/2006/main">
            <a:off x="952500" y="5953125"/>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Are outlook statements measurable and consistent with later outcomes?</a:t>
            </a:r>
          </a:p>
        </p:txBody>
      </p:sp>
      <p:sp>
        <p:nvSpPr>
          <p:cNvPr id="19" name="">
            <a:extLst xmlns:a="http://schemas.openxmlformats.org/drawingml/2006/main">
              <a:ext uri="{FF2B5EF4-FFF2-40B4-BE49-F238E27FC236}">
                <a16:creationId xmlns:a16="http://schemas.microsoft.com/office/drawing/2014/main" id="{3F2C55B6-0186-43E1-B0DB-CB179B6E2C18}"/>
              </a:ext>
            </a:extLst>
          </p:cNvPr>
          <p:cNvSpPr>
            <a:spLocks xmlns:a="http://schemas.openxmlformats.org/drawingml/2006/main" noGrp="1"/>
          </p:cNvSpPr>
          <p:nvPr/>
        </p:nvSpPr>
        <p:spPr>
          <a:xfrm xmlns:a="http://schemas.openxmlformats.org/drawingml/2006/main">
            <a:off x="5381625" y="5191125"/>
            <a:ext cx="4238625" cy="1809750"/>
          </a:xfrm>
          <a:prstGeom xmlns:a="http://schemas.openxmlformats.org/drawingml/2006/main" prst="roundRect">
            <a:avLst>
              <a:gd name="adj" fmla="val 8421"/>
            </a:avLst>
          </a:prstGeom>
          <a:solidFill xmlns:a="http://schemas.openxmlformats.org/drawingml/2006/main">
            <a:srgbClr val="111B2D"/>
          </a:solidFill>
          <a:ln xmlns:a="http://schemas.openxmlformats.org/drawingml/2006/main" w="9525">
            <a:solidFill>
              <a:srgbClr val="33445F"/>
            </a:solidFill>
          </a:ln>
        </p:spPr>
      </p:sp>
      <p:sp>
        <p:nvSpPr>
          <p:cNvPr id="20" name="">
            <a:extLst xmlns:a="http://schemas.openxmlformats.org/drawingml/2006/main">
              <a:ext uri="{FF2B5EF4-FFF2-40B4-BE49-F238E27FC236}">
                <a16:creationId xmlns:a16="http://schemas.microsoft.com/office/drawing/2014/main" id="{1A45C593-7203-4441-BD14-ED72C68543AC}"/>
              </a:ext>
            </a:extLst>
          </p:cNvPr>
          <p:cNvSpPr>
            <a:spLocks xmlns:a="http://schemas.openxmlformats.org/drawingml/2006/main" noGrp="1"/>
          </p:cNvSpPr>
          <p:nvPr/>
        </p:nvSpPr>
        <p:spPr>
          <a:xfrm xmlns:a="http://schemas.openxmlformats.org/drawingml/2006/main">
            <a:off x="5381625" y="5191125"/>
            <a:ext cx="66675" cy="1809750"/>
          </a:xfrm>
          <a:prstGeom xmlns:a="http://schemas.openxmlformats.org/drawingml/2006/main" prst="rect">
            <a:avLst/>
          </a:prstGeom>
          <a:solidFill xmlns:a="http://schemas.openxmlformats.org/drawingml/2006/main">
            <a:srgbClr val="F4777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36F773-438D-49B2-8049-F64113067195}"/>
              </a:ext>
            </a:extLst>
          </p:cNvPr>
          <p:cNvSpPr>
            <a:spLocks xmlns:a="http://schemas.openxmlformats.org/drawingml/2006/main" noGrp="1"/>
          </p:cNvSpPr>
          <p:nvPr/>
        </p:nvSpPr>
        <p:spPr>
          <a:xfrm xmlns:a="http://schemas.openxmlformats.org/drawingml/2006/main">
            <a:off x="5667375" y="54578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47777"/>
                </a:solidFill>
                <a:latin typeface="Aptos"/>
                <a:ea typeface="Aptos"/>
                <a:cs typeface="Aptos"/>
              </a:defRPr>
            </a:pPr>
            <a:r>
              <a:rPr sz="1650" b="1">
                <a:solidFill>
                  <a:srgbClr val="F47777"/>
                </a:solidFill>
                <a:latin typeface="Aptos"/>
                <a:ea typeface="Aptos"/>
                <a:cs typeface="Aptos"/>
              </a:rPr>
              <a:t>Governance evidence</a:t>
            </a:r>
          </a:p>
        </p:txBody>
      </p:sp>
      <p:sp>
        <p:nvSpPr>
          <p:cNvPr id="22" name="">
            <a:extLst xmlns:a="http://schemas.openxmlformats.org/drawingml/2006/main">
              <a:ext uri="{FF2B5EF4-FFF2-40B4-BE49-F238E27FC236}">
                <a16:creationId xmlns:a16="http://schemas.microsoft.com/office/drawing/2014/main" id="{0EE8982F-4BD0-49BC-85F9-91D67CCE9C10}"/>
              </a:ext>
            </a:extLst>
          </p:cNvPr>
          <p:cNvSpPr>
            <a:spLocks xmlns:a="http://schemas.openxmlformats.org/drawingml/2006/main" noGrp="1"/>
          </p:cNvSpPr>
          <p:nvPr/>
        </p:nvSpPr>
        <p:spPr>
          <a:xfrm xmlns:a="http://schemas.openxmlformats.org/drawingml/2006/main">
            <a:off x="5667375" y="5953125"/>
            <a:ext cx="352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What do dated filings support—and what remains unverified?</a:t>
            </a:r>
          </a:p>
        </p:txBody>
      </p:sp>
      <p:sp>
        <p:nvSpPr>
          <p:cNvPr id="23" name="">
            <a:extLst xmlns:a="http://schemas.openxmlformats.org/drawingml/2006/main">
              <a:ext uri="{FF2B5EF4-FFF2-40B4-BE49-F238E27FC236}">
                <a16:creationId xmlns:a16="http://schemas.microsoft.com/office/drawing/2014/main" id="{B964E6D2-5C34-4B51-914C-DDC7EC66D183}"/>
              </a:ext>
            </a:extLst>
          </p:cNvPr>
          <p:cNvSpPr>
            <a:spLocks xmlns:a="http://schemas.openxmlformats.org/drawingml/2006/main" noGrp="1"/>
          </p:cNvSpPr>
          <p:nvPr/>
        </p:nvSpPr>
        <p:spPr>
          <a:xfrm xmlns:a="http://schemas.openxmlformats.org/drawingml/2006/main">
            <a:off x="952500" y="7715250"/>
            <a:ext cx="8382000" cy="1000125"/>
          </a:xfrm>
          <a:prstGeom xmlns:a="http://schemas.openxmlformats.org/drawingml/2006/main" prst="roundRect">
            <a:avLst>
              <a:gd name="adj" fmla="val 13333"/>
            </a:avLst>
          </a:prstGeom>
          <a:solidFill xmlns:a="http://schemas.openxmlformats.org/drawingml/2006/main">
            <a:srgbClr val="0D2430"/>
          </a:solidFill>
          <a:ln xmlns:a="http://schemas.openxmlformats.org/drawingml/2006/main" w="9525">
            <a:solidFill>
              <a:srgbClr val="27D9C8"/>
            </a:solidFill>
          </a:ln>
        </p:spPr>
      </p:sp>
      <p:sp>
        <p:nvSpPr>
          <p:cNvPr id="24" name="">
            <a:extLst xmlns:a="http://schemas.openxmlformats.org/drawingml/2006/main">
              <a:ext uri="{FF2B5EF4-FFF2-40B4-BE49-F238E27FC236}">
                <a16:creationId xmlns:a16="http://schemas.microsoft.com/office/drawing/2014/main" id="{4A8ED3A1-876D-401C-ADD8-9933604A78B1}"/>
              </a:ext>
            </a:extLst>
          </p:cNvPr>
          <p:cNvSpPr>
            <a:spLocks xmlns:a="http://schemas.openxmlformats.org/drawingml/2006/main" noGrp="1"/>
          </p:cNvSpPr>
          <p:nvPr/>
        </p:nvSpPr>
        <p:spPr>
          <a:xfrm xmlns:a="http://schemas.openxmlformats.org/drawingml/2006/main">
            <a:off x="1381125" y="79724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8FAFC"/>
                </a:solidFill>
                <a:latin typeface="Aptos"/>
                <a:ea typeface="Aptos"/>
                <a:cs typeface="Aptos"/>
              </a:defRPr>
            </a:pPr>
            <a:r>
              <a:rPr sz="1500" b="1">
                <a:solidFill>
                  <a:srgbClr val="F8FAFC"/>
                </a:solidFill>
                <a:latin typeface="Aptos"/>
                <a:ea typeface="Aptos"/>
                <a:cs typeface="Aptos"/>
              </a:rPr>
              <a:t>Missing evidence remains unavailable. The app does not turn a missing disclosure into a favourable or neutral score.</a:t>
            </a:r>
          </a:p>
        </p:txBody>
      </p:sp>
    </p:spTree>
    <p:extLst>
      <p:ext uri="{BB962C8B-B14F-4D97-AF65-F5344CB8AC3E}">
        <p14:creationId xmlns:p14="http://schemas.microsoft.com/office/powerpoint/2010/main" val="769997178"/>
      </p:ext>
    </p:extLst>
  </p:cSld>
</p:sld>
</file>

<file path=ppt/slides/slide13.xml><?xml version="1.0" encoding="utf-8"?>
<p:sld xmlns:p="http://schemas.openxmlformats.org/presentationml/2006/main">
  <p:cSld>
    <p:bg>
      <p:bgPr>
        <a:solidFill xmlns:a="http://schemas.openxmlformats.org/drawingml/2006/main">
          <a:srgbClr val="080D1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B8A211D-59C4-4348-B4B8-9F545AB2C35D}"/>
              </a:ext>
            </a:extLst>
          </p:cNvPr>
          <p:cNvSpPr>
            <a:spLocks xmlns:a="http://schemas.openxmlformats.org/drawingml/2006/main" noGrp="1"/>
          </p:cNvSpPr>
          <p:nvPr/>
        </p:nvSpPr>
        <p:spPr>
          <a:xfrm xmlns:a="http://schemas.openxmlformats.org/drawingml/2006/main">
            <a:off x="533400" y="438150"/>
            <a:ext cx="666750" cy="57150"/>
          </a:xfrm>
          <a:prstGeom xmlns:a="http://schemas.openxmlformats.org/drawingml/2006/main" prst="rect">
            <a:avLst/>
          </a:prstGeom>
          <a:solidFill xmlns:a="http://schemas.openxmlformats.org/drawingml/2006/main">
            <a:srgbClr val="27D9C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02FFBA-7FBE-4CE9-9659-038F10AAE8AE}"/>
              </a:ext>
            </a:extLst>
          </p:cNvPr>
          <p:cNvSpPr>
            <a:spLocks xmlns:a="http://schemas.openxmlformats.org/drawingml/2006/main" noGrp="1"/>
          </p:cNvSpPr>
          <p:nvPr/>
        </p:nvSpPr>
        <p:spPr>
          <a:xfrm xmlns:a="http://schemas.openxmlformats.org/drawingml/2006/main">
            <a:off x="533400" y="628650"/>
            <a:ext cx="571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1">
                <a:solidFill>
                  <a:srgbClr val="27D9C8"/>
                </a:solidFill>
                <a:latin typeface="Aptos"/>
                <a:ea typeface="Aptos"/>
                <a:cs typeface="Aptos"/>
              </a:defRPr>
            </a:pPr>
            <a:r>
              <a:rPr sz="975" b="1">
                <a:solidFill>
                  <a:srgbClr val="27D9C8"/>
                </a:solidFill>
                <a:latin typeface="Aptos"/>
                <a:ea typeface="Aptos"/>
                <a:cs typeface="Aptos"/>
              </a:rPr>
              <a:t>ALPHASYNTH PRODUCT WALKTHROUGH</a:t>
            </a:r>
          </a:p>
        </p:txBody>
      </p:sp>
      <p:sp>
        <p:nvSpPr>
          <p:cNvPr id="3" name="">
            <a:extLst xmlns:a="http://schemas.openxmlformats.org/drawingml/2006/main">
              <a:ext uri="{FF2B5EF4-FFF2-40B4-BE49-F238E27FC236}">
                <a16:creationId xmlns:a16="http://schemas.microsoft.com/office/drawing/2014/main" id="{8A3ED267-8BCE-494C-BFF7-C26638D9AF0A}"/>
              </a:ext>
            </a:extLst>
          </p:cNvPr>
          <p:cNvSpPr>
            <a:spLocks xmlns:a="http://schemas.openxmlformats.org/drawingml/2006/main" noGrp="1"/>
          </p:cNvSpPr>
          <p:nvPr/>
        </p:nvSpPr>
        <p:spPr>
          <a:xfrm xmlns:a="http://schemas.openxmlformats.org/drawingml/2006/main">
            <a:off x="533400" y="971550"/>
            <a:ext cx="9220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F8FAFC"/>
                </a:solidFill>
                <a:latin typeface="Aptos"/>
                <a:ea typeface="Aptos"/>
                <a:cs typeface="Aptos"/>
              </a:defRPr>
            </a:pPr>
            <a:r>
              <a:rPr sz="2775" b="1">
                <a:solidFill>
                  <a:srgbClr val="F8FAFC"/>
                </a:solidFill>
                <a:latin typeface="Aptos"/>
                <a:ea typeface="Aptos"/>
                <a:cs typeface="Aptos"/>
              </a:rPr>
              <a:t>When AlphaSynth withholds a report</a:t>
            </a:r>
          </a:p>
        </p:txBody>
      </p:sp>
      <p:sp>
        <p:nvSpPr>
          <p:cNvPr id="4" name="">
            <a:extLst xmlns:a="http://schemas.openxmlformats.org/drawingml/2006/main">
              <a:ext uri="{FF2B5EF4-FFF2-40B4-BE49-F238E27FC236}">
                <a16:creationId xmlns:a16="http://schemas.microsoft.com/office/drawing/2014/main" id="{F5619BE0-5D15-411B-A861-F8DE0C7E1ED4}"/>
              </a:ext>
            </a:extLst>
          </p:cNvPr>
          <p:cNvSpPr>
            <a:spLocks xmlns:a="http://schemas.openxmlformats.org/drawingml/2006/main" noGrp="1"/>
          </p:cNvSpPr>
          <p:nvPr/>
        </p:nvSpPr>
        <p:spPr>
          <a:xfrm xmlns:a="http://schemas.openxmlformats.org/drawingml/2006/main">
            <a:off x="533400" y="1657350"/>
            <a:ext cx="9220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4DDEA"/>
                </a:solidFill>
                <a:latin typeface="Aptos"/>
                <a:ea typeface="Aptos"/>
                <a:cs typeface="Aptos"/>
              </a:defRPr>
            </a:pPr>
            <a:r>
              <a:rPr sz="1350" b="0">
                <a:solidFill>
                  <a:srgbClr val="D4DDEA"/>
                </a:solidFill>
                <a:latin typeface="Aptos"/>
                <a:ea typeface="Aptos"/>
                <a:cs typeface="Aptos"/>
              </a:rPr>
              <a:t>A successful workflow can still decide that the evidence is not strong enough for a downloadable PDF.</a:t>
            </a:r>
          </a:p>
        </p:txBody>
      </p:sp>
      <p:sp>
        <p:nvSpPr>
          <p:cNvPr id="5" name="">
            <a:extLst xmlns:a="http://schemas.openxmlformats.org/drawingml/2006/main">
              <a:ext uri="{FF2B5EF4-FFF2-40B4-BE49-F238E27FC236}">
                <a16:creationId xmlns:a16="http://schemas.microsoft.com/office/drawing/2014/main" id="{6FEFBFB6-E9A8-4077-BF15-833D32A189FA}"/>
              </a:ext>
            </a:extLst>
          </p:cNvPr>
          <p:cNvSpPr>
            <a:spLocks xmlns:a="http://schemas.openxmlformats.org/drawingml/2006/main" noGrp="1"/>
          </p:cNvSpPr>
          <p:nvPr/>
        </p:nvSpPr>
        <p:spPr>
          <a:xfrm xmlns:a="http://schemas.openxmlformats.org/drawingml/2006/main">
            <a:off x="533400" y="967740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9EADC2"/>
                </a:solidFill>
                <a:latin typeface="Aptos"/>
                <a:ea typeface="Aptos"/>
                <a:cs typeface="Aptos"/>
              </a:defRPr>
            </a:pPr>
            <a:r>
              <a:rPr sz="900" b="0">
                <a:solidFill>
                  <a:srgbClr val="9EADC2"/>
                </a:solidFill>
                <a:latin typeface="Aptos"/>
                <a:ea typeface="Aptos"/>
                <a:cs typeface="Aptos"/>
              </a:rPr>
              <a:t>AlphaSynth Intelligence</a:t>
            </a:r>
          </a:p>
        </p:txBody>
      </p:sp>
      <p:sp>
        <p:nvSpPr>
          <p:cNvPr id="6" name="">
            <a:extLst xmlns:a="http://schemas.openxmlformats.org/drawingml/2006/main">
              <a:ext uri="{FF2B5EF4-FFF2-40B4-BE49-F238E27FC236}">
                <a16:creationId xmlns:a16="http://schemas.microsoft.com/office/drawing/2014/main" id="{724237F3-3770-42B8-B61C-93F41FDEA9E1}"/>
              </a:ext>
            </a:extLst>
          </p:cNvPr>
          <p:cNvSpPr>
            <a:spLocks xmlns:a="http://schemas.openxmlformats.org/drawingml/2006/main" noGrp="1"/>
          </p:cNvSpPr>
          <p:nvPr/>
        </p:nvSpPr>
        <p:spPr>
          <a:xfrm xmlns:a="http://schemas.openxmlformats.org/drawingml/2006/main">
            <a:off x="9048750" y="9677400"/>
            <a:ext cx="7048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1">
                <a:solidFill>
                  <a:srgbClr val="9EADC2"/>
                </a:solidFill>
                <a:latin typeface="Aptos"/>
                <a:ea typeface="Aptos"/>
                <a:cs typeface="Aptos"/>
              </a:defRPr>
            </a:pPr>
            <a:r>
              <a:rPr sz="900" b="1">
                <a:solidFill>
                  <a:srgbClr val="9EADC2"/>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091859FF-6AB9-45E5-BA4D-8B70CB38BB3B}"/>
              </a:ext>
            </a:extLst>
          </p:cNvPr>
          <p:cNvSpPr>
            <a:spLocks xmlns:a="http://schemas.openxmlformats.org/drawingml/2006/main" noGrp="1"/>
          </p:cNvSpPr>
          <p:nvPr/>
        </p:nvSpPr>
        <p:spPr>
          <a:xfrm xmlns:a="http://schemas.openxmlformats.org/drawingml/2006/main">
            <a:off x="714375" y="28575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7D9C8"/>
                </a:solidFill>
                <a:latin typeface="Aptos"/>
                <a:ea typeface="Aptos"/>
                <a:cs typeface="Aptos"/>
              </a:defRPr>
            </a:pPr>
            <a:r>
              <a:rPr sz="2025" b="1">
                <a:solidFill>
                  <a:srgbClr val="27D9C8"/>
                </a:solidFill>
                <a:latin typeface="Aptos"/>
                <a:ea typeface="Aptos"/>
                <a:cs typeface="Aptos"/>
              </a:rPr>
              <a:t>On-screen evidence report</a:t>
            </a:r>
          </a:p>
        </p:txBody>
      </p:sp>
      <p:sp>
        <p:nvSpPr>
          <p:cNvPr id="8" name="">
            <a:extLst xmlns:a="http://schemas.openxmlformats.org/drawingml/2006/main">
              <a:ext uri="{FF2B5EF4-FFF2-40B4-BE49-F238E27FC236}">
                <a16:creationId xmlns:a16="http://schemas.microsoft.com/office/drawing/2014/main" id="{3989DB67-4C98-4E18-B23F-BA726250340A}"/>
              </a:ext>
            </a:extLst>
          </p:cNvPr>
          <p:cNvSpPr>
            <a:spLocks xmlns:a="http://schemas.openxmlformats.org/drawingml/2006/main" noGrp="1"/>
          </p:cNvSpPr>
          <p:nvPr/>
        </p:nvSpPr>
        <p:spPr>
          <a:xfrm xmlns:a="http://schemas.openxmlformats.org/drawingml/2006/main">
            <a:off x="714375" y="34766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4DDEA"/>
                </a:solidFill>
                <a:latin typeface="Aptos"/>
                <a:ea typeface="Aptos"/>
                <a:cs typeface="Aptos"/>
              </a:defRPr>
            </a:pPr>
            <a:r>
              <a:rPr sz="1500" b="0">
                <a:solidFill>
                  <a:srgbClr val="D4DDEA"/>
                </a:solidFill>
                <a:latin typeface="Aptos"/>
                <a:ea typeface="Aptos"/>
                <a:cs typeface="Aptos"/>
              </a:rPr>
              <a:t>Available when the workflow has enough evidence to explain what it found and what remains missing.</a:t>
            </a:r>
          </a:p>
        </p:txBody>
      </p:sp>
      <p:sp>
        <p:nvSpPr>
          <p:cNvPr id="9" name="">
            <a:extLst xmlns:a="http://schemas.openxmlformats.org/drawingml/2006/main">
              <a:ext uri="{FF2B5EF4-FFF2-40B4-BE49-F238E27FC236}">
                <a16:creationId xmlns:a16="http://schemas.microsoft.com/office/drawing/2014/main" id="{AF4FACA7-E38A-4A88-97B8-2C8D32B5ED6F}"/>
              </a:ext>
            </a:extLst>
          </p:cNvPr>
          <p:cNvSpPr>
            <a:spLocks xmlns:a="http://schemas.openxmlformats.org/drawingml/2006/main" noGrp="1"/>
          </p:cNvSpPr>
          <p:nvPr/>
        </p:nvSpPr>
        <p:spPr>
          <a:xfrm xmlns:a="http://schemas.openxmlformats.org/drawingml/2006/main">
            <a:off x="5667375" y="285750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7B640"/>
                </a:solidFill>
                <a:latin typeface="Aptos"/>
                <a:ea typeface="Aptos"/>
                <a:cs typeface="Aptos"/>
              </a:defRPr>
            </a:pPr>
            <a:r>
              <a:rPr sz="2025" b="1">
                <a:solidFill>
                  <a:srgbClr val="E7B640"/>
                </a:solidFill>
                <a:latin typeface="Aptos"/>
                <a:ea typeface="Aptos"/>
                <a:cs typeface="Aptos"/>
              </a:rPr>
              <a:t>Downloadable PDF</a:t>
            </a:r>
          </a:p>
        </p:txBody>
      </p:sp>
      <p:sp>
        <p:nvSpPr>
          <p:cNvPr id="10" name="">
            <a:extLst xmlns:a="http://schemas.openxmlformats.org/drawingml/2006/main">
              <a:ext uri="{FF2B5EF4-FFF2-40B4-BE49-F238E27FC236}">
                <a16:creationId xmlns:a16="http://schemas.microsoft.com/office/drawing/2014/main" id="{0FC64EF3-AC19-47E7-8D0D-96F0ACC0B3ED}"/>
              </a:ext>
            </a:extLst>
          </p:cNvPr>
          <p:cNvSpPr>
            <a:spLocks xmlns:a="http://schemas.openxmlformats.org/drawingml/2006/main" noGrp="1"/>
          </p:cNvSpPr>
          <p:nvPr/>
        </p:nvSpPr>
        <p:spPr>
          <a:xfrm xmlns:a="http://schemas.openxmlformats.org/drawingml/2006/main">
            <a:off x="5667375" y="3476625"/>
            <a:ext cx="3905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D4DDEA"/>
                </a:solidFill>
                <a:latin typeface="Aptos"/>
                <a:ea typeface="Aptos"/>
                <a:cs typeface="Aptos"/>
              </a:defRPr>
            </a:pPr>
            <a:r>
              <a:rPr sz="1500" b="0">
                <a:solidFill>
                  <a:srgbClr val="D4DDEA"/>
                </a:solidFill>
                <a:latin typeface="Aptos"/>
                <a:ea typeface="Aptos"/>
                <a:cs typeface="Aptos"/>
              </a:rPr>
              <a:t>Available only after stricter checks for official sources, supported claims, narrative coverage, comparable BMS factors and later-results evidence.</a:t>
            </a:r>
          </a:p>
        </p:txBody>
      </p:sp>
      <p:sp>
        <p:nvSpPr>
          <p:cNvPr id="11" name="">
            <a:extLst xmlns:a="http://schemas.openxmlformats.org/drawingml/2006/main">
              <a:ext uri="{FF2B5EF4-FFF2-40B4-BE49-F238E27FC236}">
                <a16:creationId xmlns:a16="http://schemas.microsoft.com/office/drawing/2014/main" id="{482C95BB-7E28-47B6-BE1F-B7E5E7C520C1}"/>
              </a:ext>
            </a:extLst>
          </p:cNvPr>
          <p:cNvSpPr>
            <a:spLocks xmlns:a="http://schemas.openxmlformats.org/drawingml/2006/main" noGrp="1"/>
          </p:cNvSpPr>
          <p:nvPr/>
        </p:nvSpPr>
        <p:spPr>
          <a:xfrm xmlns:a="http://schemas.openxmlformats.org/drawingml/2006/main">
            <a:off x="714375" y="5381625"/>
            <a:ext cx="8858250" cy="19050"/>
          </a:xfrm>
          <a:prstGeom xmlns:a="http://schemas.openxmlformats.org/drawingml/2006/main" prst="rect">
            <a:avLst/>
          </a:prstGeom>
          <a:solidFill xmlns:a="http://schemas.openxmlformats.org/drawingml/2006/main">
            <a:srgbClr val="3344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86E6613-DED2-43C8-A910-95BCEAABC296}"/>
              </a:ext>
            </a:extLst>
          </p:cNvPr>
          <p:cNvSpPr>
            <a:spLocks xmlns:a="http://schemas.openxmlformats.org/drawingml/2006/main" noGrp="1"/>
          </p:cNvSpPr>
          <p:nvPr/>
        </p:nvSpPr>
        <p:spPr>
          <a:xfrm xmlns:a="http://schemas.openxmlformats.org/drawingml/2006/main">
            <a:off x="714375" y="6096000"/>
            <a:ext cx="381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8FAFC"/>
                </a:solidFill>
                <a:latin typeface="Aptos"/>
                <a:ea typeface="Aptos"/>
                <a:cs typeface="Aptos"/>
              </a:defRPr>
            </a:pPr>
            <a:r>
              <a:rPr sz="1650" b="1">
                <a:solidFill>
                  <a:srgbClr val="F8FAFC"/>
                </a:solidFill>
                <a:latin typeface="Aptos"/>
                <a:ea typeface="Aptos"/>
                <a:cs typeface="Aptos"/>
              </a:rPr>
              <a:t>Bounded validation cohort</a:t>
            </a:r>
          </a:p>
        </p:txBody>
      </p:sp>
      <p:sp>
        <p:nvSpPr>
          <p:cNvPr id="13" name="">
            <a:extLst xmlns:a="http://schemas.openxmlformats.org/drawingml/2006/main">
              <a:ext uri="{FF2B5EF4-FFF2-40B4-BE49-F238E27FC236}">
                <a16:creationId xmlns:a16="http://schemas.microsoft.com/office/drawing/2014/main" id="{FE4E0995-8AD2-4780-A1E6-11B705726393}"/>
              </a:ext>
            </a:extLst>
          </p:cNvPr>
          <p:cNvSpPr>
            <a:spLocks xmlns:a="http://schemas.openxmlformats.org/drawingml/2006/main" noGrp="1"/>
          </p:cNvSpPr>
          <p:nvPr/>
        </p:nvSpPr>
        <p:spPr>
          <a:xfrm xmlns:a="http://schemas.openxmlformats.org/drawingml/2006/main">
            <a:off x="714375" y="6619875"/>
            <a:ext cx="8667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4DDEA"/>
                </a:solidFill>
                <a:latin typeface="Aptos"/>
                <a:ea typeface="Aptos"/>
                <a:cs typeface="Aptos"/>
              </a:defRPr>
            </a:pPr>
            <a:r>
              <a:rPr sz="1650" b="0">
                <a:solidFill>
                  <a:srgbClr val="D4DDEA"/>
                </a:solidFill>
                <a:latin typeface="Aptos"/>
                <a:ea typeface="Aptos"/>
                <a:cs typeface="Aptos"/>
              </a:rPr>
              <a:t>24 of 25 workflows completed. Only 2 of 25 met the stricter PDF-readiness standard. Withholding the other PDFs was an intended safety result.</a:t>
            </a:r>
          </a:p>
        </p:txBody>
      </p:sp>
      <p:sp>
        <p:nvSpPr>
          <p:cNvPr id="14" name="">
            <a:extLst xmlns:a="http://schemas.openxmlformats.org/drawingml/2006/main">
              <a:ext uri="{FF2B5EF4-FFF2-40B4-BE49-F238E27FC236}">
                <a16:creationId xmlns:a16="http://schemas.microsoft.com/office/drawing/2014/main" id="{1DEB0793-5DB8-4A0B-AFD1-30D016EF9CEB}"/>
              </a:ext>
            </a:extLst>
          </p:cNvPr>
          <p:cNvSpPr>
            <a:spLocks xmlns:a="http://schemas.openxmlformats.org/drawingml/2006/main" noGrp="1"/>
          </p:cNvSpPr>
          <p:nvPr/>
        </p:nvSpPr>
        <p:spPr>
          <a:xfrm xmlns:a="http://schemas.openxmlformats.org/drawingml/2006/main">
            <a:off x="952500" y="8334375"/>
            <a:ext cx="8382000" cy="666750"/>
          </a:xfrm>
          <a:prstGeom xmlns:a="http://schemas.openxmlformats.org/drawingml/2006/main" prst="roundRect">
            <a:avLst>
              <a:gd name="adj" fmla="val 20000"/>
            </a:avLst>
          </a:prstGeom>
          <a:solidFill xmlns:a="http://schemas.openxmlformats.org/drawingml/2006/main">
            <a:srgbClr val="0D2430"/>
          </a:solidFill>
          <a:ln xmlns:a="http://schemas.openxmlformats.org/drawingml/2006/main" w="9525">
            <a:solidFill>
              <a:srgbClr val="27D9C8"/>
            </a:solidFill>
          </a:ln>
        </p:spPr>
      </p:sp>
      <p:sp>
        <p:nvSpPr>
          <p:cNvPr id="15" name="">
            <a:extLst xmlns:a="http://schemas.openxmlformats.org/drawingml/2006/main">
              <a:ext uri="{FF2B5EF4-FFF2-40B4-BE49-F238E27FC236}">
                <a16:creationId xmlns:a16="http://schemas.microsoft.com/office/drawing/2014/main" id="{D592C4AB-7B53-4803-9EB1-613C07EE4672}"/>
              </a:ext>
            </a:extLst>
          </p:cNvPr>
          <p:cNvSpPr>
            <a:spLocks xmlns:a="http://schemas.openxmlformats.org/drawingml/2006/main" noGrp="1"/>
          </p:cNvSpPr>
          <p:nvPr/>
        </p:nvSpPr>
        <p:spPr>
          <a:xfrm xmlns:a="http://schemas.openxmlformats.org/drawingml/2006/main">
            <a:off x="1238250" y="8524875"/>
            <a:ext cx="781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F8FAFC"/>
                </a:solidFill>
                <a:latin typeface="Aptos"/>
                <a:ea typeface="Aptos"/>
                <a:cs typeface="Aptos"/>
              </a:defRPr>
            </a:pPr>
            <a:r>
              <a:rPr sz="1350" b="1">
                <a:solidFill>
                  <a:srgbClr val="F8FAFC"/>
                </a:solidFill>
                <a:latin typeface="Aptos"/>
                <a:ea typeface="Aptos"/>
                <a:cs typeface="Aptos"/>
              </a:rPr>
              <a:t>Live pilot: expectation-pilot---alphasynth-equity-oqc2y4ogda-uc.a.run.app</a:t>
            </a:r>
          </a:p>
        </p:txBody>
      </p:sp>
    </p:spTree>
    <p:extLst>
      <p:ext uri="{BB962C8B-B14F-4D97-AF65-F5344CB8AC3E}">
        <p14:creationId xmlns:p14="http://schemas.microsoft.com/office/powerpoint/2010/main" val="18266216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2026-09-15T08:07:41.5320000Z</dcterms:created>
  <dcterms:modified xsi:type="dcterms:W3CDTF">2026-09-15T08:07:41.5320000Z</dcterms:modified>
</coreProperties>
</file>