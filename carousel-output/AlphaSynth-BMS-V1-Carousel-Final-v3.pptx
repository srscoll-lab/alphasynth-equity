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ef1d7974404d92" /><Relationship Type="http://schemas.openxmlformats.org/officeDocument/2006/relationships/extended-properties" Target="/docProps/app.xml" Id="R38284c62942b4d10" /><Relationship Type="http://schemas.openxmlformats.org/officeDocument/2006/relationships/officeDocument" Target="/ppt/presentation.xml" Id="R8682c34b46d542be" /></Relationships>
</file>

<file path=ppt/presentation.xml><?xml version="1.0" encoding="utf-8"?>
<p:presentation xmlns:p="http://schemas.openxmlformats.org/presentationml/2006/main">
  <p:sldMasterIdLst>
    <p:sldMasterId xmlns:r="http://schemas.openxmlformats.org/officeDocument/2006/relationships" id="2147483648" r:id="R95544a48330940ac"/>
  </p:sldMasterIdLst>
  <p:notesMasterIdLst>
    <p:notesMasterId xmlns:r="http://schemas.openxmlformats.org/officeDocument/2006/relationships" r:id="R31048e382c9646c1"/>
  </p:notesMasterIdLst>
  <p:sldIdLst>
    <p:sldId xmlns:r="http://schemas.openxmlformats.org/officeDocument/2006/relationships" id="256" r:id="Raaf824a230884f06"/>
    <p:sldId xmlns:r="http://schemas.openxmlformats.org/officeDocument/2006/relationships" id="257" r:id="R408f52c5b6dc48ff"/>
    <p:sldId xmlns:r="http://schemas.openxmlformats.org/officeDocument/2006/relationships" id="258" r:id="R352ffefb540d4de8"/>
    <p:sldId xmlns:r="http://schemas.openxmlformats.org/officeDocument/2006/relationships" id="259" r:id="R50ac7fce6a3a43b8"/>
    <p:sldId xmlns:r="http://schemas.openxmlformats.org/officeDocument/2006/relationships" id="260" r:id="R295627eed83141f0"/>
    <p:sldId xmlns:r="http://schemas.openxmlformats.org/officeDocument/2006/relationships" id="261" r:id="R777e4b265ea442c9"/>
    <p:sldId xmlns:r="http://schemas.openxmlformats.org/officeDocument/2006/relationships" id="262" r:id="R776a6fa8ac014d43"/>
    <p:sldId xmlns:r="http://schemas.openxmlformats.org/officeDocument/2006/relationships" id="263" r:id="Rb39defe046ce4f2f"/>
    <p:sldId xmlns:r="http://schemas.openxmlformats.org/officeDocument/2006/relationships" id="264" r:id="R36e124e0230b4966"/>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78f3494bd46ae" /><Relationship Type="http://schemas.openxmlformats.org/officeDocument/2006/relationships/slideMaster" Target="/ppt/slideMasters/slideMaster1.xml" Id="R95544a48330940ac" /><Relationship Type="http://schemas.openxmlformats.org/officeDocument/2006/relationships/notesMaster" Target="/ppt/notesMasters/notesMaster1.xml" Id="R31048e382c9646c1" /><Relationship Type="http://schemas.openxmlformats.org/officeDocument/2006/relationships/presProps" Target="/ppt/presProps.xml" Id="Rd8b1aff82fbf4c22" /><Relationship Type="http://schemas.openxmlformats.org/officeDocument/2006/relationships/tableStyles" Target="/ppt/tableStyles.xml" Id="R125b64f731a24d93" /><Relationship Type="http://schemas.openxmlformats.org/officeDocument/2006/relationships/slide" Target="/ppt/slides/slide1.xml" Id="Raaf824a230884f06" /><Relationship Type="http://schemas.openxmlformats.org/officeDocument/2006/relationships/slide" Target="/ppt/slides/slide2.xml" Id="R408f52c5b6dc48ff" /><Relationship Type="http://schemas.openxmlformats.org/officeDocument/2006/relationships/slide" Target="/ppt/slides/slide3.xml" Id="R352ffefb540d4de8" /><Relationship Type="http://schemas.openxmlformats.org/officeDocument/2006/relationships/slide" Target="/ppt/slides/slide4.xml" Id="R50ac7fce6a3a43b8" /><Relationship Type="http://schemas.openxmlformats.org/officeDocument/2006/relationships/slide" Target="/ppt/slides/slide5.xml" Id="R295627eed83141f0" /><Relationship Type="http://schemas.openxmlformats.org/officeDocument/2006/relationships/slide" Target="/ppt/slides/slide6.xml" Id="R777e4b265ea442c9" /><Relationship Type="http://schemas.openxmlformats.org/officeDocument/2006/relationships/slide" Target="/ppt/slides/slide7.xml" Id="R776a6fa8ac014d43" /><Relationship Type="http://schemas.openxmlformats.org/officeDocument/2006/relationships/slide" Target="/ppt/slides/slide8.xml" Id="Rb39defe046ce4f2f" /><Relationship Type="http://schemas.openxmlformats.org/officeDocument/2006/relationships/slide" Target="/ppt/slides/slide9.xml" Id="R36e124e0230b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5d57d49db645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14cab3daec41b0" /><Relationship Type="http://schemas.openxmlformats.org/officeDocument/2006/relationships/notesMaster" Target="/ppt/notesMasters/notesMaster1.xml" Id="Rfc1425c768ff49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00e2e75dcd40aa" /><Relationship Type="http://schemas.openxmlformats.org/officeDocument/2006/relationships/notesMaster" Target="/ppt/notesMasters/notesMaster1.xml" Id="R6b6c74b1dcfc49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0802899f204766" /><Relationship Type="http://schemas.openxmlformats.org/officeDocument/2006/relationships/notesMaster" Target="/ppt/notesMasters/notesMaster1.xml" Id="Rc26ff89f135d43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9be6d570a4b57" /><Relationship Type="http://schemas.openxmlformats.org/officeDocument/2006/relationships/notesMaster" Target="/ppt/notesMasters/notesMaster1.xml" Id="R20b8b6a338ec45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5962b978534d30" /><Relationship Type="http://schemas.openxmlformats.org/officeDocument/2006/relationships/notesMaster" Target="/ppt/notesMasters/notesMaster1.xml" Id="R0f0016a04f164b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8cc9172264f35" /><Relationship Type="http://schemas.openxmlformats.org/officeDocument/2006/relationships/notesMaster" Target="/ppt/notesMasters/notesMaster1.xml" Id="R6b8c09468d5a41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15cc6f7ba040db" /><Relationship Type="http://schemas.openxmlformats.org/officeDocument/2006/relationships/notesMaster" Target="/ppt/notesMasters/notesMaster1.xml" Id="R2144ab7e46e04e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de5c5b456c4090" /><Relationship Type="http://schemas.openxmlformats.org/officeDocument/2006/relationships/notesMaster" Target="/ppt/notesMasters/notesMaster1.xml" Id="R2426ace036e942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ffd23644204508" /><Relationship Type="http://schemas.openxmlformats.org/officeDocument/2006/relationships/notesMaster" Target="/ppt/notesMasters/notesMaster1.xml" Id="R0b94aa24c9fd42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investment platforms tell us what a company has already reported. AlphaSynth asks a different question: where is business momentum changing, and does later evidence support that early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does not try to duplicate screeners. Its purpose is to organise the harder judgement: whether a change is early, whether it persists, and whether management and measurable outcomes support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BMS uses five factors. Earnings, economics and execution receive twenty-five percent each. Balance sheet receives fifteen percent and management delivery receives ten percent. The score describes direction. Confidence describes how complete and comparable the evidence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adds time to the score. Watch captures early evidence. Emerging marks a new signal. Building and Established require broader persistence. Fading warns that momentum has weakened. The lifecycle is not an investment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AlphaSynth records a lifecycle, it checks later results to see whether the earlier reading still holds. The original lifecycle remains part of the historical record. The new evidence can raise, lower or leave today's research priority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management ledger stores commitments quarter by quarter. A reliability score appears only after at least three commitments mature with verifiable outcomes. Until then, the system says insufficient history rather than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final twenty-five-company test, twenty-four completed the technical path and produced a usable delivery overlay. Only two met the stricter PDF standard. That low PDF rate is deliberate because an incomplete report should not look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remains compact. A separate evidence workspace provides the full explanation. Every company can show what is available on screen, while the PDF remains selective. Missing evidence stays visible instead of being filled with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BMS V1 is ready for structured peer feedback. It detects fundamental momentum and preserves its evidence trail. It does not claim to predict multibaggers or replace due diligence. Open the live pilot to see the signal tracker and its supporting evidence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224565eeeb4d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6b451c51da4638" /><Relationship Type="http://schemas.openxmlformats.org/officeDocument/2006/relationships/slideLayout" Target="/ppt/slideLayouts/slideLayout1.xml" Id="R73819aeaccb94e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819aeaccb94e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3119a42fdb4d2f" /><Relationship Type="http://schemas.openxmlformats.org/officeDocument/2006/relationships/image" Target="/ppt/media/image.png" Id="R50a343f4a6b24b5c" /><Relationship Type="http://schemas.openxmlformats.org/officeDocument/2006/relationships/notesSlide" Target="/ppt/notesSlides/notesSlide1.xml" Id="R68980c3ce5b144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ef0316a44d4df0" /><Relationship Type="http://schemas.openxmlformats.org/officeDocument/2006/relationships/notesSlide" Target="/ppt/notesSlides/notesSlide2.xml" Id="R89ae2ca55bbe4d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10760c66dd4ced" /><Relationship Type="http://schemas.openxmlformats.org/officeDocument/2006/relationships/chart" Target="/ppt/slides/charts/chart1.xml" Id="Rd340ce0be2c34440" /><Relationship Type="http://schemas.openxmlformats.org/officeDocument/2006/relationships/notesSlide" Target="/ppt/notesSlides/notesSlide3.xml" Id="R9fcc7945ab9a40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2d167ae26b431c" /><Relationship Type="http://schemas.openxmlformats.org/officeDocument/2006/relationships/notesSlide" Target="/ppt/notesSlides/notesSlide4.xml" Id="R41f5a82ca7fb42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7b04126a8041b9" /><Relationship Type="http://schemas.openxmlformats.org/officeDocument/2006/relationships/notesSlide" Target="/ppt/notesSlides/notesSlide5.xml" Id="Rd96a7112101940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e5a5cfd3e7486c" /><Relationship Type="http://schemas.openxmlformats.org/officeDocument/2006/relationships/notesSlide" Target="/ppt/notesSlides/notesSlide6.xml" Id="R693ca74448e5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2bb845586e4c07" /><Relationship Type="http://schemas.openxmlformats.org/officeDocument/2006/relationships/chart" Target="/ppt/slides/charts/chart2.xml" Id="Rfa119dd22c88407b" /><Relationship Type="http://schemas.openxmlformats.org/officeDocument/2006/relationships/notesSlide" Target="/ppt/notesSlides/notesSlide7.xml" Id="Rd1fc4fff988541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cc307d385147ec" /><Relationship Type="http://schemas.openxmlformats.org/officeDocument/2006/relationships/notesSlide" Target="/ppt/notesSlides/notesSlide8.xml" Id="Rfbdcb4a2446745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1b6a8c04ce4fde" /><Relationship Type="http://schemas.openxmlformats.org/officeDocument/2006/relationships/image" Target="/ppt/media/image2.png" Id="Rf5f886d7d58e47cb" /><Relationship Type="http://schemas.openxmlformats.org/officeDocument/2006/relationships/notesSlide" Target="/ppt/notesSlides/notesSlide9.xml" Id="R42f6b675dcda4c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Weight</c:v>
          </c:tx>
          <c:spPr>
            <a:solidFill xmlns:a="http://schemas.openxmlformats.org/drawingml/2006/main">
              <a:srgbClr val="22D3C5"/>
            </a:solidFill>
          </c:spPr>
          <c:cat>
            <c:strRef>
              <c:f>'Chart Data'!$A$2:$A$6</c:f>
              <c:strCache>
                <c:ptCount val="5"/>
                <c:pt idx="0">
                  <c:v>Earnings</c:v>
                </c:pt>
                <c:pt idx="1">
                  <c:v>Economics</c:v>
                </c:pt>
                <c:pt idx="2">
                  <c:v>Execution</c:v>
                </c:pt>
                <c:pt idx="3">
                  <c:v>Balance sheet</c:v>
                </c:pt>
                <c:pt idx="4">
                  <c:v>Management</c:v>
                </c:pt>
              </c:strCache>
            </c:strRef>
          </c:cat>
          <c:val>
            <c:numRef>
              <c:f>'Chart Data'!$B$2:$B$6</c:f>
              <c:numCache>
                <c:formatCode>General</c:formatCode>
                <c:ptCount val="5"/>
                <c:pt idx="0">
                  <c:v>25</c:v>
                </c:pt>
                <c:pt idx="1">
                  <c:v>25</c:v>
                </c:pt>
                <c:pt idx="2">
                  <c:v>25</c:v>
                </c:pt>
                <c:pt idx="3">
                  <c:v>15</c:v>
                </c:pt>
                <c:pt idx="4">
                  <c:v>10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cohort</c:v>
          </c:tx>
          <c:spPr>
            <a:solidFill xmlns:a="http://schemas.openxmlformats.org/drawingml/2006/main">
              <a:srgbClr val="22D3C5"/>
            </a:solidFill>
          </c:spPr>
          <c:cat>
            <c:strRef>
              <c:f>'Chart Data'!$A$2:$A$4</c:f>
              <c:strCache>
                <c:ptCount val="3"/>
                <c:pt idx="0">
                  <c:v>Technical success</c:v>
                </c:pt>
                <c:pt idx="1">
                  <c:v>Usable delivery overlay</c:v>
                </c:pt>
                <c:pt idx="2">
                  <c:v>PDF ready</c:v>
                </c:pt>
              </c:strCache>
            </c:strRef>
          </c:cat>
          <c:val>
            <c:numRef>
              <c:f>'Chart Data'!$B$2:$B$4</c:f>
              <c:numCache>
                <c:formatCode>General</c:formatCode>
                <c:ptCount val="3"/>
                <c:pt idx="0">
                  <c:v>96</c:v>
                </c:pt>
                <c:pt idx="1">
                  <c:v>96</c:v>
                </c:pt>
                <c:pt idx="2">
                  <c:v>8</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0a343f4a6b24b5c"/>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9FF6FC-5A38-444B-BB1C-7CBB935CF6D1}"/>
              </a:ext>
            </a:extLst>
          </p:cNvPr>
          <p:cNvSpPr>
            <a:spLocks xmlns:a="http://schemas.openxmlformats.org/drawingml/2006/main" noGrp="1"/>
          </p:cNvSpPr>
          <p:nvPr/>
        </p:nvSpPr>
        <p:spPr>
          <a:xfrm xmlns:a="http://schemas.openxmlformats.org/drawingml/2006/main">
            <a:off x="0" y="0"/>
            <a:ext cx="59055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BA9798-9EAB-4432-A848-CBF178B2C59C}"/>
              </a:ext>
            </a:extLst>
          </p:cNvPr>
          <p:cNvSpPr>
            <a:spLocks xmlns:a="http://schemas.openxmlformats.org/drawingml/2006/main" noGrp="1"/>
          </p:cNvSpPr>
          <p:nvPr/>
        </p:nvSpPr>
        <p:spPr>
          <a:xfrm xmlns:a="http://schemas.openxmlformats.org/drawingml/2006/main">
            <a:off x="666750" y="11049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06970E-74DA-4CE7-8114-656D5BFA5391}"/>
              </a:ext>
            </a:extLst>
          </p:cNvPr>
          <p:cNvSpPr>
            <a:spLocks xmlns:a="http://schemas.openxmlformats.org/drawingml/2006/main" noGrp="1"/>
          </p:cNvSpPr>
          <p:nvPr/>
        </p:nvSpPr>
        <p:spPr>
          <a:xfrm xmlns:a="http://schemas.openxmlformats.org/drawingml/2006/main">
            <a:off x="666750" y="1333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ALPHASYNTH INTELLIGENCE</a:t>
            </a:r>
          </a:p>
        </p:txBody>
      </p:sp>
      <p:sp>
        <p:nvSpPr>
          <p:cNvPr id="5" name="">
            <a:extLst xmlns:a="http://schemas.openxmlformats.org/drawingml/2006/main">
              <a:ext uri="{FF2B5EF4-FFF2-40B4-BE49-F238E27FC236}">
                <a16:creationId xmlns:a16="http://schemas.microsoft.com/office/drawing/2014/main" id="{5BDAFBE3-4DED-4C92-9990-0BC0AFCEB197}"/>
              </a:ext>
            </a:extLst>
          </p:cNvPr>
          <p:cNvSpPr>
            <a:spLocks xmlns:a="http://schemas.openxmlformats.org/drawingml/2006/main" noGrp="1"/>
          </p:cNvSpPr>
          <p:nvPr/>
        </p:nvSpPr>
        <p:spPr>
          <a:xfrm xmlns:a="http://schemas.openxmlformats.org/drawingml/2006/main">
            <a:off x="666750" y="2381250"/>
            <a:ext cx="6572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7F9FC"/>
                </a:solidFill>
                <a:latin typeface="Aptos"/>
                <a:ea typeface="Aptos"/>
                <a:cs typeface="Aptos"/>
              </a:defRPr>
            </a:pPr>
            <a:r>
              <a:rPr sz="4350" b="1">
                <a:solidFill>
                  <a:srgbClr val="F7F9FC"/>
                </a:solidFill>
                <a:latin typeface="Aptos"/>
                <a:ea typeface="Aptos"/>
                <a:cs typeface="Aptos"/>
              </a:rPr>
              <a:t>Business momentum</a:t>
            </a:r>
          </a:p>
          <a:p xmlns:a="http://schemas.openxmlformats.org/drawingml/2006/main">
            <a:pPr>
              <a:defRPr sz="4350" b="1">
                <a:solidFill>
                  <a:srgbClr val="F7F9FC"/>
                </a:solidFill>
                <a:latin typeface="Aptos"/>
                <a:ea typeface="Aptos"/>
                <a:cs typeface="Aptos"/>
              </a:defRPr>
            </a:pPr>
            <a:r>
              <a:rPr sz="4350" b="1">
                <a:solidFill>
                  <a:srgbClr val="F7F9FC"/>
                </a:solidFill>
                <a:latin typeface="Aptos"/>
                <a:ea typeface="Aptos"/>
                <a:cs typeface="Aptos"/>
              </a:rPr>
              <a:t>with an evidence trail</a:t>
            </a:r>
          </a:p>
        </p:txBody>
      </p:sp>
      <p:sp>
        <p:nvSpPr>
          <p:cNvPr id="6" name="">
            <a:extLst xmlns:a="http://schemas.openxmlformats.org/drawingml/2006/main">
              <a:ext uri="{FF2B5EF4-FFF2-40B4-BE49-F238E27FC236}">
                <a16:creationId xmlns:a16="http://schemas.microsoft.com/office/drawing/2014/main" id="{4835C7CA-59CC-4EE1-9598-FA417A3235D1}"/>
              </a:ext>
            </a:extLst>
          </p:cNvPr>
          <p:cNvSpPr>
            <a:spLocks xmlns:a="http://schemas.openxmlformats.org/drawingml/2006/main" noGrp="1"/>
          </p:cNvSpPr>
          <p:nvPr/>
        </p:nvSpPr>
        <p:spPr>
          <a:xfrm xmlns:a="http://schemas.openxmlformats.org/drawingml/2006/main">
            <a:off x="685800" y="5410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9C3D4"/>
                </a:solidFill>
                <a:latin typeface="Aptos"/>
                <a:ea typeface="Aptos"/>
                <a:cs typeface="Aptos"/>
              </a:defRPr>
            </a:pPr>
            <a:r>
              <a:rPr sz="1875" b="0">
                <a:solidFill>
                  <a:srgbClr val="B9C3D4"/>
                </a:solidFill>
                <a:latin typeface="Aptos"/>
                <a:ea typeface="Aptos"/>
                <a:cs typeface="Aptos"/>
              </a:rPr>
              <a:t>A research prioritisation system for detecting change, checking delivery and preserving uncertainty.</a:t>
            </a:r>
          </a:p>
        </p:txBody>
      </p:sp>
      <p:sp>
        <p:nvSpPr>
          <p:cNvPr id="7" name="">
            <a:extLst xmlns:a="http://schemas.openxmlformats.org/drawingml/2006/main">
              <a:ext uri="{FF2B5EF4-FFF2-40B4-BE49-F238E27FC236}">
                <a16:creationId xmlns:a16="http://schemas.microsoft.com/office/drawing/2014/main" id="{12E16922-650A-463B-903B-F87F35DAC0D2}"/>
              </a:ext>
            </a:extLst>
          </p:cNvPr>
          <p:cNvSpPr>
            <a:spLocks xmlns:a="http://schemas.openxmlformats.org/drawingml/2006/main" noGrp="1"/>
          </p:cNvSpPr>
          <p:nvPr/>
        </p:nvSpPr>
        <p:spPr>
          <a:xfrm xmlns:a="http://schemas.openxmlformats.org/drawingml/2006/main">
            <a:off x="685800" y="87439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718096"/>
                </a:solidFill>
                <a:latin typeface="Aptos"/>
                <a:ea typeface="Aptos"/>
                <a:cs typeface="Aptos"/>
              </a:defRPr>
            </a:pPr>
            <a:r>
              <a:rPr sz="1125" b="1">
                <a:solidFill>
                  <a:srgbClr val="718096"/>
                </a:solidFill>
                <a:latin typeface="Aptos"/>
                <a:ea typeface="Aptos"/>
                <a:cs typeface="Aptos"/>
              </a:rPr>
              <a:t>BMS V1, peer review edition</a:t>
            </a:r>
          </a:p>
        </p:txBody>
      </p:sp>
    </p:spTree>
    <p:extLst>
      <p:ext uri="{BB962C8B-B14F-4D97-AF65-F5344CB8AC3E}">
        <p14:creationId xmlns:p14="http://schemas.microsoft.com/office/powerpoint/2010/main" val="1765374960"/>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F3EA68-DE8F-4492-9400-049F72348DC2}"/>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8A23D7-E54C-4D12-B43F-98ECA078F467}"/>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78A6FCDA-514F-459E-B9AA-DC3AF38A262C}"/>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Financial data is abundant. Early interpretation remains difficult</a:t>
            </a:r>
          </a:p>
        </p:txBody>
      </p:sp>
      <p:sp>
        <p:nvSpPr>
          <p:cNvPr id="4" name="">
            <a:extLst xmlns:a="http://schemas.openxmlformats.org/drawingml/2006/main">
              <a:ext uri="{FF2B5EF4-FFF2-40B4-BE49-F238E27FC236}">
                <a16:creationId xmlns:a16="http://schemas.microsoft.com/office/drawing/2014/main" id="{5BDFC8D1-90E6-4AE2-AA30-9D25832CD4FD}"/>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B60777E4-787D-40F7-B39B-C8983385E437}"/>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1C205386-7480-4F5A-A563-A8226879CE38}"/>
              </a:ext>
            </a:extLst>
          </p:cNvPr>
          <p:cNvSpPr>
            <a:spLocks xmlns:a="http://schemas.openxmlformats.org/drawingml/2006/main" noGrp="1"/>
          </p:cNvSpPr>
          <p:nvPr/>
        </p:nvSpPr>
        <p:spPr>
          <a:xfrm xmlns:a="http://schemas.openxmlformats.org/drawingml/2006/main">
            <a:off x="666750" y="2857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3D4"/>
                </a:solidFill>
                <a:latin typeface="Aptos"/>
                <a:ea typeface="Aptos"/>
                <a:cs typeface="Aptos"/>
              </a:defRPr>
            </a:pPr>
            <a:r>
              <a:rPr sz="2025" b="0">
                <a:solidFill>
                  <a:srgbClr val="B9C3D4"/>
                </a:solidFill>
                <a:latin typeface="Aptos"/>
                <a:ea typeface="Aptos"/>
                <a:cs typeface="Aptos"/>
              </a:rPr>
              <a:t>Revenue, profit and valuation ratios are available on many platforms.</a:t>
            </a:r>
          </a:p>
        </p:txBody>
      </p:sp>
      <p:sp>
        <p:nvSpPr>
          <p:cNvPr id="7" name="">
            <a:extLst xmlns:a="http://schemas.openxmlformats.org/drawingml/2006/main">
              <a:ext uri="{FF2B5EF4-FFF2-40B4-BE49-F238E27FC236}">
                <a16:creationId xmlns:a16="http://schemas.microsoft.com/office/drawing/2014/main" id="{002DAEF5-6E09-418B-BA35-9B151F45C4DE}"/>
              </a:ext>
            </a:extLst>
          </p:cNvPr>
          <p:cNvSpPr>
            <a:spLocks xmlns:a="http://schemas.openxmlformats.org/drawingml/2006/main" noGrp="1"/>
          </p:cNvSpPr>
          <p:nvPr/>
        </p:nvSpPr>
        <p:spPr>
          <a:xfrm xmlns:a="http://schemas.openxmlformats.org/drawingml/2006/main">
            <a:off x="666750" y="3905250"/>
            <a:ext cx="78105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3D4C85-0304-4677-BE5D-54A0BE4DA936}"/>
              </a:ext>
            </a:extLst>
          </p:cNvPr>
          <p:cNvSpPr>
            <a:spLocks xmlns:a="http://schemas.openxmlformats.org/drawingml/2006/main" noGrp="1"/>
          </p:cNvSpPr>
          <p:nvPr/>
        </p:nvSpPr>
        <p:spPr>
          <a:xfrm xmlns:a="http://schemas.openxmlformats.org/drawingml/2006/main">
            <a:off x="666750" y="43624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8AA3D"/>
                </a:solidFill>
                <a:latin typeface="Aptos"/>
                <a:ea typeface="Aptos"/>
                <a:cs typeface="Aptos"/>
              </a:defRPr>
            </a:pPr>
            <a:r>
              <a:rPr sz="1650" b="1">
                <a:solidFill>
                  <a:srgbClr val="D8AA3D"/>
                </a:solidFill>
                <a:latin typeface="Aptos"/>
                <a:ea typeface="Aptos"/>
                <a:cs typeface="Aptos"/>
              </a:rPr>
              <a:t>The harder questions</a:t>
            </a:r>
          </a:p>
        </p:txBody>
      </p:sp>
      <p:sp>
        <p:nvSpPr>
          <p:cNvPr id="9" name="">
            <a:extLst xmlns:a="http://schemas.openxmlformats.org/drawingml/2006/main">
              <a:ext uri="{FF2B5EF4-FFF2-40B4-BE49-F238E27FC236}">
                <a16:creationId xmlns:a16="http://schemas.microsoft.com/office/drawing/2014/main" id="{E5A782FC-6F27-4F55-9D43-7D9957A4DBF6}"/>
              </a:ext>
            </a:extLst>
          </p:cNvPr>
          <p:cNvSpPr>
            <a:spLocks xmlns:a="http://schemas.openxmlformats.org/drawingml/2006/main" noGrp="1"/>
          </p:cNvSpPr>
          <p:nvPr/>
        </p:nvSpPr>
        <p:spPr>
          <a:xfrm xmlns:a="http://schemas.openxmlformats.org/drawingml/2006/main">
            <a:off x="666750" y="5143500"/>
            <a:ext cx="8191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the change new or persistent?</a:t>
            </a:r>
          </a:p>
        </p:txBody>
      </p:sp>
      <p:sp>
        <p:nvSpPr>
          <p:cNvPr id="10" name="">
            <a:extLst xmlns:a="http://schemas.openxmlformats.org/drawingml/2006/main">
              <a:ext uri="{FF2B5EF4-FFF2-40B4-BE49-F238E27FC236}">
                <a16:creationId xmlns:a16="http://schemas.microsoft.com/office/drawing/2014/main" id="{4A225F0C-FC99-4A54-BBE5-DB85E7DDA252}"/>
              </a:ext>
            </a:extLst>
          </p:cNvPr>
          <p:cNvSpPr>
            <a:spLocks xmlns:a="http://schemas.openxmlformats.org/drawingml/2006/main" noGrp="1"/>
          </p:cNvSpPr>
          <p:nvPr/>
        </p:nvSpPr>
        <p:spPr>
          <a:xfrm xmlns:a="http://schemas.openxmlformats.org/drawingml/2006/main">
            <a:off x="666750" y="6076950"/>
            <a:ext cx="838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management delivering what it previously said?</a:t>
            </a:r>
          </a:p>
        </p:txBody>
      </p:sp>
      <p:sp>
        <p:nvSpPr>
          <p:cNvPr id="11" name="">
            <a:extLst xmlns:a="http://schemas.openxmlformats.org/drawingml/2006/main">
              <a:ext uri="{FF2B5EF4-FFF2-40B4-BE49-F238E27FC236}">
                <a16:creationId xmlns:a16="http://schemas.microsoft.com/office/drawing/2014/main" id="{BBCED246-3842-42C0-BC7A-B2F67B903CC5}"/>
              </a:ext>
            </a:extLst>
          </p:cNvPr>
          <p:cNvSpPr>
            <a:spLocks xmlns:a="http://schemas.openxmlformats.org/drawingml/2006/main" noGrp="1"/>
          </p:cNvSpPr>
          <p:nvPr/>
        </p:nvSpPr>
        <p:spPr>
          <a:xfrm xmlns:a="http://schemas.openxmlformats.org/drawingml/2006/main">
            <a:off x="666750" y="70104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Does the available evidence justify deeper research?</a:t>
            </a:r>
          </a:p>
        </p:txBody>
      </p:sp>
      <p:sp>
        <p:nvSpPr>
          <p:cNvPr id="12" name="">
            <a:extLst xmlns:a="http://schemas.openxmlformats.org/drawingml/2006/main">
              <a:ext uri="{FF2B5EF4-FFF2-40B4-BE49-F238E27FC236}">
                <a16:creationId xmlns:a16="http://schemas.microsoft.com/office/drawing/2014/main" id="{B73F871C-D8BA-4839-A5A6-F7F006AD1F72}"/>
              </a:ext>
            </a:extLst>
          </p:cNvPr>
          <p:cNvSpPr>
            <a:spLocks xmlns:a="http://schemas.openxmlformats.org/drawingml/2006/main" noGrp="1"/>
          </p:cNvSpPr>
          <p:nvPr/>
        </p:nvSpPr>
        <p:spPr>
          <a:xfrm xmlns:a="http://schemas.openxmlformats.org/drawingml/2006/main">
            <a:off x="666750" y="8229600"/>
            <a:ext cx="828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2D3C5"/>
                </a:solidFill>
                <a:latin typeface="Aptos"/>
                <a:ea typeface="Aptos"/>
                <a:cs typeface="Aptos"/>
              </a:defRPr>
            </a:pPr>
            <a:r>
              <a:rPr sz="1725" b="0">
                <a:solidFill>
                  <a:srgbClr val="22D3C5"/>
                </a:solidFill>
                <a:latin typeface="Aptos"/>
                <a:ea typeface="Aptos"/>
                <a:cs typeface="Aptos"/>
              </a:rPr>
              <a:t>AlphaSynth organises these questions before a user commits time to a full company review.</a:t>
            </a:r>
          </a:p>
        </p:txBody>
      </p:sp>
    </p:spTree>
    <p:extLst>
      <p:ext uri="{BB962C8B-B14F-4D97-AF65-F5344CB8AC3E}">
        <p14:creationId xmlns:p14="http://schemas.microsoft.com/office/powerpoint/2010/main" val="976421370"/>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837B5CB-A026-43F1-94F6-048FC9AADDC9}"/>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638FCD-E999-4442-BA13-8A9C40F327E1}"/>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D6E644EE-6C97-400E-BFCC-AA17F177CA77}"/>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Business Momentum Score</a:t>
            </a:r>
          </a:p>
        </p:txBody>
      </p:sp>
      <p:sp>
        <p:nvSpPr>
          <p:cNvPr id="4" name="">
            <a:extLst xmlns:a="http://schemas.openxmlformats.org/drawingml/2006/main">
              <a:ext uri="{FF2B5EF4-FFF2-40B4-BE49-F238E27FC236}">
                <a16:creationId xmlns:a16="http://schemas.microsoft.com/office/drawing/2014/main" id="{A8A9ADE2-113F-450B-B4EE-5A49D13CF743}"/>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D2BFCB61-224C-4614-9DD5-F4B3C0EE39F8}"/>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9B7A666-26C8-4C14-8D4C-EF5C59C406E2}"/>
              </a:ext>
            </a:extLst>
          </p:cNvPr>
          <p:cNvSpPr>
            <a:spLocks xmlns:a="http://schemas.openxmlformats.org/drawingml/2006/main" noGrp="1"/>
          </p:cNvSpPr>
          <p:nvPr/>
        </p:nvSpPr>
        <p:spPr>
          <a:xfrm xmlns:a="http://schemas.openxmlformats.org/drawingml/2006/main">
            <a:off x="628650" y="2333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Five evidence categories describe the direction of fundamental change.</a:t>
            </a:r>
          </a:p>
        </p:txBody>
      </p:sp>
      <p:graphicFrame>
        <p:nvGraphicFramePr>
          <p:cNvPr id="29" name="Chart"/>
          <p:cNvGraphicFramePr/>
          <p:nvPr/>
        </p:nvGraphicFramePr>
        <p:xfrm>
          <a:off xmlns:a="http://schemas.openxmlformats.org/drawingml/2006/main" x="619125" y="3143250"/>
          <a:ext xmlns:a="http://schemas.openxmlformats.org/drawingml/2006/main" cx="9048750" cy="3714750"/>
        </p:xfrm>
        <a:graphic xmlns:a="http://schemas.openxmlformats.org/drawingml/2006/main">
          <a:graphicData uri="http://schemas.openxmlformats.org/drawingml/2006/chart">
            <c:chart xmlns:r="http://schemas.openxmlformats.org/officeDocument/2006/relationships" xmlns:c="http://schemas.openxmlformats.org/drawingml/2006/chart" r:id="Rd340ce0be2c34440"/>
          </a:graphicData>
        </a:graphic>
      </p:graphicFrame>
      <p:sp>
        <p:nvSpPr>
          <p:cNvPr id="8" name="">
            <a:extLst xmlns:a="http://schemas.openxmlformats.org/drawingml/2006/main">
              <a:ext uri="{FF2B5EF4-FFF2-40B4-BE49-F238E27FC236}">
                <a16:creationId xmlns:a16="http://schemas.microsoft.com/office/drawing/2014/main" id="{BA4FBD31-BA77-4E7F-B73B-587D2EC96689}"/>
              </a:ext>
            </a:extLst>
          </p:cNvPr>
          <p:cNvSpPr>
            <a:spLocks xmlns:a="http://schemas.openxmlformats.org/drawingml/2006/main" noGrp="1"/>
          </p:cNvSpPr>
          <p:nvPr/>
        </p:nvSpPr>
        <p:spPr>
          <a:xfrm xmlns:a="http://schemas.openxmlformats.org/drawingml/2006/main">
            <a:off x="12573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9" name="">
            <a:extLst xmlns:a="http://schemas.openxmlformats.org/drawingml/2006/main">
              <a:ext uri="{FF2B5EF4-FFF2-40B4-BE49-F238E27FC236}">
                <a16:creationId xmlns:a16="http://schemas.microsoft.com/office/drawing/2014/main" id="{A3F38C39-90BD-4BD1-95FA-AFDCB1CDEFA7}"/>
              </a:ext>
            </a:extLst>
          </p:cNvPr>
          <p:cNvSpPr>
            <a:spLocks xmlns:a="http://schemas.openxmlformats.org/drawingml/2006/main" noGrp="1"/>
          </p:cNvSpPr>
          <p:nvPr/>
        </p:nvSpPr>
        <p:spPr>
          <a:xfrm xmlns:a="http://schemas.openxmlformats.org/drawingml/2006/main">
            <a:off x="30099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D8862C70-027B-43AB-9A8B-C2580B90EC85}"/>
              </a:ext>
            </a:extLst>
          </p:cNvPr>
          <p:cNvSpPr>
            <a:spLocks xmlns:a="http://schemas.openxmlformats.org/drawingml/2006/main" noGrp="1"/>
          </p:cNvSpPr>
          <p:nvPr/>
        </p:nvSpPr>
        <p:spPr>
          <a:xfrm xmlns:a="http://schemas.openxmlformats.org/drawingml/2006/main">
            <a:off x="47625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1" name="">
            <a:extLst xmlns:a="http://schemas.openxmlformats.org/drawingml/2006/main">
              <a:ext uri="{FF2B5EF4-FFF2-40B4-BE49-F238E27FC236}">
                <a16:creationId xmlns:a16="http://schemas.microsoft.com/office/drawing/2014/main" id="{5C721C5B-93B3-4F56-87D3-9B5972603998}"/>
              </a:ext>
            </a:extLst>
          </p:cNvPr>
          <p:cNvSpPr>
            <a:spLocks xmlns:a="http://schemas.openxmlformats.org/drawingml/2006/main" noGrp="1"/>
          </p:cNvSpPr>
          <p:nvPr/>
        </p:nvSpPr>
        <p:spPr>
          <a:xfrm xmlns:a="http://schemas.openxmlformats.org/drawingml/2006/main">
            <a:off x="6515100" y="49339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15%</a:t>
            </a:r>
          </a:p>
        </p:txBody>
      </p:sp>
      <p:sp>
        <p:nvSpPr>
          <p:cNvPr id="12" name="">
            <a:extLst xmlns:a="http://schemas.openxmlformats.org/drawingml/2006/main">
              <a:ext uri="{FF2B5EF4-FFF2-40B4-BE49-F238E27FC236}">
                <a16:creationId xmlns:a16="http://schemas.microsoft.com/office/drawing/2014/main" id="{02DA1BDF-74F9-4DFC-A2E3-2F909809ABED}"/>
              </a:ext>
            </a:extLst>
          </p:cNvPr>
          <p:cNvSpPr>
            <a:spLocks xmlns:a="http://schemas.openxmlformats.org/drawingml/2006/main" noGrp="1"/>
          </p:cNvSpPr>
          <p:nvPr/>
        </p:nvSpPr>
        <p:spPr>
          <a:xfrm xmlns:a="http://schemas.openxmlformats.org/drawingml/2006/main">
            <a:off x="8267700" y="54768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10%</a:t>
            </a:r>
          </a:p>
        </p:txBody>
      </p:sp>
      <p:sp>
        <p:nvSpPr>
          <p:cNvPr id="13" name="">
            <a:extLst xmlns:a="http://schemas.openxmlformats.org/drawingml/2006/main">
              <a:ext uri="{FF2B5EF4-FFF2-40B4-BE49-F238E27FC236}">
                <a16:creationId xmlns:a16="http://schemas.microsoft.com/office/drawing/2014/main" id="{6C34BABD-C21C-4EEF-9D51-F006D37E9EC4}"/>
              </a:ext>
            </a:extLst>
          </p:cNvPr>
          <p:cNvSpPr>
            <a:spLocks xmlns:a="http://schemas.openxmlformats.org/drawingml/2006/main" noGrp="1"/>
          </p:cNvSpPr>
          <p:nvPr/>
        </p:nvSpPr>
        <p:spPr>
          <a:xfrm xmlns:a="http://schemas.openxmlformats.org/drawingml/2006/main">
            <a:off x="819150"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EARNINGS</a:t>
            </a:r>
          </a:p>
        </p:txBody>
      </p:sp>
      <p:sp>
        <p:nvSpPr>
          <p:cNvPr id="14" name="">
            <a:extLst xmlns:a="http://schemas.openxmlformats.org/drawingml/2006/main">
              <a:ext uri="{FF2B5EF4-FFF2-40B4-BE49-F238E27FC236}">
                <a16:creationId xmlns:a16="http://schemas.microsoft.com/office/drawing/2014/main" id="{B62643DB-D12D-49A7-B962-165D6ED87135}"/>
              </a:ext>
            </a:extLst>
          </p:cNvPr>
          <p:cNvSpPr>
            <a:spLocks xmlns:a="http://schemas.openxmlformats.org/drawingml/2006/main" noGrp="1"/>
          </p:cNvSpPr>
          <p:nvPr/>
        </p:nvSpPr>
        <p:spPr>
          <a:xfrm xmlns:a="http://schemas.openxmlformats.org/drawingml/2006/main">
            <a:off x="25812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ECONOMICS</a:t>
            </a:r>
          </a:p>
        </p:txBody>
      </p:sp>
      <p:sp>
        <p:nvSpPr>
          <p:cNvPr id="15" name="">
            <a:extLst xmlns:a="http://schemas.openxmlformats.org/drawingml/2006/main">
              <a:ext uri="{FF2B5EF4-FFF2-40B4-BE49-F238E27FC236}">
                <a16:creationId xmlns:a16="http://schemas.microsoft.com/office/drawing/2014/main" id="{33D6CE19-A939-45F6-8E98-FAB43B0B4AE0}"/>
              </a:ext>
            </a:extLst>
          </p:cNvPr>
          <p:cNvSpPr>
            <a:spLocks xmlns:a="http://schemas.openxmlformats.org/drawingml/2006/main" noGrp="1"/>
          </p:cNvSpPr>
          <p:nvPr/>
        </p:nvSpPr>
        <p:spPr>
          <a:xfrm xmlns:a="http://schemas.openxmlformats.org/drawingml/2006/main">
            <a:off x="43338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EXECUTION</a:t>
            </a:r>
          </a:p>
        </p:txBody>
      </p:sp>
      <p:sp>
        <p:nvSpPr>
          <p:cNvPr id="16" name="">
            <a:extLst xmlns:a="http://schemas.openxmlformats.org/drawingml/2006/main">
              <a:ext uri="{FF2B5EF4-FFF2-40B4-BE49-F238E27FC236}">
                <a16:creationId xmlns:a16="http://schemas.microsoft.com/office/drawing/2014/main" id="{4E7B4E16-D932-4D16-A299-4404743A3AB0}"/>
              </a:ext>
            </a:extLst>
          </p:cNvPr>
          <p:cNvSpPr>
            <a:spLocks xmlns:a="http://schemas.openxmlformats.org/drawingml/2006/main" noGrp="1"/>
          </p:cNvSpPr>
          <p:nvPr/>
        </p:nvSpPr>
        <p:spPr>
          <a:xfrm xmlns:a="http://schemas.openxmlformats.org/drawingml/2006/main">
            <a:off x="60864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BALANCE SHEET</a:t>
            </a:r>
          </a:p>
        </p:txBody>
      </p:sp>
      <p:sp>
        <p:nvSpPr>
          <p:cNvPr id="17" name="">
            <a:extLst xmlns:a="http://schemas.openxmlformats.org/drawingml/2006/main">
              <a:ext uri="{FF2B5EF4-FFF2-40B4-BE49-F238E27FC236}">
                <a16:creationId xmlns:a16="http://schemas.microsoft.com/office/drawing/2014/main" id="{ED97B619-04E5-470A-AB91-7905E3210CDF}"/>
              </a:ext>
            </a:extLst>
          </p:cNvPr>
          <p:cNvSpPr>
            <a:spLocks xmlns:a="http://schemas.openxmlformats.org/drawingml/2006/main" noGrp="1"/>
          </p:cNvSpPr>
          <p:nvPr/>
        </p:nvSpPr>
        <p:spPr>
          <a:xfrm xmlns:a="http://schemas.openxmlformats.org/drawingml/2006/main">
            <a:off x="78390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MANAGEMENT</a:t>
            </a:r>
          </a:p>
        </p:txBody>
      </p:sp>
      <p:sp>
        <p:nvSpPr>
          <p:cNvPr id="18" name="">
            <a:extLst xmlns:a="http://schemas.openxmlformats.org/drawingml/2006/main">
              <a:ext uri="{FF2B5EF4-FFF2-40B4-BE49-F238E27FC236}">
                <a16:creationId xmlns:a16="http://schemas.microsoft.com/office/drawing/2014/main" id="{E6C57F2A-206C-4C7B-BEAF-402C117DFCBB}"/>
              </a:ext>
            </a:extLst>
          </p:cNvPr>
          <p:cNvSpPr>
            <a:spLocks xmlns:a="http://schemas.openxmlformats.org/drawingml/2006/main" noGrp="1"/>
          </p:cNvSpPr>
          <p:nvPr/>
        </p:nvSpPr>
        <p:spPr>
          <a:xfrm xmlns:a="http://schemas.openxmlformats.org/drawingml/2006/main">
            <a:off x="647700" y="73533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SCORE</a:t>
            </a:r>
          </a:p>
        </p:txBody>
      </p:sp>
      <p:sp>
        <p:nvSpPr>
          <p:cNvPr id="19" name="">
            <a:extLst xmlns:a="http://schemas.openxmlformats.org/drawingml/2006/main">
              <a:ext uri="{FF2B5EF4-FFF2-40B4-BE49-F238E27FC236}">
                <a16:creationId xmlns:a16="http://schemas.microsoft.com/office/drawing/2014/main" id="{9EDE55BB-3015-4423-9385-B4A5EB11CB0C}"/>
              </a:ext>
            </a:extLst>
          </p:cNvPr>
          <p:cNvSpPr>
            <a:spLocks xmlns:a="http://schemas.openxmlformats.org/drawingml/2006/main" noGrp="1"/>
          </p:cNvSpPr>
          <p:nvPr/>
        </p:nvSpPr>
        <p:spPr>
          <a:xfrm xmlns:a="http://schemas.openxmlformats.org/drawingml/2006/main">
            <a:off x="647700" y="7658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Direction and strength of measured change</a:t>
            </a:r>
          </a:p>
        </p:txBody>
      </p:sp>
      <p:sp>
        <p:nvSpPr>
          <p:cNvPr id="20" name="">
            <a:extLst xmlns:a="http://schemas.openxmlformats.org/drawingml/2006/main">
              <a:ext uri="{FF2B5EF4-FFF2-40B4-BE49-F238E27FC236}">
                <a16:creationId xmlns:a16="http://schemas.microsoft.com/office/drawing/2014/main" id="{521D0290-0069-4E35-AC44-2D55A8776954}"/>
              </a:ext>
            </a:extLst>
          </p:cNvPr>
          <p:cNvSpPr>
            <a:spLocks xmlns:a="http://schemas.openxmlformats.org/drawingml/2006/main" noGrp="1"/>
          </p:cNvSpPr>
          <p:nvPr/>
        </p:nvSpPr>
        <p:spPr>
          <a:xfrm xmlns:a="http://schemas.openxmlformats.org/drawingml/2006/main">
            <a:off x="5334000" y="73533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CONFIDENCE</a:t>
            </a:r>
          </a:p>
        </p:txBody>
      </p:sp>
      <p:sp>
        <p:nvSpPr>
          <p:cNvPr id="21" name="">
            <a:extLst xmlns:a="http://schemas.openxmlformats.org/drawingml/2006/main">
              <a:ext uri="{FF2B5EF4-FFF2-40B4-BE49-F238E27FC236}">
                <a16:creationId xmlns:a16="http://schemas.microsoft.com/office/drawing/2014/main" id="{8175488F-103E-4E34-910C-96FEE1EAC31A}"/>
              </a:ext>
            </a:extLst>
          </p:cNvPr>
          <p:cNvSpPr>
            <a:spLocks xmlns:a="http://schemas.openxmlformats.org/drawingml/2006/main" noGrp="1"/>
          </p:cNvSpPr>
          <p:nvPr/>
        </p:nvSpPr>
        <p:spPr>
          <a:xfrm xmlns:a="http://schemas.openxmlformats.org/drawingml/2006/main">
            <a:off x="5334000" y="76581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Completeness and comparability of supporting evidence</a:t>
            </a:r>
          </a:p>
        </p:txBody>
      </p:sp>
      <p:sp>
        <p:nvSpPr>
          <p:cNvPr id="22" name="">
            <a:extLst xmlns:a="http://schemas.openxmlformats.org/drawingml/2006/main">
              <a:ext uri="{FF2B5EF4-FFF2-40B4-BE49-F238E27FC236}">
                <a16:creationId xmlns:a16="http://schemas.microsoft.com/office/drawing/2014/main" id="{ADE5FC9F-0BF3-48D4-BB53-EE898F81416D}"/>
              </a:ext>
            </a:extLst>
          </p:cNvPr>
          <p:cNvSpPr>
            <a:spLocks xmlns:a="http://schemas.openxmlformats.org/drawingml/2006/main" noGrp="1"/>
          </p:cNvSpPr>
          <p:nvPr/>
        </p:nvSpPr>
        <p:spPr>
          <a:xfrm xmlns:a="http://schemas.openxmlformats.org/drawingml/2006/main">
            <a:off x="647700" y="87630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A high score can still carry medium confidence.</a:t>
            </a:r>
          </a:p>
        </p:txBody>
      </p:sp>
    </p:spTree>
    <p:extLst>
      <p:ext uri="{BB962C8B-B14F-4D97-AF65-F5344CB8AC3E}">
        <p14:creationId xmlns:p14="http://schemas.microsoft.com/office/powerpoint/2010/main" val="668925417"/>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FFEF493-EE3D-4D6B-A2B0-76EE191A21EB}"/>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E22742-20D6-43F5-AE1B-DFA9CCCB3794}"/>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AEF232D9-146D-435E-9B1B-F0C33FF6F6A5}"/>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momentum lifecycle</a:t>
            </a:r>
          </a:p>
        </p:txBody>
      </p:sp>
      <p:sp>
        <p:nvSpPr>
          <p:cNvPr id="4" name="">
            <a:extLst xmlns:a="http://schemas.openxmlformats.org/drawingml/2006/main">
              <a:ext uri="{FF2B5EF4-FFF2-40B4-BE49-F238E27FC236}">
                <a16:creationId xmlns:a16="http://schemas.microsoft.com/office/drawing/2014/main" id="{66B66540-856B-4B9C-94A5-7AB7B2EC8409}"/>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7080AA72-0F16-4830-A5E9-060799C44B3E}"/>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58838A8-CB52-43BF-B898-78E9A1774159}"/>
              </a:ext>
            </a:extLst>
          </p:cNvPr>
          <p:cNvSpPr>
            <a:spLocks xmlns:a="http://schemas.openxmlformats.org/drawingml/2006/main" noGrp="1"/>
          </p:cNvSpPr>
          <p:nvPr/>
        </p:nvSpPr>
        <p:spPr>
          <a:xfrm xmlns:a="http://schemas.openxmlformats.org/drawingml/2006/main">
            <a:off x="628650" y="2333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Successive results determine whether an early change broadens, persists or fades.</a:t>
            </a:r>
          </a:p>
        </p:txBody>
      </p:sp>
      <p:sp>
        <p:nvSpPr>
          <p:cNvPr id="7" name="">
            <a:extLst xmlns:a="http://schemas.openxmlformats.org/drawingml/2006/main">
              <a:ext uri="{FF2B5EF4-FFF2-40B4-BE49-F238E27FC236}">
                <a16:creationId xmlns:a16="http://schemas.microsoft.com/office/drawing/2014/main" id="{9EDDC190-5C24-4CCD-A4ED-A1FE8C782763}"/>
              </a:ext>
            </a:extLst>
          </p:cNvPr>
          <p:cNvSpPr>
            <a:spLocks xmlns:a="http://schemas.openxmlformats.org/drawingml/2006/main" noGrp="1"/>
          </p:cNvSpPr>
          <p:nvPr/>
        </p:nvSpPr>
        <p:spPr>
          <a:xfrm xmlns:a="http://schemas.openxmlformats.org/drawingml/2006/main">
            <a:off x="685800" y="33337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4FE7F64-B99A-4870-A87B-0A8E5E6DBBBA}"/>
              </a:ext>
            </a:extLst>
          </p:cNvPr>
          <p:cNvSpPr>
            <a:spLocks xmlns:a="http://schemas.openxmlformats.org/drawingml/2006/main" noGrp="1"/>
          </p:cNvSpPr>
          <p:nvPr/>
        </p:nvSpPr>
        <p:spPr>
          <a:xfrm xmlns:a="http://schemas.openxmlformats.org/drawingml/2006/main">
            <a:off x="1428750" y="3333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WATCH</a:t>
            </a:r>
          </a:p>
        </p:txBody>
      </p:sp>
      <p:sp>
        <p:nvSpPr>
          <p:cNvPr id="9" name="">
            <a:extLst xmlns:a="http://schemas.openxmlformats.org/drawingml/2006/main">
              <a:ext uri="{FF2B5EF4-FFF2-40B4-BE49-F238E27FC236}">
                <a16:creationId xmlns:a16="http://schemas.microsoft.com/office/drawing/2014/main" id="{AEBC2947-7353-423A-AD34-5E342C512918}"/>
              </a:ext>
            </a:extLst>
          </p:cNvPr>
          <p:cNvSpPr>
            <a:spLocks xmlns:a="http://schemas.openxmlformats.org/drawingml/2006/main" noGrp="1"/>
          </p:cNvSpPr>
          <p:nvPr/>
        </p:nvSpPr>
        <p:spPr>
          <a:xfrm xmlns:a="http://schemas.openxmlformats.org/drawingml/2006/main">
            <a:off x="4762500" y="33337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First evidence</a:t>
            </a:r>
          </a:p>
        </p:txBody>
      </p:sp>
      <p:sp>
        <p:nvSpPr>
          <p:cNvPr id="10" name="">
            <a:extLst xmlns:a="http://schemas.openxmlformats.org/drawingml/2006/main">
              <a:ext uri="{FF2B5EF4-FFF2-40B4-BE49-F238E27FC236}">
                <a16:creationId xmlns:a16="http://schemas.microsoft.com/office/drawing/2014/main" id="{CF698E7E-42B1-40A1-BD36-F7B9963BAB89}"/>
              </a:ext>
            </a:extLst>
          </p:cNvPr>
          <p:cNvSpPr>
            <a:spLocks xmlns:a="http://schemas.openxmlformats.org/drawingml/2006/main" noGrp="1"/>
          </p:cNvSpPr>
          <p:nvPr/>
        </p:nvSpPr>
        <p:spPr>
          <a:xfrm xmlns:a="http://schemas.openxmlformats.org/drawingml/2006/main">
            <a:off x="952500" y="39719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2C3AC5-4FE2-4223-8110-86B119CEE42D}"/>
              </a:ext>
            </a:extLst>
          </p:cNvPr>
          <p:cNvSpPr>
            <a:spLocks xmlns:a="http://schemas.openxmlformats.org/drawingml/2006/main" noGrp="1"/>
          </p:cNvSpPr>
          <p:nvPr/>
        </p:nvSpPr>
        <p:spPr>
          <a:xfrm xmlns:a="http://schemas.openxmlformats.org/drawingml/2006/main">
            <a:off x="685800" y="44005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DA36400-9292-4C1C-8709-B40887FC14BB}"/>
              </a:ext>
            </a:extLst>
          </p:cNvPr>
          <p:cNvSpPr>
            <a:spLocks xmlns:a="http://schemas.openxmlformats.org/drawingml/2006/main" noGrp="1"/>
          </p:cNvSpPr>
          <p:nvPr/>
        </p:nvSpPr>
        <p:spPr>
          <a:xfrm xmlns:a="http://schemas.openxmlformats.org/drawingml/2006/main">
            <a:off x="1428750" y="44005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EMERGING</a:t>
            </a:r>
          </a:p>
        </p:txBody>
      </p:sp>
      <p:sp>
        <p:nvSpPr>
          <p:cNvPr id="13" name="">
            <a:extLst xmlns:a="http://schemas.openxmlformats.org/drawingml/2006/main">
              <a:ext uri="{FF2B5EF4-FFF2-40B4-BE49-F238E27FC236}">
                <a16:creationId xmlns:a16="http://schemas.microsoft.com/office/drawing/2014/main" id="{229F808A-1F31-4E5F-9DEE-7103AB1E9B1D}"/>
              </a:ext>
            </a:extLst>
          </p:cNvPr>
          <p:cNvSpPr>
            <a:spLocks xmlns:a="http://schemas.openxmlformats.org/drawingml/2006/main" noGrp="1"/>
          </p:cNvSpPr>
          <p:nvPr/>
        </p:nvSpPr>
        <p:spPr>
          <a:xfrm xmlns:a="http://schemas.openxmlformats.org/drawingml/2006/main">
            <a:off x="4762500" y="44005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New signal</a:t>
            </a:r>
          </a:p>
        </p:txBody>
      </p:sp>
      <p:sp>
        <p:nvSpPr>
          <p:cNvPr id="14" name="">
            <a:extLst xmlns:a="http://schemas.openxmlformats.org/drawingml/2006/main">
              <a:ext uri="{FF2B5EF4-FFF2-40B4-BE49-F238E27FC236}">
                <a16:creationId xmlns:a16="http://schemas.microsoft.com/office/drawing/2014/main" id="{3E6EE635-689D-451D-8253-D3BCCB933BEB}"/>
              </a:ext>
            </a:extLst>
          </p:cNvPr>
          <p:cNvSpPr>
            <a:spLocks xmlns:a="http://schemas.openxmlformats.org/drawingml/2006/main" noGrp="1"/>
          </p:cNvSpPr>
          <p:nvPr/>
        </p:nvSpPr>
        <p:spPr>
          <a:xfrm xmlns:a="http://schemas.openxmlformats.org/drawingml/2006/main">
            <a:off x="952500" y="50387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954BF53-EE5A-4DFC-96A6-4B7D33534442}"/>
              </a:ext>
            </a:extLst>
          </p:cNvPr>
          <p:cNvSpPr>
            <a:spLocks xmlns:a="http://schemas.openxmlformats.org/drawingml/2006/main" noGrp="1"/>
          </p:cNvSpPr>
          <p:nvPr/>
        </p:nvSpPr>
        <p:spPr>
          <a:xfrm xmlns:a="http://schemas.openxmlformats.org/drawingml/2006/main">
            <a:off x="685800" y="54673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0D1DB237-8909-46A8-BA34-AEA9C2783257}"/>
              </a:ext>
            </a:extLst>
          </p:cNvPr>
          <p:cNvSpPr>
            <a:spLocks xmlns:a="http://schemas.openxmlformats.org/drawingml/2006/main" noGrp="1"/>
          </p:cNvSpPr>
          <p:nvPr/>
        </p:nvSpPr>
        <p:spPr>
          <a:xfrm xmlns:a="http://schemas.openxmlformats.org/drawingml/2006/main">
            <a:off x="1428750" y="54673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BUILDING</a:t>
            </a:r>
          </a:p>
        </p:txBody>
      </p:sp>
      <p:sp>
        <p:nvSpPr>
          <p:cNvPr id="17" name="">
            <a:extLst xmlns:a="http://schemas.openxmlformats.org/drawingml/2006/main">
              <a:ext uri="{FF2B5EF4-FFF2-40B4-BE49-F238E27FC236}">
                <a16:creationId xmlns:a16="http://schemas.microsoft.com/office/drawing/2014/main" id="{44D29F9E-C7E2-4EAD-8A91-72C97E61E76F}"/>
              </a:ext>
            </a:extLst>
          </p:cNvPr>
          <p:cNvSpPr>
            <a:spLocks xmlns:a="http://schemas.openxmlformats.org/drawingml/2006/main" noGrp="1"/>
          </p:cNvSpPr>
          <p:nvPr/>
        </p:nvSpPr>
        <p:spPr>
          <a:xfrm xmlns:a="http://schemas.openxmlformats.org/drawingml/2006/main">
            <a:off x="4762500" y="54673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Broader confirmation</a:t>
            </a:r>
          </a:p>
        </p:txBody>
      </p:sp>
      <p:sp>
        <p:nvSpPr>
          <p:cNvPr id="18" name="">
            <a:extLst xmlns:a="http://schemas.openxmlformats.org/drawingml/2006/main">
              <a:ext uri="{FF2B5EF4-FFF2-40B4-BE49-F238E27FC236}">
                <a16:creationId xmlns:a16="http://schemas.microsoft.com/office/drawing/2014/main" id="{DC579A82-BD06-49DB-84F0-2CB999CFE5DF}"/>
              </a:ext>
            </a:extLst>
          </p:cNvPr>
          <p:cNvSpPr>
            <a:spLocks xmlns:a="http://schemas.openxmlformats.org/drawingml/2006/main" noGrp="1"/>
          </p:cNvSpPr>
          <p:nvPr/>
        </p:nvSpPr>
        <p:spPr>
          <a:xfrm xmlns:a="http://schemas.openxmlformats.org/drawingml/2006/main">
            <a:off x="952500" y="61055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5F49518-E7C4-4E0F-A6E4-3A09A9BE6495}"/>
              </a:ext>
            </a:extLst>
          </p:cNvPr>
          <p:cNvSpPr>
            <a:spLocks xmlns:a="http://schemas.openxmlformats.org/drawingml/2006/main" noGrp="1"/>
          </p:cNvSpPr>
          <p:nvPr/>
        </p:nvSpPr>
        <p:spPr>
          <a:xfrm xmlns:a="http://schemas.openxmlformats.org/drawingml/2006/main">
            <a:off x="685800" y="65341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CD5247C-4749-49EB-BBE3-8D462EE1D1A3}"/>
              </a:ext>
            </a:extLst>
          </p:cNvPr>
          <p:cNvSpPr>
            <a:spLocks xmlns:a="http://schemas.openxmlformats.org/drawingml/2006/main" noGrp="1"/>
          </p:cNvSpPr>
          <p:nvPr/>
        </p:nvSpPr>
        <p:spPr>
          <a:xfrm xmlns:a="http://schemas.openxmlformats.org/drawingml/2006/main">
            <a:off x="1428750" y="65341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ESTABLISHED</a:t>
            </a:r>
          </a:p>
        </p:txBody>
      </p:sp>
      <p:sp>
        <p:nvSpPr>
          <p:cNvPr id="21" name="">
            <a:extLst xmlns:a="http://schemas.openxmlformats.org/drawingml/2006/main">
              <a:ext uri="{FF2B5EF4-FFF2-40B4-BE49-F238E27FC236}">
                <a16:creationId xmlns:a16="http://schemas.microsoft.com/office/drawing/2014/main" id="{DC8C69DF-CEA6-4B88-AD6E-D0380607E469}"/>
              </a:ext>
            </a:extLst>
          </p:cNvPr>
          <p:cNvSpPr>
            <a:spLocks xmlns:a="http://schemas.openxmlformats.org/drawingml/2006/main" noGrp="1"/>
          </p:cNvSpPr>
          <p:nvPr/>
        </p:nvSpPr>
        <p:spPr>
          <a:xfrm xmlns:a="http://schemas.openxmlformats.org/drawingml/2006/main">
            <a:off x="4762500" y="65341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Persistent delivery</a:t>
            </a:r>
          </a:p>
        </p:txBody>
      </p:sp>
      <p:sp>
        <p:nvSpPr>
          <p:cNvPr id="22" name="">
            <a:extLst xmlns:a="http://schemas.openxmlformats.org/drawingml/2006/main">
              <a:ext uri="{FF2B5EF4-FFF2-40B4-BE49-F238E27FC236}">
                <a16:creationId xmlns:a16="http://schemas.microsoft.com/office/drawing/2014/main" id="{29D2FAAD-6FBE-4C13-88A4-92DBD2ABB3BE}"/>
              </a:ext>
            </a:extLst>
          </p:cNvPr>
          <p:cNvSpPr>
            <a:spLocks xmlns:a="http://schemas.openxmlformats.org/drawingml/2006/main" noGrp="1"/>
          </p:cNvSpPr>
          <p:nvPr/>
        </p:nvSpPr>
        <p:spPr>
          <a:xfrm xmlns:a="http://schemas.openxmlformats.org/drawingml/2006/main">
            <a:off x="952500" y="71723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8E6967-85CD-4A15-93BD-75831181D2A8}"/>
              </a:ext>
            </a:extLst>
          </p:cNvPr>
          <p:cNvSpPr>
            <a:spLocks xmlns:a="http://schemas.openxmlformats.org/drawingml/2006/main" noGrp="1"/>
          </p:cNvSpPr>
          <p:nvPr/>
        </p:nvSpPr>
        <p:spPr>
          <a:xfrm xmlns:a="http://schemas.openxmlformats.org/drawingml/2006/main">
            <a:off x="685800" y="76009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A4F87471-7107-4530-B4A9-01BCD8B4A0AE}"/>
              </a:ext>
            </a:extLst>
          </p:cNvPr>
          <p:cNvSpPr>
            <a:spLocks xmlns:a="http://schemas.openxmlformats.org/drawingml/2006/main" noGrp="1"/>
          </p:cNvSpPr>
          <p:nvPr/>
        </p:nvSpPr>
        <p:spPr>
          <a:xfrm xmlns:a="http://schemas.openxmlformats.org/drawingml/2006/main">
            <a:off x="1428750" y="76009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FADING</a:t>
            </a:r>
          </a:p>
        </p:txBody>
      </p:sp>
      <p:sp>
        <p:nvSpPr>
          <p:cNvPr id="25" name="">
            <a:extLst xmlns:a="http://schemas.openxmlformats.org/drawingml/2006/main">
              <a:ext uri="{FF2B5EF4-FFF2-40B4-BE49-F238E27FC236}">
                <a16:creationId xmlns:a16="http://schemas.microsoft.com/office/drawing/2014/main" id="{A5CFDC28-7D1D-4DDA-ABFB-E9B72CD24E6D}"/>
              </a:ext>
            </a:extLst>
          </p:cNvPr>
          <p:cNvSpPr>
            <a:spLocks xmlns:a="http://schemas.openxmlformats.org/drawingml/2006/main" noGrp="1"/>
          </p:cNvSpPr>
          <p:nvPr/>
        </p:nvSpPr>
        <p:spPr>
          <a:xfrm xmlns:a="http://schemas.openxmlformats.org/drawingml/2006/main">
            <a:off x="4762500" y="7600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Momentum weakens</a:t>
            </a:r>
          </a:p>
        </p:txBody>
      </p:sp>
      <p:sp>
        <p:nvSpPr>
          <p:cNvPr id="26" name="">
            <a:extLst xmlns:a="http://schemas.openxmlformats.org/drawingml/2006/main">
              <a:ext uri="{FF2B5EF4-FFF2-40B4-BE49-F238E27FC236}">
                <a16:creationId xmlns:a16="http://schemas.microsoft.com/office/drawing/2014/main" id="{D78BD7D3-0C07-4156-A307-0C64DB6714A4}"/>
              </a:ext>
            </a:extLst>
          </p:cNvPr>
          <p:cNvSpPr>
            <a:spLocks xmlns:a="http://schemas.openxmlformats.org/drawingml/2006/main" noGrp="1"/>
          </p:cNvSpPr>
          <p:nvPr/>
        </p:nvSpPr>
        <p:spPr>
          <a:xfrm xmlns:a="http://schemas.openxmlformats.org/drawingml/2006/main">
            <a:off x="666750" y="8810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8AA3D"/>
                </a:solidFill>
                <a:latin typeface="Aptos"/>
                <a:ea typeface="Aptos"/>
                <a:cs typeface="Aptos"/>
              </a:defRPr>
            </a:pPr>
            <a:r>
              <a:rPr sz="1500" b="1">
                <a:solidFill>
                  <a:srgbClr val="D8AA3D"/>
                </a:solidFill>
                <a:latin typeface="Aptos"/>
                <a:ea typeface="Aptos"/>
                <a:cs typeface="Aptos"/>
              </a:rPr>
              <a:t>Lifecycle classifies momentum. It does not rate company quality or recommend a trade.</a:t>
            </a:r>
          </a:p>
        </p:txBody>
      </p:sp>
    </p:spTree>
    <p:extLst>
      <p:ext uri="{BB962C8B-B14F-4D97-AF65-F5344CB8AC3E}">
        <p14:creationId xmlns:p14="http://schemas.microsoft.com/office/powerpoint/2010/main" val="121925173"/>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CD898A8-FE0F-4396-8110-A490FDEF7B7C}"/>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8D9CE5-904A-4FED-8B87-CD25F15FD230}"/>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CF3A3EDC-5353-4981-8044-D6158EA4C445}"/>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confirmation overlay</a:t>
            </a:r>
          </a:p>
        </p:txBody>
      </p:sp>
      <p:sp>
        <p:nvSpPr>
          <p:cNvPr id="4" name="">
            <a:extLst xmlns:a="http://schemas.openxmlformats.org/drawingml/2006/main">
              <a:ext uri="{FF2B5EF4-FFF2-40B4-BE49-F238E27FC236}">
                <a16:creationId xmlns:a16="http://schemas.microsoft.com/office/drawing/2014/main" id="{7B8BE7FE-9F69-4DF4-8030-9193E8A6DEE9}"/>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C190D1D6-F15D-45AB-AC16-D14D34E2CD46}"/>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99DDE338-73D6-4C7A-8E2C-2BF0EABE0397}"/>
              </a:ext>
            </a:extLst>
          </p:cNvPr>
          <p:cNvSpPr>
            <a:spLocks xmlns:a="http://schemas.openxmlformats.org/drawingml/2006/main" noGrp="1"/>
          </p:cNvSpPr>
          <p:nvPr/>
        </p:nvSpPr>
        <p:spPr>
          <a:xfrm xmlns:a="http://schemas.openxmlformats.org/drawingml/2006/main">
            <a:off x="628650" y="2333625"/>
            <a:ext cx="876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After we record a lifecycle, we check later results to see whether the earlier reading still holds. We keep the original reading as history and use the new check to set today's research priority.</a:t>
            </a:r>
          </a:p>
        </p:txBody>
      </p:sp>
      <p:sp>
        <p:nvSpPr>
          <p:cNvPr id="7" name="">
            <a:extLst xmlns:a="http://schemas.openxmlformats.org/drawingml/2006/main">
              <a:ext uri="{FF2B5EF4-FFF2-40B4-BE49-F238E27FC236}">
                <a16:creationId xmlns:a16="http://schemas.microsoft.com/office/drawing/2014/main" id="{7A4EC0EA-EF64-4B0B-9684-5F1811104832}"/>
              </a:ext>
            </a:extLst>
          </p:cNvPr>
          <p:cNvSpPr>
            <a:spLocks xmlns:a="http://schemas.openxmlformats.org/drawingml/2006/main" noGrp="1"/>
          </p:cNvSpPr>
          <p:nvPr/>
        </p:nvSpPr>
        <p:spPr>
          <a:xfrm xmlns:a="http://schemas.openxmlformats.org/drawingml/2006/main">
            <a:off x="666750" y="34766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BC2523-6744-488A-992B-8937CC1B8102}"/>
              </a:ext>
            </a:extLst>
          </p:cNvPr>
          <p:cNvSpPr>
            <a:spLocks xmlns:a="http://schemas.openxmlformats.org/drawingml/2006/main" noGrp="1"/>
          </p:cNvSpPr>
          <p:nvPr/>
        </p:nvSpPr>
        <p:spPr>
          <a:xfrm xmlns:a="http://schemas.openxmlformats.org/drawingml/2006/main">
            <a:off x="1047750" y="3476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MEASURABLE DELIVERY</a:t>
            </a:r>
          </a:p>
        </p:txBody>
      </p:sp>
      <p:sp>
        <p:nvSpPr>
          <p:cNvPr id="9" name="">
            <a:extLst xmlns:a="http://schemas.openxmlformats.org/drawingml/2006/main">
              <a:ext uri="{FF2B5EF4-FFF2-40B4-BE49-F238E27FC236}">
                <a16:creationId xmlns:a16="http://schemas.microsoft.com/office/drawing/2014/main" id="{80B9AC65-999A-4F9A-8119-80A010B86C77}"/>
              </a:ext>
            </a:extLst>
          </p:cNvPr>
          <p:cNvSpPr>
            <a:spLocks xmlns:a="http://schemas.openxmlformats.org/drawingml/2006/main" noGrp="1"/>
          </p:cNvSpPr>
          <p:nvPr/>
        </p:nvSpPr>
        <p:spPr>
          <a:xfrm xmlns:a="http://schemas.openxmlformats.org/drawingml/2006/main">
            <a:off x="1047750" y="39147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Previous reading compared with current results</a:t>
            </a:r>
          </a:p>
        </p:txBody>
      </p:sp>
      <p:sp>
        <p:nvSpPr>
          <p:cNvPr id="10" name="">
            <a:extLst xmlns:a="http://schemas.openxmlformats.org/drawingml/2006/main">
              <a:ext uri="{FF2B5EF4-FFF2-40B4-BE49-F238E27FC236}">
                <a16:creationId xmlns:a16="http://schemas.microsoft.com/office/drawing/2014/main" id="{F51DA218-2AAE-4787-A793-4465C0ADC60B}"/>
              </a:ext>
            </a:extLst>
          </p:cNvPr>
          <p:cNvSpPr>
            <a:spLocks xmlns:a="http://schemas.openxmlformats.org/drawingml/2006/main" noGrp="1"/>
          </p:cNvSpPr>
          <p:nvPr/>
        </p:nvSpPr>
        <p:spPr>
          <a:xfrm xmlns:a="http://schemas.openxmlformats.org/drawingml/2006/main">
            <a:off x="666750" y="4905375"/>
            <a:ext cx="76200" cy="9048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EB7EE3-F63A-4EDE-B4B4-5AE39BD0DE79}"/>
              </a:ext>
            </a:extLst>
          </p:cNvPr>
          <p:cNvSpPr>
            <a:spLocks xmlns:a="http://schemas.openxmlformats.org/drawingml/2006/main" noGrp="1"/>
          </p:cNvSpPr>
          <p:nvPr/>
        </p:nvSpPr>
        <p:spPr>
          <a:xfrm xmlns:a="http://schemas.openxmlformats.org/drawingml/2006/main">
            <a:off x="1047750" y="4905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BUSINESS QUALITY CHECKS</a:t>
            </a:r>
          </a:p>
        </p:txBody>
      </p:sp>
      <p:sp>
        <p:nvSpPr>
          <p:cNvPr id="12" name="">
            <a:extLst xmlns:a="http://schemas.openxmlformats.org/drawingml/2006/main">
              <a:ext uri="{FF2B5EF4-FFF2-40B4-BE49-F238E27FC236}">
                <a16:creationId xmlns:a16="http://schemas.microsoft.com/office/drawing/2014/main" id="{D0ADB538-FF55-443E-A05F-18B1AE6074DD}"/>
              </a:ext>
            </a:extLst>
          </p:cNvPr>
          <p:cNvSpPr>
            <a:spLocks xmlns:a="http://schemas.openxmlformats.org/drawingml/2006/main" noGrp="1"/>
          </p:cNvSpPr>
          <p:nvPr/>
        </p:nvSpPr>
        <p:spPr>
          <a:xfrm xmlns:a="http://schemas.openxmlformats.org/drawingml/2006/main">
            <a:off x="1047750" y="53435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Meets check, concern found, unavailable or not due</a:t>
            </a:r>
          </a:p>
        </p:txBody>
      </p:sp>
      <p:sp>
        <p:nvSpPr>
          <p:cNvPr id="13" name="">
            <a:extLst xmlns:a="http://schemas.openxmlformats.org/drawingml/2006/main">
              <a:ext uri="{FF2B5EF4-FFF2-40B4-BE49-F238E27FC236}">
                <a16:creationId xmlns:a16="http://schemas.microsoft.com/office/drawing/2014/main" id="{2B98E62B-8CF9-4B5A-8F03-67F7482AD14F}"/>
              </a:ext>
            </a:extLst>
          </p:cNvPr>
          <p:cNvSpPr>
            <a:spLocks xmlns:a="http://schemas.openxmlformats.org/drawingml/2006/main" noGrp="1"/>
          </p:cNvSpPr>
          <p:nvPr/>
        </p:nvSpPr>
        <p:spPr>
          <a:xfrm xmlns:a="http://schemas.openxmlformats.org/drawingml/2006/main">
            <a:off x="666750" y="63341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66AA252-7770-4D37-88E8-5D3058921298}"/>
              </a:ext>
            </a:extLst>
          </p:cNvPr>
          <p:cNvSpPr>
            <a:spLocks xmlns:a="http://schemas.openxmlformats.org/drawingml/2006/main" noGrp="1"/>
          </p:cNvSpPr>
          <p:nvPr/>
        </p:nvSpPr>
        <p:spPr>
          <a:xfrm xmlns:a="http://schemas.openxmlformats.org/drawingml/2006/main">
            <a:off x="1047750" y="6334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MANAGEMENT HISTORY</a:t>
            </a:r>
          </a:p>
        </p:txBody>
      </p:sp>
      <p:sp>
        <p:nvSpPr>
          <p:cNvPr id="15" name="">
            <a:extLst xmlns:a="http://schemas.openxmlformats.org/drawingml/2006/main">
              <a:ext uri="{FF2B5EF4-FFF2-40B4-BE49-F238E27FC236}">
                <a16:creationId xmlns:a16="http://schemas.microsoft.com/office/drawing/2014/main" id="{447CDA3E-BEB5-46B5-9A19-91286EF14FAC}"/>
              </a:ext>
            </a:extLst>
          </p:cNvPr>
          <p:cNvSpPr>
            <a:spLocks xmlns:a="http://schemas.openxmlformats.org/drawingml/2006/main" noGrp="1"/>
          </p:cNvSpPr>
          <p:nvPr/>
        </p:nvSpPr>
        <p:spPr>
          <a:xfrm xmlns:a="http://schemas.openxmlformats.org/drawingml/2006/main">
            <a:off x="1047750" y="67722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Commitments, revisions and reported outcomes</a:t>
            </a:r>
          </a:p>
        </p:txBody>
      </p:sp>
      <p:sp>
        <p:nvSpPr>
          <p:cNvPr id="16" name="">
            <a:extLst xmlns:a="http://schemas.openxmlformats.org/drawingml/2006/main">
              <a:ext uri="{FF2B5EF4-FFF2-40B4-BE49-F238E27FC236}">
                <a16:creationId xmlns:a16="http://schemas.microsoft.com/office/drawing/2014/main" id="{979F46EF-89DC-4624-80E8-4E66D11D42D6}"/>
              </a:ext>
            </a:extLst>
          </p:cNvPr>
          <p:cNvSpPr>
            <a:spLocks xmlns:a="http://schemas.openxmlformats.org/drawingml/2006/main" noGrp="1"/>
          </p:cNvSpPr>
          <p:nvPr/>
        </p:nvSpPr>
        <p:spPr>
          <a:xfrm xmlns:a="http://schemas.openxmlformats.org/drawingml/2006/main">
            <a:off x="666750" y="7953375"/>
            <a:ext cx="83820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5A7EBF5-3F2C-4106-A131-975F5F7FAAD1}"/>
              </a:ext>
            </a:extLst>
          </p:cNvPr>
          <p:cNvSpPr>
            <a:spLocks xmlns:a="http://schemas.openxmlformats.org/drawingml/2006/main" noGrp="1"/>
          </p:cNvSpPr>
          <p:nvPr/>
        </p:nvSpPr>
        <p:spPr>
          <a:xfrm xmlns:a="http://schemas.openxmlformats.org/drawingml/2006/main">
            <a:off x="666750" y="82105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8AA3D"/>
                </a:solidFill>
                <a:latin typeface="Aptos"/>
                <a:ea typeface="Aptos"/>
                <a:cs typeface="Aptos"/>
              </a:defRPr>
            </a:pPr>
            <a:r>
              <a:rPr sz="1125" b="1">
                <a:solidFill>
                  <a:srgbClr val="D8AA3D"/>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B0BC5AD1-74D3-45BE-A6AD-135D10AADB5C}"/>
              </a:ext>
            </a:extLst>
          </p:cNvPr>
          <p:cNvSpPr>
            <a:spLocks xmlns:a="http://schemas.openxmlformats.org/drawingml/2006/main" noGrp="1"/>
          </p:cNvSpPr>
          <p:nvPr/>
        </p:nvSpPr>
        <p:spPr>
          <a:xfrm xmlns:a="http://schemas.openxmlformats.org/drawingml/2006/main">
            <a:off x="666750" y="86106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7F9FC"/>
                </a:solidFill>
                <a:latin typeface="Aptos"/>
                <a:ea typeface="Aptos"/>
                <a:cs typeface="Aptos"/>
              </a:defRPr>
            </a:pPr>
            <a:r>
              <a:rPr sz="1800" b="1">
                <a:solidFill>
                  <a:srgbClr val="F7F9FC"/>
                </a:solidFill>
                <a:latin typeface="Aptos"/>
                <a:ea typeface="Aptos"/>
                <a:cs typeface="Aptos"/>
              </a:rPr>
              <a:t>Qualified    Qualified with caution    Not qualified    Insufficient evidence</a:t>
            </a:r>
          </a:p>
        </p:txBody>
      </p:sp>
    </p:spTree>
    <p:extLst>
      <p:ext uri="{BB962C8B-B14F-4D97-AF65-F5344CB8AC3E}">
        <p14:creationId xmlns:p14="http://schemas.microsoft.com/office/powerpoint/2010/main" val="1590917371"/>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7EC4E6B-5A1B-4A70-B152-59D09C1F512F}"/>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6E6E11-4472-47AC-AC6C-98E7DF20B892}"/>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4862DCDD-CF44-405D-A542-6A0416531D15}"/>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Management guidance and delivery history</a:t>
            </a:r>
          </a:p>
        </p:txBody>
      </p:sp>
      <p:sp>
        <p:nvSpPr>
          <p:cNvPr id="4" name="">
            <a:extLst xmlns:a="http://schemas.openxmlformats.org/drawingml/2006/main">
              <a:ext uri="{FF2B5EF4-FFF2-40B4-BE49-F238E27FC236}">
                <a16:creationId xmlns:a16="http://schemas.microsoft.com/office/drawing/2014/main" id="{1B669FB9-4C0E-4927-B8A2-1258EDE739F6}"/>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246176F6-731F-437F-8AB3-00DD0D83E490}"/>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A80C6CF-8174-439F-A37E-F312CEF35D30}"/>
              </a:ext>
            </a:extLst>
          </p:cNvPr>
          <p:cNvSpPr>
            <a:spLocks xmlns:a="http://schemas.openxmlformats.org/drawingml/2006/main" noGrp="1"/>
          </p:cNvSpPr>
          <p:nvPr/>
        </p:nvSpPr>
        <p:spPr>
          <a:xfrm xmlns:a="http://schemas.openxmlformats.org/drawingml/2006/main">
            <a:off x="628650" y="2333625"/>
            <a:ext cx="876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Quarterly commentary becomes useful only when the system remembers what management said before.</a:t>
            </a:r>
          </a:p>
        </p:txBody>
      </p:sp>
      <p:sp>
        <p:nvSpPr>
          <p:cNvPr id="7" name="">
            <a:extLst xmlns:a="http://schemas.openxmlformats.org/drawingml/2006/main">
              <a:ext uri="{FF2B5EF4-FFF2-40B4-BE49-F238E27FC236}">
                <a16:creationId xmlns:a16="http://schemas.microsoft.com/office/drawing/2014/main" id="{2C3BD575-73C1-47E0-9844-048D5381B4E7}"/>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F3B0D2-E74E-463D-9E5C-D609C7A37CBF}"/>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A5B1C6AE-BCF1-4FE7-9DD3-72A25D3AD1BF}"/>
              </a:ext>
            </a:extLst>
          </p:cNvPr>
          <p:cNvSpPr>
            <a:spLocks xmlns:a="http://schemas.openxmlformats.org/drawingml/2006/main" noGrp="1"/>
          </p:cNvSpPr>
          <p:nvPr/>
        </p:nvSpPr>
        <p:spPr>
          <a:xfrm xmlns:a="http://schemas.openxmlformats.org/drawingml/2006/main">
            <a:off x="1638300" y="34099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Commitment</a:t>
            </a:r>
          </a:p>
        </p:txBody>
      </p:sp>
      <p:sp>
        <p:nvSpPr>
          <p:cNvPr id="10" name="">
            <a:extLst xmlns:a="http://schemas.openxmlformats.org/drawingml/2006/main">
              <a:ext uri="{FF2B5EF4-FFF2-40B4-BE49-F238E27FC236}">
                <a16:creationId xmlns:a16="http://schemas.microsoft.com/office/drawing/2014/main" id="{41FC74C2-79D8-4AF5-A785-696711BB9770}"/>
              </a:ext>
            </a:extLst>
          </p:cNvPr>
          <p:cNvSpPr>
            <a:spLocks xmlns:a="http://schemas.openxmlformats.org/drawingml/2006/main" noGrp="1"/>
          </p:cNvSpPr>
          <p:nvPr/>
        </p:nvSpPr>
        <p:spPr>
          <a:xfrm xmlns:a="http://schemas.openxmlformats.org/drawingml/2006/main">
            <a:off x="1638300" y="37909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measurable statement with a target date</a:t>
            </a:r>
          </a:p>
        </p:txBody>
      </p:sp>
      <p:sp>
        <p:nvSpPr>
          <p:cNvPr id="11" name="">
            <a:extLst xmlns:a="http://schemas.openxmlformats.org/drawingml/2006/main">
              <a:ext uri="{FF2B5EF4-FFF2-40B4-BE49-F238E27FC236}">
                <a16:creationId xmlns:a16="http://schemas.microsoft.com/office/drawing/2014/main" id="{D7C3C726-9B92-4449-94CC-728EC01FBA93}"/>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06A8C5-4E43-4DDB-AD9E-CBEB2CC95A85}"/>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D5CC7175-D207-491F-803C-CBD01D5F36BB}"/>
              </a:ext>
            </a:extLst>
          </p:cNvPr>
          <p:cNvSpPr>
            <a:spLocks xmlns:a="http://schemas.openxmlformats.org/drawingml/2006/main" noGrp="1"/>
          </p:cNvSpPr>
          <p:nvPr/>
        </p:nvSpPr>
        <p:spPr>
          <a:xfrm xmlns:a="http://schemas.openxmlformats.org/drawingml/2006/main">
            <a:off x="1638300" y="47625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Outcome</a:t>
            </a:r>
          </a:p>
        </p:txBody>
      </p:sp>
      <p:sp>
        <p:nvSpPr>
          <p:cNvPr id="14" name="">
            <a:extLst xmlns:a="http://schemas.openxmlformats.org/drawingml/2006/main">
              <a:ext uri="{FF2B5EF4-FFF2-40B4-BE49-F238E27FC236}">
                <a16:creationId xmlns:a16="http://schemas.microsoft.com/office/drawing/2014/main" id="{DD90CD38-D970-436A-ADC5-68670BDEA8E4}"/>
              </a:ext>
            </a:extLst>
          </p:cNvPr>
          <p:cNvSpPr>
            <a:spLocks xmlns:a="http://schemas.openxmlformats.org/drawingml/2006/main" noGrp="1"/>
          </p:cNvSpPr>
          <p:nvPr/>
        </p:nvSpPr>
        <p:spPr>
          <a:xfrm xmlns:a="http://schemas.openxmlformats.org/drawingml/2006/main">
            <a:off x="1638300" y="51435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The reported result after the target date</a:t>
            </a:r>
          </a:p>
        </p:txBody>
      </p:sp>
      <p:sp>
        <p:nvSpPr>
          <p:cNvPr id="15" name="">
            <a:extLst xmlns:a="http://schemas.openxmlformats.org/drawingml/2006/main">
              <a:ext uri="{FF2B5EF4-FFF2-40B4-BE49-F238E27FC236}">
                <a16:creationId xmlns:a16="http://schemas.microsoft.com/office/drawing/2014/main" id="{7406901A-3984-405D-A777-02F99815F31C}"/>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1D7C9AC-6270-4DFA-B35F-EB5A0B11AF6C}"/>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C0495C1C-A214-4666-A404-220CCF589B11}"/>
              </a:ext>
            </a:extLst>
          </p:cNvPr>
          <p:cNvSpPr>
            <a:spLocks xmlns:a="http://schemas.openxmlformats.org/drawingml/2006/main" noGrp="1"/>
          </p:cNvSpPr>
          <p:nvPr/>
        </p:nvSpPr>
        <p:spPr>
          <a:xfrm xmlns:a="http://schemas.openxmlformats.org/drawingml/2006/main">
            <a:off x="1638300" y="61150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Revision discipline</a:t>
            </a:r>
          </a:p>
        </p:txBody>
      </p:sp>
      <p:sp>
        <p:nvSpPr>
          <p:cNvPr id="18" name="">
            <a:extLst xmlns:a="http://schemas.openxmlformats.org/drawingml/2006/main">
              <a:ext uri="{FF2B5EF4-FFF2-40B4-BE49-F238E27FC236}">
                <a16:creationId xmlns:a16="http://schemas.microsoft.com/office/drawing/2014/main" id="{412CD5CA-94D3-412E-A702-7FE83D1625FF}"/>
              </a:ext>
            </a:extLst>
          </p:cNvPr>
          <p:cNvSpPr>
            <a:spLocks xmlns:a="http://schemas.openxmlformats.org/drawingml/2006/main" noGrp="1"/>
          </p:cNvSpPr>
          <p:nvPr/>
        </p:nvSpPr>
        <p:spPr>
          <a:xfrm xmlns:a="http://schemas.openxmlformats.org/drawingml/2006/main">
            <a:off x="1638300" y="64960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Whether guidance changed before delivery</a:t>
            </a:r>
          </a:p>
        </p:txBody>
      </p:sp>
      <p:sp>
        <p:nvSpPr>
          <p:cNvPr id="19" name="">
            <a:extLst xmlns:a="http://schemas.openxmlformats.org/drawingml/2006/main">
              <a:ext uri="{FF2B5EF4-FFF2-40B4-BE49-F238E27FC236}">
                <a16:creationId xmlns:a16="http://schemas.microsoft.com/office/drawing/2014/main" id="{888F14A0-DE8B-4786-8C51-86A11688141B}"/>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ellipse">
            <a:avLst/>
          </a:prstGeom>
          <a:solidFill xmlns:a="http://schemas.openxmlformats.org/drawingml/2006/main">
            <a:srgbClr val="D8AA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A8A932-7D67-4C35-9307-D2CFE0CC234E}"/>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79B0D1A0-3736-48F6-81A8-B89BE0D4B2A5}"/>
              </a:ext>
            </a:extLst>
          </p:cNvPr>
          <p:cNvSpPr>
            <a:spLocks xmlns:a="http://schemas.openxmlformats.org/drawingml/2006/main" noGrp="1"/>
          </p:cNvSpPr>
          <p:nvPr/>
        </p:nvSpPr>
        <p:spPr>
          <a:xfrm xmlns:a="http://schemas.openxmlformats.org/drawingml/2006/main">
            <a:off x="1638300" y="7467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Reliability record</a:t>
            </a:r>
          </a:p>
        </p:txBody>
      </p:sp>
      <p:sp>
        <p:nvSpPr>
          <p:cNvPr id="22" name="">
            <a:extLst xmlns:a="http://schemas.openxmlformats.org/drawingml/2006/main">
              <a:ext uri="{FF2B5EF4-FFF2-40B4-BE49-F238E27FC236}">
                <a16:creationId xmlns:a16="http://schemas.microsoft.com/office/drawing/2014/main" id="{F77178B9-C128-4FEA-A9AF-D21B964F6A53}"/>
              </a:ext>
            </a:extLst>
          </p:cNvPr>
          <p:cNvSpPr>
            <a:spLocks xmlns:a="http://schemas.openxmlformats.org/drawingml/2006/main" noGrp="1"/>
          </p:cNvSpPr>
          <p:nvPr/>
        </p:nvSpPr>
        <p:spPr>
          <a:xfrm xmlns:a="http://schemas.openxmlformats.org/drawingml/2006/main">
            <a:off x="1638300" y="78486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score only after enough commitments mature</a:t>
            </a:r>
          </a:p>
        </p:txBody>
      </p:sp>
      <p:sp>
        <p:nvSpPr>
          <p:cNvPr id="23" name="">
            <a:extLst xmlns:a="http://schemas.openxmlformats.org/drawingml/2006/main">
              <a:ext uri="{FF2B5EF4-FFF2-40B4-BE49-F238E27FC236}">
                <a16:creationId xmlns:a16="http://schemas.microsoft.com/office/drawing/2014/main" id="{EABE7A76-B560-4797-B257-083E594591B3}"/>
              </a:ext>
            </a:extLst>
          </p:cNvPr>
          <p:cNvSpPr>
            <a:spLocks xmlns:a="http://schemas.openxmlformats.org/drawingml/2006/main" noGrp="1"/>
          </p:cNvSpPr>
          <p:nvPr/>
        </p:nvSpPr>
        <p:spPr>
          <a:xfrm xmlns:a="http://schemas.openxmlformats.org/drawingml/2006/main">
            <a:off x="666750" y="89154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8AA3D"/>
                </a:solidFill>
                <a:latin typeface="Aptos"/>
                <a:ea typeface="Aptos"/>
                <a:cs typeface="Aptos"/>
              </a:defRPr>
            </a:pPr>
            <a:r>
              <a:rPr sz="1425" b="1">
                <a:solidFill>
                  <a:srgbClr val="D8AA3D"/>
                </a:solidFill>
                <a:latin typeface="Aptos"/>
                <a:ea typeface="Aptos"/>
                <a:cs typeface="Aptos"/>
              </a:rPr>
              <a:t>Insufficient history remains a valid result. Unknown never becomes a pass.</a:t>
            </a:r>
          </a:p>
        </p:txBody>
      </p:sp>
    </p:spTree>
    <p:extLst>
      <p:ext uri="{BB962C8B-B14F-4D97-AF65-F5344CB8AC3E}">
        <p14:creationId xmlns:p14="http://schemas.microsoft.com/office/powerpoint/2010/main" val="997038021"/>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58F8CBB-FA6E-4A18-9412-00300B536ABA}"/>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20D7F0-1860-4387-B899-6B752C57ED3E}"/>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B9551266-9DFF-496C-9EEF-BD105A7C505D}"/>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Stop-line validation across 25 companies</a:t>
            </a:r>
          </a:p>
        </p:txBody>
      </p:sp>
      <p:sp>
        <p:nvSpPr>
          <p:cNvPr id="4" name="">
            <a:extLst xmlns:a="http://schemas.openxmlformats.org/drawingml/2006/main">
              <a:ext uri="{FF2B5EF4-FFF2-40B4-BE49-F238E27FC236}">
                <a16:creationId xmlns:a16="http://schemas.microsoft.com/office/drawing/2014/main" id="{AB211C80-826F-4A1F-A30D-9B11CEACE812}"/>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1BD14EC5-D9ED-441B-B4AA-8D01EEC0D1F0}"/>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C0CB9A4-0FA3-42FD-AF64-6E8C59A5D06C}"/>
              </a:ext>
            </a:extLst>
          </p:cNvPr>
          <p:cNvSpPr>
            <a:spLocks xmlns:a="http://schemas.openxmlformats.org/drawingml/2006/main" noGrp="1"/>
          </p:cNvSpPr>
          <p:nvPr/>
        </p:nvSpPr>
        <p:spPr>
          <a:xfrm xmlns:a="http://schemas.openxmlformats.org/drawingml/2006/main">
            <a:off x="628650" y="2333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The fixed cohort covered five companies from each BMS lifecycle category.</a:t>
            </a:r>
          </a:p>
        </p:txBody>
      </p:sp>
      <p:graphicFrame>
        <p:nvGraphicFramePr>
          <p:cNvPr id="25" name="Chart"/>
          <p:cNvGraphicFramePr/>
          <p:nvPr/>
        </p:nvGraphicFramePr>
        <p:xfrm>
          <a:off xmlns:a="http://schemas.openxmlformats.org/drawingml/2006/main" x="666750" y="3190875"/>
          <a:ext xmlns:a="http://schemas.openxmlformats.org/drawingml/2006/main" cx="8953500" cy="3810000"/>
        </p:xfrm>
        <a:graphic xmlns:a="http://schemas.openxmlformats.org/drawingml/2006/main">
          <a:graphicData uri="http://schemas.openxmlformats.org/drawingml/2006/chart">
            <c:chart xmlns:r="http://schemas.openxmlformats.org/officeDocument/2006/relationships" xmlns:c="http://schemas.openxmlformats.org/drawingml/2006/chart" r:id="Rfa119dd22c88407b"/>
          </a:graphicData>
        </a:graphic>
      </p:graphicFrame>
      <p:sp>
        <p:nvSpPr>
          <p:cNvPr id="8" name="">
            <a:extLst xmlns:a="http://schemas.openxmlformats.org/drawingml/2006/main">
              <a:ext uri="{FF2B5EF4-FFF2-40B4-BE49-F238E27FC236}">
                <a16:creationId xmlns:a16="http://schemas.microsoft.com/office/drawing/2014/main" id="{655D7B8A-E0B0-4CF8-A593-6D33D048551A}"/>
              </a:ext>
            </a:extLst>
          </p:cNvPr>
          <p:cNvSpPr>
            <a:spLocks xmlns:a="http://schemas.openxmlformats.org/drawingml/2006/main" noGrp="1"/>
          </p:cNvSpPr>
          <p:nvPr/>
        </p:nvSpPr>
        <p:spPr>
          <a:xfrm xmlns:a="http://schemas.openxmlformats.org/drawingml/2006/main">
            <a:off x="180975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9" name="">
            <a:extLst xmlns:a="http://schemas.openxmlformats.org/drawingml/2006/main">
              <a:ext uri="{FF2B5EF4-FFF2-40B4-BE49-F238E27FC236}">
                <a16:creationId xmlns:a16="http://schemas.microsoft.com/office/drawing/2014/main" id="{BC94DD66-3401-443B-9FC1-E321C58AE1FC}"/>
              </a:ext>
            </a:extLst>
          </p:cNvPr>
          <p:cNvSpPr>
            <a:spLocks xmlns:a="http://schemas.openxmlformats.org/drawingml/2006/main" noGrp="1"/>
          </p:cNvSpPr>
          <p:nvPr/>
        </p:nvSpPr>
        <p:spPr>
          <a:xfrm xmlns:a="http://schemas.openxmlformats.org/drawingml/2006/main">
            <a:off x="468630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10" name="">
            <a:extLst xmlns:a="http://schemas.openxmlformats.org/drawingml/2006/main">
              <a:ext uri="{FF2B5EF4-FFF2-40B4-BE49-F238E27FC236}">
                <a16:creationId xmlns:a16="http://schemas.microsoft.com/office/drawing/2014/main" id="{C28186E7-1C68-435A-9324-0DD3CE240C4A}"/>
              </a:ext>
            </a:extLst>
          </p:cNvPr>
          <p:cNvSpPr>
            <a:spLocks xmlns:a="http://schemas.openxmlformats.org/drawingml/2006/main" noGrp="1"/>
          </p:cNvSpPr>
          <p:nvPr/>
        </p:nvSpPr>
        <p:spPr>
          <a:xfrm xmlns:a="http://schemas.openxmlformats.org/drawingml/2006/main">
            <a:off x="7572375" y="62103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8%</a:t>
            </a:r>
          </a:p>
        </p:txBody>
      </p:sp>
      <p:sp>
        <p:nvSpPr>
          <p:cNvPr id="11" name="">
            <a:extLst xmlns:a="http://schemas.openxmlformats.org/drawingml/2006/main">
              <a:ext uri="{FF2B5EF4-FFF2-40B4-BE49-F238E27FC236}">
                <a16:creationId xmlns:a16="http://schemas.microsoft.com/office/drawing/2014/main" id="{82577262-54F1-4491-98FF-C816567E3197}"/>
              </a:ext>
            </a:extLst>
          </p:cNvPr>
          <p:cNvSpPr>
            <a:spLocks xmlns:a="http://schemas.openxmlformats.org/drawingml/2006/main" noGrp="1"/>
          </p:cNvSpPr>
          <p:nvPr/>
        </p:nvSpPr>
        <p:spPr>
          <a:xfrm xmlns:a="http://schemas.openxmlformats.org/drawingml/2006/main">
            <a:off x="904875" y="6762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TECHNICAL SUCCESS</a:t>
            </a:r>
          </a:p>
        </p:txBody>
      </p:sp>
      <p:sp>
        <p:nvSpPr>
          <p:cNvPr id="12" name="">
            <a:extLst xmlns:a="http://schemas.openxmlformats.org/drawingml/2006/main">
              <a:ext uri="{FF2B5EF4-FFF2-40B4-BE49-F238E27FC236}">
                <a16:creationId xmlns:a16="http://schemas.microsoft.com/office/drawing/2014/main" id="{4D1DE0A0-3068-4FC3-897E-43B0D36D55D9}"/>
              </a:ext>
            </a:extLst>
          </p:cNvPr>
          <p:cNvSpPr>
            <a:spLocks xmlns:a="http://schemas.openxmlformats.org/drawingml/2006/main" noGrp="1"/>
          </p:cNvSpPr>
          <p:nvPr/>
        </p:nvSpPr>
        <p:spPr>
          <a:xfrm xmlns:a="http://schemas.openxmlformats.org/drawingml/2006/main">
            <a:off x="3810000" y="6762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USABLE DELIVERY CHECK</a:t>
            </a:r>
          </a:p>
        </p:txBody>
      </p:sp>
      <p:sp>
        <p:nvSpPr>
          <p:cNvPr id="13" name="">
            <a:extLst xmlns:a="http://schemas.openxmlformats.org/drawingml/2006/main">
              <a:ext uri="{FF2B5EF4-FFF2-40B4-BE49-F238E27FC236}">
                <a16:creationId xmlns:a16="http://schemas.microsoft.com/office/drawing/2014/main" id="{4787AD2F-8602-4361-B83B-72D1961ABD7E}"/>
              </a:ext>
            </a:extLst>
          </p:cNvPr>
          <p:cNvSpPr>
            <a:spLocks xmlns:a="http://schemas.openxmlformats.org/drawingml/2006/main" noGrp="1"/>
          </p:cNvSpPr>
          <p:nvPr/>
        </p:nvSpPr>
        <p:spPr>
          <a:xfrm xmlns:a="http://schemas.openxmlformats.org/drawingml/2006/main">
            <a:off x="6715125" y="6762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PDF READY</a:t>
            </a:r>
          </a:p>
        </p:txBody>
      </p:sp>
      <p:sp>
        <p:nvSpPr>
          <p:cNvPr id="14" name="">
            <a:extLst xmlns:a="http://schemas.openxmlformats.org/drawingml/2006/main">
              <a:ext uri="{FF2B5EF4-FFF2-40B4-BE49-F238E27FC236}">
                <a16:creationId xmlns:a16="http://schemas.microsoft.com/office/drawing/2014/main" id="{89C40F5E-DFA5-4311-9C29-880C6D66C5CE}"/>
              </a:ext>
            </a:extLst>
          </p:cNvPr>
          <p:cNvSpPr>
            <a:spLocks xmlns:a="http://schemas.openxmlformats.org/drawingml/2006/main" noGrp="1"/>
          </p:cNvSpPr>
          <p:nvPr/>
        </p:nvSpPr>
        <p:spPr>
          <a:xfrm xmlns:a="http://schemas.openxmlformats.org/drawingml/2006/main">
            <a:off x="66675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7F9FC"/>
                </a:solidFill>
                <a:latin typeface="Aptos"/>
                <a:ea typeface="Aptos"/>
                <a:cs typeface="Aptos"/>
              </a:defRPr>
            </a:pPr>
            <a:r>
              <a:rPr sz="3000" b="1">
                <a:solidFill>
                  <a:srgbClr val="F7F9FC"/>
                </a:solidFill>
                <a:latin typeface="Aptos"/>
                <a:ea typeface="Aptos"/>
                <a:cs typeface="Aptos"/>
              </a:rPr>
              <a:t>24 of 25</a:t>
            </a:r>
          </a:p>
        </p:txBody>
      </p:sp>
      <p:sp>
        <p:nvSpPr>
          <p:cNvPr id="15" name="">
            <a:extLst xmlns:a="http://schemas.openxmlformats.org/drawingml/2006/main">
              <a:ext uri="{FF2B5EF4-FFF2-40B4-BE49-F238E27FC236}">
                <a16:creationId xmlns:a16="http://schemas.microsoft.com/office/drawing/2014/main" id="{5FBCEE16-387A-46A8-B012-646610ACEEC2}"/>
              </a:ext>
            </a:extLst>
          </p:cNvPr>
          <p:cNvSpPr>
            <a:spLocks xmlns:a="http://schemas.openxmlformats.org/drawingml/2006/main" noGrp="1"/>
          </p:cNvSpPr>
          <p:nvPr/>
        </p:nvSpPr>
        <p:spPr>
          <a:xfrm xmlns:a="http://schemas.openxmlformats.org/drawingml/2006/main">
            <a:off x="666750" y="81153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technical paths completed</a:t>
            </a:r>
          </a:p>
        </p:txBody>
      </p:sp>
      <p:sp>
        <p:nvSpPr>
          <p:cNvPr id="16" name="">
            <a:extLst xmlns:a="http://schemas.openxmlformats.org/drawingml/2006/main">
              <a:ext uri="{FF2B5EF4-FFF2-40B4-BE49-F238E27FC236}">
                <a16:creationId xmlns:a16="http://schemas.microsoft.com/office/drawing/2014/main" id="{1AF10B0F-9B04-49C3-852E-525775D6BD65}"/>
              </a:ext>
            </a:extLst>
          </p:cNvPr>
          <p:cNvSpPr>
            <a:spLocks xmlns:a="http://schemas.openxmlformats.org/drawingml/2006/main" noGrp="1"/>
          </p:cNvSpPr>
          <p:nvPr/>
        </p:nvSpPr>
        <p:spPr>
          <a:xfrm xmlns:a="http://schemas.openxmlformats.org/drawingml/2006/main">
            <a:off x="514350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8AA3D"/>
                </a:solidFill>
                <a:latin typeface="Aptos"/>
                <a:ea typeface="Aptos"/>
                <a:cs typeface="Aptos"/>
              </a:defRPr>
            </a:pPr>
            <a:r>
              <a:rPr sz="3000" b="1">
                <a:solidFill>
                  <a:srgbClr val="D8AA3D"/>
                </a:solidFill>
                <a:latin typeface="Aptos"/>
                <a:ea typeface="Aptos"/>
                <a:cs typeface="Aptos"/>
              </a:rPr>
              <a:t>2 of 25</a:t>
            </a:r>
          </a:p>
        </p:txBody>
      </p:sp>
      <p:sp>
        <p:nvSpPr>
          <p:cNvPr id="17" name="">
            <a:extLst xmlns:a="http://schemas.openxmlformats.org/drawingml/2006/main">
              <a:ext uri="{FF2B5EF4-FFF2-40B4-BE49-F238E27FC236}">
                <a16:creationId xmlns:a16="http://schemas.microsoft.com/office/drawing/2014/main" id="{9A63523A-9E79-493E-A70A-408EDE6C8852}"/>
              </a:ext>
            </a:extLst>
          </p:cNvPr>
          <p:cNvSpPr>
            <a:spLocks xmlns:a="http://schemas.openxmlformats.org/drawingml/2006/main" noGrp="1"/>
          </p:cNvSpPr>
          <p:nvPr/>
        </p:nvSpPr>
        <p:spPr>
          <a:xfrm xmlns:a="http://schemas.openxmlformats.org/drawingml/2006/main">
            <a:off x="5143500" y="81153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met the stricter PDF threshold</a:t>
            </a:r>
          </a:p>
        </p:txBody>
      </p:sp>
      <p:sp>
        <p:nvSpPr>
          <p:cNvPr id="18" name="">
            <a:extLst xmlns:a="http://schemas.openxmlformats.org/drawingml/2006/main">
              <a:ext uri="{FF2B5EF4-FFF2-40B4-BE49-F238E27FC236}">
                <a16:creationId xmlns:a16="http://schemas.microsoft.com/office/drawing/2014/main" id="{2912FA7B-0CE2-4DA1-8B8F-A843C6AAF2E9}"/>
              </a:ext>
            </a:extLst>
          </p:cNvPr>
          <p:cNvSpPr>
            <a:spLocks xmlns:a="http://schemas.openxmlformats.org/drawingml/2006/main" noGrp="1"/>
          </p:cNvSpPr>
          <p:nvPr/>
        </p:nvSpPr>
        <p:spPr>
          <a:xfrm xmlns:a="http://schemas.openxmlformats.org/drawingml/2006/main">
            <a:off x="666750" y="885825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2D3C5"/>
                </a:solidFill>
                <a:latin typeface="Aptos"/>
                <a:ea typeface="Aptos"/>
                <a:cs typeface="Aptos"/>
              </a:defRPr>
            </a:pPr>
            <a:r>
              <a:rPr sz="1425" b="1">
                <a:solidFill>
                  <a:srgbClr val="22D3C5"/>
                </a:solidFill>
                <a:latin typeface="Aptos"/>
                <a:ea typeface="Aptos"/>
                <a:cs typeface="Aptos"/>
              </a:rPr>
              <a:t>Selective PDF availability prevents polished but incomplete reports.</a:t>
            </a:r>
          </a:p>
        </p:txBody>
      </p:sp>
    </p:spTree>
    <p:extLst>
      <p:ext uri="{BB962C8B-B14F-4D97-AF65-F5344CB8AC3E}">
        <p14:creationId xmlns:p14="http://schemas.microsoft.com/office/powerpoint/2010/main" val="698155927"/>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7AB7540-59BC-48BF-831D-99B4C03261D3}"/>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0EDA78-FCE2-47F6-B52B-D8F54D3B054C}"/>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FE44DC0B-907B-4CDC-8C61-B4E42C1BA9F0}"/>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the user sees</a:t>
            </a:r>
          </a:p>
        </p:txBody>
      </p:sp>
      <p:sp>
        <p:nvSpPr>
          <p:cNvPr id="4" name="">
            <a:extLst xmlns:a="http://schemas.openxmlformats.org/drawingml/2006/main">
              <a:ext uri="{FF2B5EF4-FFF2-40B4-BE49-F238E27FC236}">
                <a16:creationId xmlns:a16="http://schemas.microsoft.com/office/drawing/2014/main" id="{4CA99CE5-2DA6-4843-882A-4AA5D8C55693}"/>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D2DC3C27-172E-401A-B6E2-AF3CB3962EDD}"/>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D9528654-1D5B-4680-94AD-32DFF2942C54}"/>
              </a:ext>
            </a:extLst>
          </p:cNvPr>
          <p:cNvSpPr>
            <a:spLocks xmlns:a="http://schemas.openxmlformats.org/drawingml/2006/main" noGrp="1"/>
          </p:cNvSpPr>
          <p:nvPr/>
        </p:nvSpPr>
        <p:spPr>
          <a:xfrm xmlns:a="http://schemas.openxmlformats.org/drawingml/2006/main">
            <a:off x="628650" y="2333625"/>
            <a:ext cx="876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Progressive detail keeps the main tracker readable while preserving the evidence trail.</a:t>
            </a:r>
          </a:p>
        </p:txBody>
      </p:sp>
      <p:sp>
        <p:nvSpPr>
          <p:cNvPr id="7" name="">
            <a:extLst xmlns:a="http://schemas.openxmlformats.org/drawingml/2006/main">
              <a:ext uri="{FF2B5EF4-FFF2-40B4-BE49-F238E27FC236}">
                <a16:creationId xmlns:a16="http://schemas.microsoft.com/office/drawing/2014/main" id="{27332AA7-CFFF-4F2D-99DB-5D2573F7E488}"/>
              </a:ext>
            </a:extLst>
          </p:cNvPr>
          <p:cNvSpPr>
            <a:spLocks xmlns:a="http://schemas.openxmlformats.org/drawingml/2006/main" noGrp="1"/>
          </p:cNvSpPr>
          <p:nvPr/>
        </p:nvSpPr>
        <p:spPr>
          <a:xfrm xmlns:a="http://schemas.openxmlformats.org/drawingml/2006/main">
            <a:off x="66675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BCEC024-B547-4C38-BC46-A26C70AC1FB7}"/>
              </a:ext>
            </a:extLst>
          </p:cNvPr>
          <p:cNvSpPr>
            <a:spLocks xmlns:a="http://schemas.openxmlformats.org/drawingml/2006/main" noGrp="1"/>
          </p:cNvSpPr>
          <p:nvPr/>
        </p:nvSpPr>
        <p:spPr>
          <a:xfrm xmlns:a="http://schemas.openxmlformats.org/drawingml/2006/main">
            <a:off x="66675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55FBD597-6BB3-41C1-AFBB-89CC2CB9011E}"/>
              </a:ext>
            </a:extLst>
          </p:cNvPr>
          <p:cNvSpPr>
            <a:spLocks xmlns:a="http://schemas.openxmlformats.org/drawingml/2006/main" noGrp="1"/>
          </p:cNvSpPr>
          <p:nvPr/>
        </p:nvSpPr>
        <p:spPr>
          <a:xfrm xmlns:a="http://schemas.openxmlformats.org/drawingml/2006/main">
            <a:off x="666750"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F112CE-4342-4186-98A5-61F55587E849}"/>
              </a:ext>
            </a:extLst>
          </p:cNvPr>
          <p:cNvSpPr>
            <a:spLocks xmlns:a="http://schemas.openxmlformats.org/drawingml/2006/main" noGrp="1"/>
          </p:cNvSpPr>
          <p:nvPr/>
        </p:nvSpPr>
        <p:spPr>
          <a:xfrm xmlns:a="http://schemas.openxmlformats.org/drawingml/2006/main">
            <a:off x="66675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Lifecycle, BMS score and market context</a:t>
            </a:r>
          </a:p>
        </p:txBody>
      </p:sp>
      <p:sp>
        <p:nvSpPr>
          <p:cNvPr id="11" name="">
            <a:extLst xmlns:a="http://schemas.openxmlformats.org/drawingml/2006/main">
              <a:ext uri="{FF2B5EF4-FFF2-40B4-BE49-F238E27FC236}">
                <a16:creationId xmlns:a16="http://schemas.microsoft.com/office/drawing/2014/main" id="{77342AEF-8DE0-4F07-9B1D-EA94834543A4}"/>
              </a:ext>
            </a:extLst>
          </p:cNvPr>
          <p:cNvSpPr>
            <a:spLocks xmlns:a="http://schemas.openxmlformats.org/drawingml/2006/main" noGrp="1"/>
          </p:cNvSpPr>
          <p:nvPr/>
        </p:nvSpPr>
        <p:spPr>
          <a:xfrm xmlns:a="http://schemas.openxmlformats.org/drawingml/2006/main">
            <a:off x="3762375"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AE276EA9-AF68-4115-A830-FD1EB3963E2B}"/>
              </a:ext>
            </a:extLst>
          </p:cNvPr>
          <p:cNvSpPr>
            <a:spLocks xmlns:a="http://schemas.openxmlformats.org/drawingml/2006/main" noGrp="1"/>
          </p:cNvSpPr>
          <p:nvPr/>
        </p:nvSpPr>
        <p:spPr>
          <a:xfrm xmlns:a="http://schemas.openxmlformats.org/drawingml/2006/main">
            <a:off x="3762375"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EVIDENCE WORKSPACE</a:t>
            </a:r>
          </a:p>
        </p:txBody>
      </p:sp>
      <p:sp>
        <p:nvSpPr>
          <p:cNvPr id="13" name="">
            <a:extLst xmlns:a="http://schemas.openxmlformats.org/drawingml/2006/main">
              <a:ext uri="{FF2B5EF4-FFF2-40B4-BE49-F238E27FC236}">
                <a16:creationId xmlns:a16="http://schemas.microsoft.com/office/drawing/2014/main" id="{553F0C1A-AE50-4881-BF4C-BE8B5C091026}"/>
              </a:ext>
            </a:extLst>
          </p:cNvPr>
          <p:cNvSpPr>
            <a:spLocks xmlns:a="http://schemas.openxmlformats.org/drawingml/2006/main" noGrp="1"/>
          </p:cNvSpPr>
          <p:nvPr/>
        </p:nvSpPr>
        <p:spPr>
          <a:xfrm xmlns:a="http://schemas.openxmlformats.org/drawingml/2006/main">
            <a:off x="3762375"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6B92C62-9B05-4203-A261-961C95FAFAF5}"/>
              </a:ext>
            </a:extLst>
          </p:cNvPr>
          <p:cNvSpPr>
            <a:spLocks xmlns:a="http://schemas.openxmlformats.org/drawingml/2006/main" noGrp="1"/>
          </p:cNvSpPr>
          <p:nvPr/>
        </p:nvSpPr>
        <p:spPr>
          <a:xfrm xmlns:a="http://schemas.openxmlformats.org/drawingml/2006/main">
            <a:off x="3762375"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Methodology, delivery, business quality, management and sources</a:t>
            </a:r>
          </a:p>
        </p:txBody>
      </p:sp>
      <p:sp>
        <p:nvSpPr>
          <p:cNvPr id="15" name="">
            <a:extLst xmlns:a="http://schemas.openxmlformats.org/drawingml/2006/main">
              <a:ext uri="{FF2B5EF4-FFF2-40B4-BE49-F238E27FC236}">
                <a16:creationId xmlns:a16="http://schemas.microsoft.com/office/drawing/2014/main" id="{E027F9DD-F63F-458F-9BB6-3A3C1FEC85FC}"/>
              </a:ext>
            </a:extLst>
          </p:cNvPr>
          <p:cNvSpPr>
            <a:spLocks xmlns:a="http://schemas.openxmlformats.org/drawingml/2006/main" noGrp="1"/>
          </p:cNvSpPr>
          <p:nvPr/>
        </p:nvSpPr>
        <p:spPr>
          <a:xfrm xmlns:a="http://schemas.openxmlformats.org/drawingml/2006/main">
            <a:off x="685800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2005301B-64F5-4936-ACBD-954142887C0C}"/>
              </a:ext>
            </a:extLst>
          </p:cNvPr>
          <p:cNvSpPr>
            <a:spLocks xmlns:a="http://schemas.openxmlformats.org/drawingml/2006/main" noGrp="1"/>
          </p:cNvSpPr>
          <p:nvPr/>
        </p:nvSpPr>
        <p:spPr>
          <a:xfrm xmlns:a="http://schemas.openxmlformats.org/drawingml/2006/main">
            <a:off x="685800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SELECTIVE PDF</a:t>
            </a:r>
          </a:p>
        </p:txBody>
      </p:sp>
      <p:sp>
        <p:nvSpPr>
          <p:cNvPr id="17" name="">
            <a:extLst xmlns:a="http://schemas.openxmlformats.org/drawingml/2006/main">
              <a:ext uri="{FF2B5EF4-FFF2-40B4-BE49-F238E27FC236}">
                <a16:creationId xmlns:a16="http://schemas.microsoft.com/office/drawing/2014/main" id="{8674F82D-0F13-4EA4-8A8D-B9856915EBC4}"/>
              </a:ext>
            </a:extLst>
          </p:cNvPr>
          <p:cNvSpPr>
            <a:spLocks xmlns:a="http://schemas.openxmlformats.org/drawingml/2006/main" noGrp="1"/>
          </p:cNvSpPr>
          <p:nvPr/>
        </p:nvSpPr>
        <p:spPr>
          <a:xfrm xmlns:a="http://schemas.openxmlformats.org/drawingml/2006/main">
            <a:off x="6858000" y="5267325"/>
            <a:ext cx="2381250" cy="285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44496AA-B17A-4ED8-9FD2-652D5515D264}"/>
              </a:ext>
            </a:extLst>
          </p:cNvPr>
          <p:cNvSpPr>
            <a:spLocks xmlns:a="http://schemas.openxmlformats.org/drawingml/2006/main" noGrp="1"/>
          </p:cNvSpPr>
          <p:nvPr/>
        </p:nvSpPr>
        <p:spPr>
          <a:xfrm xmlns:a="http://schemas.openxmlformats.org/drawingml/2006/main">
            <a:off x="685800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Available only after every report-readiness check passes</a:t>
            </a:r>
          </a:p>
        </p:txBody>
      </p:sp>
      <p:sp>
        <p:nvSpPr>
          <p:cNvPr id="19" name="">
            <a:extLst xmlns:a="http://schemas.openxmlformats.org/drawingml/2006/main">
              <a:ext uri="{FF2B5EF4-FFF2-40B4-BE49-F238E27FC236}">
                <a16:creationId xmlns:a16="http://schemas.microsoft.com/office/drawing/2014/main" id="{6882CA5E-EEFC-43DD-B1DC-478FA2C2BB2E}"/>
              </a:ext>
            </a:extLst>
          </p:cNvPr>
          <p:cNvSpPr>
            <a:spLocks xmlns:a="http://schemas.openxmlformats.org/drawingml/2006/main" noGrp="1"/>
          </p:cNvSpPr>
          <p:nvPr/>
        </p:nvSpPr>
        <p:spPr>
          <a:xfrm xmlns:a="http://schemas.openxmlformats.org/drawingml/2006/main">
            <a:off x="666750" y="80200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2D3C5"/>
                </a:solidFill>
                <a:latin typeface="Aptos"/>
                <a:ea typeface="Aptos"/>
                <a:cs typeface="Aptos"/>
              </a:defRPr>
            </a:pPr>
            <a:r>
              <a:rPr sz="1875" b="1">
                <a:solidFill>
                  <a:srgbClr val="22D3C5"/>
                </a:solidFill>
                <a:latin typeface="Aptos"/>
                <a:ea typeface="Aptos"/>
                <a:cs typeface="Aptos"/>
              </a:rPr>
              <a:t>The on-screen view remains available when evidence is incomplete. Missing values stay visible as missing.</a:t>
            </a:r>
          </a:p>
        </p:txBody>
      </p:sp>
    </p:spTree>
    <p:extLst>
      <p:ext uri="{BB962C8B-B14F-4D97-AF65-F5344CB8AC3E}">
        <p14:creationId xmlns:p14="http://schemas.microsoft.com/office/powerpoint/2010/main" val="530253082"/>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5f886d7d58e47cb"/>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EE2038-8447-41DA-892D-DB80CB04535E}"/>
              </a:ext>
            </a:extLst>
          </p:cNvPr>
          <p:cNvSpPr>
            <a:spLocks xmlns:a="http://schemas.openxmlformats.org/drawingml/2006/main" noGrp="1"/>
          </p:cNvSpPr>
          <p:nvPr/>
        </p:nvSpPr>
        <p:spPr>
          <a:xfrm xmlns:a="http://schemas.openxmlformats.org/drawingml/2006/main">
            <a:off x="0" y="0"/>
            <a:ext cx="68580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A4EFD8-325B-4375-ADE8-DA3B462BED0A}"/>
              </a:ext>
            </a:extLst>
          </p:cNvPr>
          <p:cNvSpPr>
            <a:spLocks xmlns:a="http://schemas.openxmlformats.org/drawingml/2006/main" noGrp="1"/>
          </p:cNvSpPr>
          <p:nvPr/>
        </p:nvSpPr>
        <p:spPr>
          <a:xfrm xmlns:a="http://schemas.openxmlformats.org/drawingml/2006/main">
            <a:off x="666750" y="10287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99C053-56A1-4D0E-ACA1-345D72D6C096}"/>
              </a:ext>
            </a:extLst>
          </p:cNvPr>
          <p:cNvSpPr>
            <a:spLocks xmlns:a="http://schemas.openxmlformats.org/drawingml/2006/main" noGrp="1"/>
          </p:cNvSpPr>
          <p:nvPr/>
        </p:nvSpPr>
        <p:spPr>
          <a:xfrm xmlns:a="http://schemas.openxmlformats.org/drawingml/2006/main">
            <a:off x="666750" y="131445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CURRENT SCOPE</a:t>
            </a:r>
          </a:p>
        </p:txBody>
      </p:sp>
      <p:sp>
        <p:nvSpPr>
          <p:cNvPr id="5" name="">
            <a:extLst xmlns:a="http://schemas.openxmlformats.org/drawingml/2006/main">
              <a:ext uri="{FF2B5EF4-FFF2-40B4-BE49-F238E27FC236}">
                <a16:creationId xmlns:a16="http://schemas.microsoft.com/office/drawing/2014/main" id="{CBDAACEB-2C7F-4264-B493-1C55C3BB80E0}"/>
              </a:ext>
            </a:extLst>
          </p:cNvPr>
          <p:cNvSpPr>
            <a:spLocks xmlns:a="http://schemas.openxmlformats.org/drawingml/2006/main" noGrp="1"/>
          </p:cNvSpPr>
          <p:nvPr/>
        </p:nvSpPr>
        <p:spPr>
          <a:xfrm xmlns:a="http://schemas.openxmlformats.org/drawingml/2006/main">
            <a:off x="666750" y="2190750"/>
            <a:ext cx="581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9FC"/>
                </a:solidFill>
                <a:latin typeface="Aptos"/>
                <a:ea typeface="Aptos"/>
                <a:cs typeface="Aptos"/>
              </a:defRPr>
            </a:pPr>
            <a:r>
              <a:rPr sz="3600" b="1">
                <a:solidFill>
                  <a:srgbClr val="F7F9FC"/>
                </a:solidFill>
                <a:latin typeface="Aptos"/>
                <a:ea typeface="Aptos"/>
                <a:cs typeface="Aptos"/>
              </a:rPr>
              <a:t>AlphaSynth BMS V1 is ready for peer review</a:t>
            </a:r>
          </a:p>
        </p:txBody>
      </p:sp>
      <p:sp>
        <p:nvSpPr>
          <p:cNvPr id="6" name="">
            <a:extLst xmlns:a="http://schemas.openxmlformats.org/drawingml/2006/main">
              <a:ext uri="{FF2B5EF4-FFF2-40B4-BE49-F238E27FC236}">
                <a16:creationId xmlns:a16="http://schemas.microsoft.com/office/drawing/2014/main" id="{22C471A5-41DD-4120-8E19-23EDA78F61D3}"/>
              </a:ext>
            </a:extLst>
          </p:cNvPr>
          <p:cNvSpPr>
            <a:spLocks xmlns:a="http://schemas.openxmlformats.org/drawingml/2006/main" noGrp="1"/>
          </p:cNvSpPr>
          <p:nvPr/>
        </p:nvSpPr>
        <p:spPr>
          <a:xfrm xmlns:a="http://schemas.openxmlformats.org/drawingml/2006/main">
            <a:off x="666750" y="47148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What it does</a:t>
            </a:r>
          </a:p>
        </p:txBody>
      </p:sp>
      <p:sp>
        <p:nvSpPr>
          <p:cNvPr id="7" name="">
            <a:extLst xmlns:a="http://schemas.openxmlformats.org/drawingml/2006/main">
              <a:ext uri="{FF2B5EF4-FFF2-40B4-BE49-F238E27FC236}">
                <a16:creationId xmlns:a16="http://schemas.microsoft.com/office/drawing/2014/main" id="{3F8BF5ED-EE81-4F46-9E67-C55084AB428D}"/>
              </a:ext>
            </a:extLst>
          </p:cNvPr>
          <p:cNvSpPr>
            <a:spLocks xmlns:a="http://schemas.openxmlformats.org/drawingml/2006/main" noGrp="1"/>
          </p:cNvSpPr>
          <p:nvPr/>
        </p:nvSpPr>
        <p:spPr>
          <a:xfrm xmlns:a="http://schemas.openxmlformats.org/drawingml/2006/main">
            <a:off x="666750" y="51435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Detects fundamental momentum and preserves the supporting evidence.</a:t>
            </a:r>
          </a:p>
        </p:txBody>
      </p:sp>
      <p:sp>
        <p:nvSpPr>
          <p:cNvPr id="8" name="">
            <a:extLst xmlns:a="http://schemas.openxmlformats.org/drawingml/2006/main">
              <a:ext uri="{FF2B5EF4-FFF2-40B4-BE49-F238E27FC236}">
                <a16:creationId xmlns:a16="http://schemas.microsoft.com/office/drawing/2014/main" id="{EFBA503B-B31E-409E-B9C1-9B3CEF3875DB}"/>
              </a:ext>
            </a:extLst>
          </p:cNvPr>
          <p:cNvSpPr>
            <a:spLocks xmlns:a="http://schemas.openxmlformats.org/drawingml/2006/main" noGrp="1"/>
          </p:cNvSpPr>
          <p:nvPr/>
        </p:nvSpPr>
        <p:spPr>
          <a:xfrm xmlns:a="http://schemas.openxmlformats.org/drawingml/2006/main">
            <a:off x="666750" y="6286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What it does not claim</a:t>
            </a:r>
          </a:p>
        </p:txBody>
      </p:sp>
      <p:sp>
        <p:nvSpPr>
          <p:cNvPr id="9" name="">
            <a:extLst xmlns:a="http://schemas.openxmlformats.org/drawingml/2006/main">
              <a:ext uri="{FF2B5EF4-FFF2-40B4-BE49-F238E27FC236}">
                <a16:creationId xmlns:a16="http://schemas.microsoft.com/office/drawing/2014/main" id="{52FCF68E-B900-4689-A40B-216293EE17AC}"/>
              </a:ext>
            </a:extLst>
          </p:cNvPr>
          <p:cNvSpPr>
            <a:spLocks xmlns:a="http://schemas.openxmlformats.org/drawingml/2006/main" noGrp="1"/>
          </p:cNvSpPr>
          <p:nvPr/>
        </p:nvSpPr>
        <p:spPr>
          <a:xfrm xmlns:a="http://schemas.openxmlformats.org/drawingml/2006/main">
            <a:off x="666750" y="6715125"/>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It does not predict multibaggers, replace due diligence or recommend trades.</a:t>
            </a:r>
          </a:p>
        </p:txBody>
      </p:sp>
      <p:sp>
        <p:nvSpPr>
          <p:cNvPr id="10" name="">
            <a:extLst xmlns:a="http://schemas.openxmlformats.org/drawingml/2006/main">
              <a:ext uri="{FF2B5EF4-FFF2-40B4-BE49-F238E27FC236}">
                <a16:creationId xmlns:a16="http://schemas.microsoft.com/office/drawing/2014/main" id="{B29D5CE3-51B6-4D79-9C67-A177092A416F}"/>
              </a:ext>
            </a:extLst>
          </p:cNvPr>
          <p:cNvSpPr>
            <a:spLocks xmlns:a="http://schemas.openxmlformats.org/drawingml/2006/main" noGrp="1"/>
          </p:cNvSpPr>
          <p:nvPr/>
        </p:nvSpPr>
        <p:spPr>
          <a:xfrm xmlns:a="http://schemas.openxmlformats.org/drawingml/2006/main">
            <a:off x="666750" y="81724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7F9FC"/>
                </a:solidFill>
                <a:latin typeface="Aptos"/>
                <a:ea typeface="Aptos"/>
                <a:cs typeface="Aptos"/>
              </a:defRPr>
            </a:pPr>
            <a:r>
              <a:rPr sz="1650" b="1">
                <a:solidFill>
                  <a:srgbClr val="F7F9FC"/>
                </a:solidFill>
                <a:latin typeface="Aptos"/>
                <a:ea typeface="Aptos"/>
                <a:cs typeface="Aptos"/>
              </a:rPr>
              <a:t>Explore the live evidence workspace</a:t>
            </a:r>
          </a:p>
        </p:txBody>
      </p:sp>
      <p:sp>
        <p:nvSpPr>
          <p:cNvPr id="11" name="">
            <a:extLst xmlns:a="http://schemas.openxmlformats.org/drawingml/2006/main">
              <a:ext uri="{FF2B5EF4-FFF2-40B4-BE49-F238E27FC236}">
                <a16:creationId xmlns:a16="http://schemas.microsoft.com/office/drawing/2014/main" id="{2C2C1641-999A-4689-9AB8-F3BB712633E5}"/>
              </a:ext>
            </a:extLst>
          </p:cNvPr>
          <p:cNvSpPr>
            <a:spLocks xmlns:a="http://schemas.openxmlformats.org/drawingml/2006/main" noGrp="1"/>
          </p:cNvSpPr>
          <p:nvPr/>
        </p:nvSpPr>
        <p:spPr>
          <a:xfrm xmlns:a="http://schemas.openxmlformats.org/drawingml/2006/main">
            <a:off x="666750" y="86677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2D3C5"/>
                </a:solidFill>
                <a:latin typeface="Aptos"/>
                <a:ea typeface="Aptos"/>
                <a:cs typeface="Aptos"/>
              </a:defRPr>
            </a:pPr>
            <a:r>
              <a:rPr sz="1200" b="0">
                <a:solidFill>
                  <a:srgbClr val="22D3C5"/>
                </a:solidFill>
                <a:latin typeface="Aptos"/>
                <a:ea typeface="Aptos"/>
                <a:cs typeface="Aptos"/>
              </a:rPr>
              <a:t>expectation-pilot---alphasynth-equity-oqc2y4ogda-uc.a.run.app</a:t>
            </a:r>
          </a:p>
        </p:txBody>
      </p:sp>
    </p:spTree>
    <p:extLst>
      <p:ext uri="{BB962C8B-B14F-4D97-AF65-F5344CB8AC3E}">
        <p14:creationId xmlns:p14="http://schemas.microsoft.com/office/powerpoint/2010/main" val="1231731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2026-09-15T05:52:45.7690000Z</dcterms:created>
  <dcterms:modified xsi:type="dcterms:W3CDTF">2026-09-15T05:52:45.7690000Z</dcterms:modified>
</coreProperties>
</file>